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96" r:id="rId4"/>
    <p:sldId id="279" r:id="rId5"/>
    <p:sldId id="290" r:id="rId6"/>
    <p:sldId id="286" r:id="rId7"/>
    <p:sldId id="283" r:id="rId8"/>
    <p:sldId id="292" r:id="rId9"/>
    <p:sldId id="277" r:id="rId10"/>
    <p:sldId id="262" r:id="rId11"/>
    <p:sldId id="263" r:id="rId12"/>
    <p:sldId id="271" r:id="rId13"/>
  </p:sldIdLst>
  <p:sldSz cx="12192000" cy="6858000"/>
  <p:notesSz cx="6858000" cy="12192000"/>
  <p:embeddedFontLst>
    <p:embeddedFont>
      <p:font typeface="Raleway" pitchFamily="2" charset="0"/>
      <p:regular r:id="rId15"/>
      <p:bold r:id="rId16"/>
      <p:italic r:id="rId17"/>
      <p:boldItalic r:id="rId18"/>
    </p:embeddedFont>
    <p:embeddedFont>
      <p:font typeface="Roboto" panose="02000000000000000000" pitchFamily="2" charset="0"/>
      <p:regular r:id="rId19"/>
      <p:bold r:id="rId20"/>
      <p:italic r:id="rId21"/>
      <p:boldItalic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758" autoAdjust="0"/>
  </p:normalViewPr>
  <p:slideViewPr>
    <p:cSldViewPr snapToGrid="0" snapToObjects="1">
      <p:cViewPr varScale="1">
        <p:scale>
          <a:sx n="94" d="100"/>
          <a:sy n="94" d="100"/>
        </p:scale>
        <p:origin x="3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6632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financial advisor managing several clients needs fast, specific answers about each portfolio — "what's this holding's dividend yield," "why did it move," "should we rebalance given this concentration" — without either (a) manually digging through market data and filings per client, or (b) trusting an LLM's answer at face value, since an ungrounded or advice-framed response from a tool with no licensed advisor behind it is a real liability. This project targets both halves: routing simple lookups and complex judgment calls to the pipeline suited for each, and wrapping every generated answer in guardrails and evaluators (data-access limits, a read-only audit at startup, advice-language flagging, faithfulness/relevancy scoring, and a visible confidence flag) so the advisor — not the model — makes the final call. See the "Guardrails &amp; evaluators" section below for the full design.</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What each stage is actually built from</a:t>
            </a:r>
          </a:p>
          <a:p>
            <a:r>
              <a:rPr lang="en-US" dirty="0"/>
              <a:t>Data Aggregator → Portfolio Analyst</a:t>
            </a:r>
          </a:p>
          <a:p>
            <a:endParaRPr lang="en-US" dirty="0"/>
          </a:p>
          <a:p>
            <a:r>
              <a:rPr lang="en-US" dirty="0"/>
              <a:t>A two-agent </a:t>
            </a:r>
            <a:r>
              <a:rPr lang="en-US" dirty="0" err="1"/>
              <a:t>CrewAI</a:t>
            </a:r>
            <a:r>
              <a:rPr lang="en-US" dirty="0"/>
              <a:t> crew. The Aggregator's only tool is a Yahoo Finance wrapper; the Analyst never touches a network call — it only reasons over the JSON it's handed.</a:t>
            </a:r>
          </a:p>
          <a:p>
            <a:endParaRPr lang="en-US" dirty="0"/>
          </a:p>
          <a:p>
            <a:r>
              <a:rPr lang="en-US" dirty="0"/>
              <a:t>Rollup alerts + cross-check</a:t>
            </a:r>
          </a:p>
          <a:p>
            <a:endParaRPr lang="en-US" dirty="0"/>
          </a:p>
          <a:p>
            <a:r>
              <a:rPr lang="en-US" dirty="0"/>
              <a:t>Diffs this fetch against the client's own last-saved snapshot for rating/price moves, and diffs Yahoo's earnings/news against Alpha Vantage. Silent when there's nothing to flag — never fabricates a change.</a:t>
            </a:r>
          </a:p>
          <a:p>
            <a:endParaRPr lang="en-US" dirty="0"/>
          </a:p>
          <a:p>
            <a:r>
              <a:rPr lang="en-US" dirty="0"/>
              <a:t>Router Agent</a:t>
            </a:r>
          </a:p>
          <a:p>
            <a:endParaRPr lang="en-US" dirty="0"/>
          </a:p>
          <a:p>
            <a:r>
              <a:rPr lang="en-US" dirty="0"/>
              <a:t>One </a:t>
            </a:r>
            <a:r>
              <a:rPr lang="en-US" dirty="0" err="1"/>
              <a:t>LangChain</a:t>
            </a:r>
            <a:r>
              <a:rPr lang="en-US" dirty="0"/>
              <a:t> classification call. Defaults toward tot on an ambiguous label, so an open-ended question gets deliberation instead of silently falling to the cheap path.</a:t>
            </a:r>
          </a:p>
          <a:p>
            <a:endParaRPr lang="en-US" dirty="0"/>
          </a:p>
          <a:p>
            <a:r>
              <a:rPr lang="en-US" dirty="0" err="1"/>
              <a:t>ReAct</a:t>
            </a:r>
            <a:r>
              <a:rPr lang="en-US" dirty="0"/>
              <a:t> Agent</a:t>
            </a:r>
          </a:p>
          <a:p>
            <a:endParaRPr lang="en-US" dirty="0"/>
          </a:p>
          <a:p>
            <a:r>
              <a:rPr lang="en-US" dirty="0"/>
              <a:t>A </a:t>
            </a:r>
            <a:r>
              <a:rPr lang="en-US" dirty="0" err="1"/>
              <a:t>LangChain</a:t>
            </a:r>
            <a:r>
              <a:rPr lang="en-US" dirty="0"/>
              <a:t> tool-calling loop with three tools: holding data, SEC filing search, and this client's own conversation history — the only agent in the system that calls a search index.</a:t>
            </a:r>
          </a:p>
          <a:p>
            <a:endParaRPr lang="en-US" dirty="0"/>
          </a:p>
          <a:p>
            <a:r>
              <a:rPr lang="en-US" dirty="0" err="1"/>
              <a:t>ToT</a:t>
            </a:r>
            <a:r>
              <a:rPr lang="en-US" dirty="0"/>
              <a:t> Crew</a:t>
            </a:r>
          </a:p>
          <a:p>
            <a:endParaRPr lang="en-US" dirty="0"/>
          </a:p>
          <a:p>
            <a:r>
              <a:rPr lang="en-US" dirty="0"/>
              <a:t>Three </a:t>
            </a:r>
            <a:r>
              <a:rPr lang="en-US" dirty="0" err="1"/>
              <a:t>CrewAI</a:t>
            </a:r>
            <a:r>
              <a:rPr lang="en-US" dirty="0"/>
              <a:t> analysts argue from different lenses, a critic scores them, a synthesizer picks a side. No tools of its own — it cites news already fetched for the profile, never a live lookup.</a:t>
            </a:r>
          </a:p>
          <a:p>
            <a:endParaRPr lang="en-US" dirty="0"/>
          </a:p>
          <a:p>
            <a:r>
              <a:rPr lang="en-US" dirty="0"/>
              <a:t>Guardrails &amp; Evaluators</a:t>
            </a:r>
          </a:p>
          <a:p>
            <a:endParaRPr lang="en-US" dirty="0"/>
          </a:p>
          <a:p>
            <a:r>
              <a:rPr lang="en-US" dirty="0" err="1"/>
              <a:t>DataAccessGuard</a:t>
            </a:r>
            <a:r>
              <a:rPr lang="en-US" dirty="0"/>
              <a:t> and a startup read-only audit run once, at construction; </a:t>
            </a:r>
            <a:r>
              <a:rPr lang="en-US" dirty="0" err="1"/>
              <a:t>ContentPolicyGuard</a:t>
            </a:r>
            <a:r>
              <a:rPr lang="en-US" dirty="0"/>
              <a:t> and </a:t>
            </a:r>
            <a:r>
              <a:rPr lang="en-US" dirty="0" err="1"/>
              <a:t>ConfidenceRouter</a:t>
            </a:r>
            <a:r>
              <a:rPr lang="en-US" dirty="0"/>
              <a:t> run on every reply, annotating rather than rewriting it.</a:t>
            </a:r>
          </a:p>
        </p:txBody>
      </p:sp>
    </p:spTree>
    <p:extLst>
      <p:ext uri="{BB962C8B-B14F-4D97-AF65-F5344CB8AC3E}">
        <p14:creationId xmlns:p14="http://schemas.microsoft.com/office/powerpoint/2010/main" val="1748700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kern="1200" dirty="0">
                <a:solidFill>
                  <a:schemeClr val="tx1"/>
                </a:solidFill>
                <a:effectLst/>
                <a:latin typeface="+mn-lt"/>
                <a:ea typeface="+mn-ea"/>
                <a:cs typeface="+mn-cs"/>
              </a:rPr>
              <a:t>Router Agent (runs on every advisor question):</a:t>
            </a:r>
          </a:p>
          <a:p>
            <a:pPr lvl="0"/>
            <a:r>
              <a:rPr lang="en-US" sz="1200" kern="1200" dirty="0">
                <a:solidFill>
                  <a:schemeClr val="tx1"/>
                </a:solidFill>
                <a:effectLst/>
                <a:latin typeface="+mn-lt"/>
                <a:ea typeface="+mn-ea"/>
                <a:cs typeface="+mn-cs"/>
              </a:rPr>
              <a:t>Own system prompt; classifies each incoming question as straight/factual or complex/analytical, and dispatches to the corresponding path. Doesn't answer the question itself — its only job is the routing decision.</a:t>
            </a:r>
          </a:p>
          <a:p>
            <a:r>
              <a:rPr lang="en-US" sz="1200" kern="1200" dirty="0">
                <a:solidFill>
                  <a:schemeClr val="tx1"/>
                </a:solidFill>
                <a:effectLst/>
                <a:latin typeface="+mn-lt"/>
                <a:ea typeface="+mn-ea"/>
                <a:cs typeface="+mn-cs"/>
              </a:rPr>
              <a:t>Straight path:</a:t>
            </a:r>
          </a:p>
          <a:p>
            <a:pPr lvl="0"/>
            <a:r>
              <a:rPr lang="en-US" sz="1200" kern="1200" dirty="0" err="1">
                <a:solidFill>
                  <a:schemeClr val="tx1"/>
                </a:solidFill>
                <a:effectLst/>
                <a:latin typeface="+mn-lt"/>
                <a:ea typeface="+mn-ea"/>
                <a:cs typeface="+mn-cs"/>
              </a:rPr>
              <a:t>ReAct</a:t>
            </a:r>
            <a:r>
              <a:rPr lang="en-US" sz="1200" kern="1200" dirty="0">
                <a:solidFill>
                  <a:schemeClr val="tx1"/>
                </a:solidFill>
                <a:effectLst/>
                <a:latin typeface="+mn-lt"/>
                <a:ea typeface="+mn-ea"/>
                <a:cs typeface="+mn-cs"/>
              </a:rPr>
              <a:t> Agent — for factual questions, fetches whatever additional data is needed via data_sources.py</a:t>
            </a:r>
          </a:p>
          <a:p>
            <a:r>
              <a:rPr lang="en-US" sz="1200" kern="1200" dirty="0" err="1">
                <a:solidFill>
                  <a:schemeClr val="tx1"/>
                </a:solidFill>
                <a:effectLst/>
                <a:latin typeface="+mn-lt"/>
                <a:ea typeface="+mn-ea"/>
                <a:cs typeface="+mn-cs"/>
              </a:rPr>
              <a:t>ToT</a:t>
            </a:r>
            <a:r>
              <a:rPr lang="en-US" sz="1200" kern="1200" dirty="0">
                <a:solidFill>
                  <a:schemeClr val="tx1"/>
                </a:solidFill>
                <a:effectLst/>
                <a:latin typeface="+mn-lt"/>
                <a:ea typeface="+mn-ea"/>
                <a:cs typeface="+mn-cs"/>
              </a:rPr>
              <a:t> Crew (complex path):</a:t>
            </a:r>
          </a:p>
          <a:p>
            <a:pPr lvl="0"/>
            <a:r>
              <a:rPr lang="en-US" sz="1200" kern="1200" dirty="0">
                <a:solidFill>
                  <a:schemeClr val="tx1"/>
                </a:solidFill>
                <a:effectLst/>
                <a:latin typeface="+mn-lt"/>
                <a:ea typeface="+mn-ea"/>
                <a:cs typeface="+mn-cs"/>
              </a:rPr>
              <a:t>Thought Generator — generates candidate explanations/branches for the question, grounded in retrieved context</a:t>
            </a:r>
          </a:p>
          <a:p>
            <a:pPr lvl="0"/>
            <a:r>
              <a:rPr lang="en-US" sz="1200" kern="1200" dirty="0">
                <a:solidFill>
                  <a:schemeClr val="tx1"/>
                </a:solidFill>
                <a:effectLst/>
                <a:latin typeface="+mn-lt"/>
                <a:ea typeface="+mn-ea"/>
                <a:cs typeface="+mn-cs"/>
              </a:rPr>
              <a:t>Critic/Evaluator — scores each candidate branch, and rescoring as needed (this is the role that keeps generation and evaluation separate, so the system isn't grading its own homework)</a:t>
            </a:r>
          </a:p>
          <a:p>
            <a:pPr lvl="0"/>
            <a:r>
              <a:rPr lang="en-US" sz="1200" kern="1200" dirty="0">
                <a:solidFill>
                  <a:schemeClr val="tx1"/>
                </a:solidFill>
                <a:effectLst/>
                <a:latin typeface="+mn-lt"/>
                <a:ea typeface="+mn-ea"/>
                <a:cs typeface="+mn-cs"/>
              </a:rPr>
              <a:t>Synthesizer — takes the surviving scored branches and produces the final LLM-written answer to the advisor. Branch state for this whole cycle lives in </a:t>
            </a:r>
            <a:r>
              <a:rPr lang="en-US" sz="1200" kern="1200" dirty="0" err="1">
                <a:solidFill>
                  <a:schemeClr val="tx1"/>
                </a:solidFill>
                <a:effectLst/>
                <a:latin typeface="+mn-lt"/>
                <a:ea typeface="+mn-ea"/>
                <a:cs typeface="+mn-cs"/>
              </a:rPr>
              <a:t>session_state</a:t>
            </a:r>
            <a:r>
              <a:rPr lang="en-US" sz="1200" kern="1200" dirty="0">
                <a:solidFill>
                  <a:schemeClr val="tx1"/>
                </a:solidFill>
                <a:effectLst/>
                <a:latin typeface="+mn-lt"/>
                <a:ea typeface="+mn-ea"/>
                <a:cs typeface="+mn-cs"/>
              </a:rPr>
              <a:t>.</a:t>
            </a:r>
          </a:p>
          <a:p>
            <a:endParaRPr lang="en-US" dirty="0"/>
          </a:p>
        </p:txBody>
      </p:sp>
    </p:spTree>
    <p:extLst>
      <p:ext uri="{BB962C8B-B14F-4D97-AF65-F5344CB8AC3E}">
        <p14:creationId xmlns:p14="http://schemas.microsoft.com/office/powerpoint/2010/main" val="3475836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Guardrails stop the worst case before it happens. Example: </a:t>
            </a:r>
            <a:r>
              <a:rPr lang="en-US" sz="1200" kern="1200" dirty="0" err="1">
                <a:solidFill>
                  <a:schemeClr val="tx1"/>
                </a:solidFill>
                <a:effectLst/>
                <a:latin typeface="+mn-lt"/>
                <a:ea typeface="+mn-ea"/>
                <a:cs typeface="+mn-cs"/>
              </a:rPr>
              <a:t>ActionConstraintGuard</a:t>
            </a:r>
            <a:r>
              <a:rPr lang="en-US" sz="1200" kern="1200" dirty="0">
                <a:solidFill>
                  <a:schemeClr val="tx1"/>
                </a:solidFill>
                <a:effectLst/>
                <a:latin typeface="+mn-lt"/>
                <a:ea typeface="+mn-ea"/>
                <a:cs typeface="+mn-cs"/>
              </a:rPr>
              <a:t> checks every agent's tools at startup. If someone accidentally gives the </a:t>
            </a:r>
            <a:r>
              <a:rPr lang="en-US" sz="1200" kern="1200" dirty="0" err="1">
                <a:solidFill>
                  <a:schemeClr val="tx1"/>
                </a:solidFill>
                <a:effectLst/>
                <a:latin typeface="+mn-lt"/>
                <a:ea typeface="+mn-ea"/>
                <a:cs typeface="+mn-cs"/>
              </a:rPr>
              <a:t>ReAct</a:t>
            </a:r>
            <a:r>
              <a:rPr lang="en-US" sz="1200" kern="1200" dirty="0">
                <a:solidFill>
                  <a:schemeClr val="tx1"/>
                </a:solidFill>
                <a:effectLst/>
                <a:latin typeface="+mn-lt"/>
                <a:ea typeface="+mn-ea"/>
                <a:cs typeface="+mn-cs"/>
              </a:rPr>
              <a:t> Agent a </a:t>
            </a:r>
            <a:r>
              <a:rPr lang="en-US" sz="1200" kern="1200" dirty="0" err="1">
                <a:solidFill>
                  <a:schemeClr val="tx1"/>
                </a:solidFill>
                <a:effectLst/>
                <a:latin typeface="+mn-lt"/>
                <a:ea typeface="+mn-ea"/>
                <a:cs typeface="+mn-cs"/>
              </a:rPr>
              <a:t>trading_api</a:t>
            </a:r>
            <a:r>
              <a:rPr lang="en-US" sz="1200" kern="1200" dirty="0">
                <a:solidFill>
                  <a:schemeClr val="tx1"/>
                </a:solidFill>
                <a:effectLst/>
                <a:latin typeface="+mn-lt"/>
                <a:ea typeface="+mn-ea"/>
                <a:cs typeface="+mn-cs"/>
              </a:rPr>
              <a:t>. buy tool, the app refuses to launch — that never reaches a client.</a:t>
            </a:r>
          </a:p>
          <a:p>
            <a:pPr lvl="0"/>
            <a:r>
              <a:rPr lang="en-US" sz="1200" kern="1200" dirty="0">
                <a:solidFill>
                  <a:schemeClr val="tx1"/>
                </a:solidFill>
                <a:effectLst/>
                <a:latin typeface="+mn-lt"/>
                <a:ea typeface="+mn-ea"/>
                <a:cs typeface="+mn-cs"/>
              </a:rPr>
              <a:t>Evaluation checks quality on everything that gets through. Example: the Profile Summarizer writes "AAPL raised its dividend to $0.30" — that's a safe, well-formed sentence, but </a:t>
            </a:r>
            <a:r>
              <a:rPr lang="en-US" sz="1200" kern="1200" dirty="0" err="1">
                <a:solidFill>
                  <a:schemeClr val="tx1"/>
                </a:solidFill>
                <a:effectLst/>
                <a:latin typeface="+mn-lt"/>
                <a:ea typeface="+mn-ea"/>
                <a:cs typeface="+mn-cs"/>
              </a:rPr>
              <a:t>FaithfulnessEvaluator</a:t>
            </a:r>
            <a:r>
              <a:rPr lang="en-US" sz="1200" kern="1200" dirty="0">
                <a:solidFill>
                  <a:schemeClr val="tx1"/>
                </a:solidFill>
                <a:effectLst/>
                <a:latin typeface="+mn-lt"/>
                <a:ea typeface="+mn-ea"/>
                <a:cs typeface="+mn-cs"/>
              </a:rPr>
              <a:t> checks it against the actual Yahoo Finance data and catches it if the real number was $0.24. Guardrails wouldn't catch this; nothing about that sentence looks dangerous.</a:t>
            </a:r>
          </a:p>
          <a:p>
            <a:pPr lvl="0"/>
            <a:r>
              <a:rPr lang="en-US" sz="1200" kern="1200" dirty="0">
                <a:solidFill>
                  <a:schemeClr val="tx1"/>
                </a:solidFill>
                <a:effectLst/>
                <a:latin typeface="+mn-lt"/>
                <a:ea typeface="+mn-ea"/>
                <a:cs typeface="+mn-cs"/>
              </a:rPr>
              <a:t>The advisor makes the final call on anything flagged. Example: the </a:t>
            </a:r>
            <a:r>
              <a:rPr lang="en-US" sz="1200" kern="1200" dirty="0" err="1">
                <a:solidFill>
                  <a:schemeClr val="tx1"/>
                </a:solidFill>
                <a:effectLst/>
                <a:latin typeface="+mn-lt"/>
                <a:ea typeface="+mn-ea"/>
                <a:cs typeface="+mn-cs"/>
              </a:rPr>
              <a:t>ToT</a:t>
            </a:r>
            <a:r>
              <a:rPr lang="en-US" sz="1200" kern="1200" dirty="0">
                <a:solidFill>
                  <a:schemeClr val="tx1"/>
                </a:solidFill>
                <a:effectLst/>
                <a:latin typeface="+mn-lt"/>
                <a:ea typeface="+mn-ea"/>
                <a:cs typeface="+mn-cs"/>
              </a:rPr>
              <a:t> Crew answers "why did TSLA drop this week?" but the Critic/Evaluator's top branch only scores 0.4. </a:t>
            </a:r>
            <a:r>
              <a:rPr lang="en-US" sz="1200" kern="1200" dirty="0" err="1">
                <a:solidFill>
                  <a:schemeClr val="tx1"/>
                </a:solidFill>
                <a:effectLst/>
                <a:latin typeface="+mn-lt"/>
                <a:ea typeface="+mn-ea"/>
                <a:cs typeface="+mn-cs"/>
              </a:rPr>
              <a:t>ConfidenceRouter</a:t>
            </a:r>
            <a:r>
              <a:rPr lang="en-US" sz="1200" kern="1200" dirty="0">
                <a:solidFill>
                  <a:schemeClr val="tx1"/>
                </a:solidFill>
                <a:effectLst/>
                <a:latin typeface="+mn-lt"/>
                <a:ea typeface="+mn-ea"/>
                <a:cs typeface="+mn-cs"/>
              </a:rPr>
              <a:t> doesn't hide or rewrite the answer — it prepends "[Low confidence]" and shows it as-is. The advisor sees that flag and decides whether to trust it, dig further, or tell the client to wait for more information.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Standalone prompt will be based on outdated data, pre trained data, and it can’t fetch live data, in contrast market forecaster can collect live evidence that could be any </a:t>
            </a:r>
            <a:r>
              <a:rPr lang="en-US" sz="1200" kern="1200" dirty="0" err="1">
                <a:solidFill>
                  <a:schemeClr val="tx1"/>
                </a:solidFill>
                <a:effectLst/>
                <a:latin typeface="+mn-lt"/>
                <a:ea typeface="+mn-ea"/>
                <a:cs typeface="+mn-cs"/>
              </a:rPr>
              <a:t>corp</a:t>
            </a:r>
            <a:r>
              <a:rPr lang="en-US" sz="1200" kern="1200" dirty="0">
                <a:solidFill>
                  <a:schemeClr val="tx1"/>
                </a:solidFill>
                <a:effectLst/>
                <a:latin typeface="+mn-lt"/>
                <a:ea typeface="+mn-ea"/>
                <a:cs typeface="+mn-cs"/>
              </a:rPr>
              <a:t> action from public data source such as yahoo finance, summarize it.</a:t>
            </a:r>
          </a:p>
          <a:p>
            <a:endParaRPr lang="en-US" dirty="0"/>
          </a:p>
          <a:p>
            <a:pPr lvl="2"/>
            <a:r>
              <a:rPr lang="en-US" sz="1200" kern="1200" dirty="0">
                <a:solidFill>
                  <a:schemeClr val="tx1"/>
                </a:solidFill>
                <a:effectLst/>
                <a:latin typeface="+mn-lt"/>
                <a:ea typeface="+mn-ea"/>
                <a:cs typeface="+mn-cs"/>
              </a:rPr>
              <a:t>check dividends (including historical and upcoming payout) </a:t>
            </a:r>
          </a:p>
          <a:p>
            <a:pPr lvl="2"/>
            <a:r>
              <a:rPr lang="en-US" sz="1200" kern="1200" dirty="0">
                <a:solidFill>
                  <a:schemeClr val="tx1"/>
                </a:solidFill>
                <a:effectLst/>
                <a:latin typeface="+mn-lt"/>
                <a:ea typeface="+mn-ea"/>
                <a:cs typeface="+mn-cs"/>
              </a:rPr>
              <a:t>check for stock splits (pending and historical)</a:t>
            </a:r>
          </a:p>
          <a:p>
            <a:pPr lvl="2"/>
            <a:r>
              <a:rPr lang="en-US" sz="1200" kern="1200" dirty="0">
                <a:solidFill>
                  <a:schemeClr val="tx1"/>
                </a:solidFill>
                <a:effectLst/>
                <a:latin typeface="+mn-lt"/>
                <a:ea typeface="+mn-ea"/>
                <a:cs typeface="+mn-cs"/>
              </a:rPr>
              <a:t>check analyst ratings (including recent price changes)</a:t>
            </a:r>
          </a:p>
          <a:p>
            <a:pPr lvl="2"/>
            <a:r>
              <a:rPr lang="en-US" sz="1200" kern="1200" dirty="0">
                <a:solidFill>
                  <a:schemeClr val="tx1"/>
                </a:solidFill>
                <a:effectLst/>
                <a:latin typeface="+mn-lt"/>
                <a:ea typeface="+mn-ea"/>
                <a:cs typeface="+mn-cs"/>
              </a:rPr>
              <a:t>summarize impact </a:t>
            </a:r>
          </a:p>
          <a:p>
            <a:pPr lvl="2"/>
            <a:endParaRPr lang="en-US" sz="1200" kern="1200" dirty="0">
              <a:solidFill>
                <a:schemeClr val="tx1"/>
              </a:solidFill>
              <a:effectLst/>
              <a:latin typeface="+mn-lt"/>
              <a:ea typeface="+mn-ea"/>
              <a:cs typeface="+mn-cs"/>
            </a:endParaRPr>
          </a:p>
          <a:p>
            <a:pPr lvl="2"/>
            <a:endParaRPr lang="en-US" sz="1200" kern="1200" dirty="0">
              <a:solidFill>
                <a:schemeClr val="tx1"/>
              </a:solidFill>
              <a:effectLst/>
              <a:latin typeface="+mn-lt"/>
              <a:ea typeface="+mn-ea"/>
              <a:cs typeface="+mn-cs"/>
            </a:endParaRPr>
          </a:p>
          <a:p>
            <a:pPr lvl="2"/>
            <a:endParaRPr lang="en-US" sz="1200" kern="1200" dirty="0">
              <a:solidFill>
                <a:schemeClr val="tx1"/>
              </a:solidFill>
              <a:effectLst/>
              <a:latin typeface="+mn-lt"/>
              <a:ea typeface="+mn-ea"/>
              <a:cs typeface="+mn-cs"/>
            </a:endParaRPr>
          </a:p>
          <a:p>
            <a:endParaRPr lang="en-US" dirty="0"/>
          </a:p>
          <a:p>
            <a:r>
              <a:rPr lang="en-US" sz="1200" kern="1200" dirty="0" err="1">
                <a:solidFill>
                  <a:schemeClr val="tx1"/>
                </a:solidFill>
                <a:effectLst/>
                <a:latin typeface="+mn-lt"/>
                <a:ea typeface="+mn-ea"/>
                <a:cs typeface="+mn-cs"/>
              </a:rPr>
              <a:t>ReAct</a:t>
            </a:r>
            <a:r>
              <a:rPr lang="en-US" sz="1200" kern="1200" dirty="0">
                <a:solidFill>
                  <a:schemeClr val="tx1"/>
                </a:solidFill>
                <a:effectLst/>
                <a:latin typeface="+mn-lt"/>
                <a:ea typeface="+mn-ea"/>
                <a:cs typeface="+mn-cs"/>
              </a:rPr>
              <a:t> Loop ( for each ticker of the client profile)</a:t>
            </a:r>
          </a:p>
          <a:p>
            <a:pPr lvl="1"/>
            <a:r>
              <a:rPr lang="en-US" sz="1200" kern="1200" dirty="0">
                <a:solidFill>
                  <a:schemeClr val="tx1"/>
                </a:solidFill>
                <a:effectLst/>
                <a:latin typeface="+mn-lt"/>
                <a:ea typeface="+mn-ea"/>
                <a:cs typeface="+mn-cs"/>
              </a:rPr>
              <a:t>Thought: does the Ticker announcement exists; what is dividend amount, split info, and has rating changed.</a:t>
            </a:r>
          </a:p>
          <a:p>
            <a:pPr lvl="1"/>
            <a:r>
              <a:rPr lang="en-US" sz="1200" kern="1200" dirty="0">
                <a:solidFill>
                  <a:schemeClr val="tx1"/>
                </a:solidFill>
                <a:effectLst/>
                <a:latin typeface="+mn-lt"/>
                <a:ea typeface="+mn-ea"/>
                <a:cs typeface="+mn-cs"/>
              </a:rPr>
              <a:t>Action: Fetch corporate action record, analyst rating history, and price snapshots at announcement time.</a:t>
            </a:r>
          </a:p>
          <a:p>
            <a:pPr lvl="1"/>
            <a:r>
              <a:rPr lang="en-US" sz="1200" kern="1200" dirty="0">
                <a:solidFill>
                  <a:schemeClr val="tx1"/>
                </a:solidFill>
                <a:effectLst/>
                <a:latin typeface="+mn-lt"/>
                <a:ea typeface="+mn-ea"/>
                <a:cs typeface="+mn-cs"/>
              </a:rPr>
              <a:t>Observation: Dividend $0.xx announced; no split; ratings unchanged; price stable.</a:t>
            </a:r>
          </a:p>
          <a:p>
            <a:pPr lvl="1"/>
            <a:r>
              <a:rPr lang="en-US" sz="1200" kern="1200" dirty="0">
                <a:solidFill>
                  <a:schemeClr val="tx1"/>
                </a:solidFill>
                <a:effectLst/>
                <a:latin typeface="+mn-lt"/>
                <a:ea typeface="+mn-ea"/>
                <a:cs typeface="+mn-cs"/>
              </a:rPr>
              <a:t>Thought: Check deterministic thresholds for yield and split;</a:t>
            </a:r>
          </a:p>
          <a:p>
            <a:pPr lvl="1"/>
            <a:r>
              <a:rPr lang="en-US" sz="1200" kern="1200" dirty="0">
                <a:solidFill>
                  <a:schemeClr val="tx1"/>
                </a:solidFill>
                <a:effectLst/>
                <a:latin typeface="+mn-lt"/>
                <a:ea typeface="+mn-ea"/>
                <a:cs typeface="+mn-cs"/>
              </a:rPr>
              <a:t>Action: Compute dividend yield; compare to historical payouts; </a:t>
            </a:r>
          </a:p>
          <a:p>
            <a:pPr lvl="1"/>
            <a:r>
              <a:rPr lang="en-US" sz="1200" kern="1200" dirty="0">
                <a:solidFill>
                  <a:schemeClr val="tx1"/>
                </a:solidFill>
                <a:effectLst/>
                <a:latin typeface="+mn-lt"/>
                <a:ea typeface="+mn-ea"/>
                <a:cs typeface="+mn-cs"/>
              </a:rPr>
              <a:t>Observation: Yield = 0.x% in line with history; no volume spike.</a:t>
            </a:r>
          </a:p>
          <a:p>
            <a:pPr lvl="1"/>
            <a:r>
              <a:rPr lang="en-US" sz="1200" kern="1200" dirty="0">
                <a:solidFill>
                  <a:schemeClr val="tx1"/>
                </a:solidFill>
                <a:effectLst/>
                <a:latin typeface="+mn-lt"/>
                <a:ea typeface="+mn-ea"/>
                <a:cs typeface="+mn-cs"/>
              </a:rPr>
              <a:t>Thought: check for management commentary.</a:t>
            </a:r>
          </a:p>
          <a:p>
            <a:pPr lvl="1"/>
            <a:r>
              <a:rPr lang="en-US" sz="1200" kern="1200" dirty="0">
                <a:solidFill>
                  <a:schemeClr val="tx1"/>
                </a:solidFill>
                <a:effectLst/>
                <a:latin typeface="+mn-lt"/>
                <a:ea typeface="+mn-ea"/>
                <a:cs typeface="+mn-cs"/>
              </a:rPr>
              <a:t>Action: LLM summarizer ingests announcement text and historical context.</a:t>
            </a:r>
          </a:p>
          <a:p>
            <a:pPr lvl="1"/>
            <a:r>
              <a:rPr lang="en-US" sz="1200" kern="1200" dirty="0">
                <a:solidFill>
                  <a:schemeClr val="tx1"/>
                </a:solidFill>
                <a:effectLst/>
                <a:latin typeface="+mn-lt"/>
                <a:ea typeface="+mn-ea"/>
                <a:cs typeface="+mn-cs"/>
              </a:rPr>
              <a:t>Observation: quarterly dividends are consistent with prior;</a:t>
            </a:r>
          </a:p>
          <a:p>
            <a:pPr lvl="1"/>
            <a:r>
              <a:rPr lang="en-US" sz="1200" kern="1200" dirty="0">
                <a:solidFill>
                  <a:schemeClr val="tx1"/>
                </a:solidFill>
                <a:effectLst/>
                <a:latin typeface="+mn-lt"/>
                <a:ea typeface="+mn-ea"/>
                <a:cs typeface="+mn-cs"/>
              </a:rPr>
              <a:t>Thought: Likely impact low/ confidence moderate‑high.</a:t>
            </a:r>
          </a:p>
          <a:p>
            <a:pPr lvl="1"/>
            <a:r>
              <a:rPr lang="en-US" sz="1200" kern="1200" dirty="0">
                <a:solidFill>
                  <a:schemeClr val="tx1"/>
                </a:solidFill>
                <a:effectLst/>
                <a:latin typeface="+mn-lt"/>
                <a:ea typeface="+mn-ea"/>
                <a:cs typeface="+mn-cs"/>
              </a:rPr>
              <a:t>Action: Score → Low impact; create alert.</a:t>
            </a:r>
          </a:p>
          <a:p>
            <a:pPr lvl="1"/>
            <a:r>
              <a:rPr lang="en-US" sz="1200" kern="1200" dirty="0">
                <a:solidFill>
                  <a:schemeClr val="tx1"/>
                </a:solidFill>
                <a:effectLst/>
                <a:latin typeface="+mn-lt"/>
                <a:ea typeface="+mn-ea"/>
                <a:cs typeface="+mn-cs"/>
              </a:rPr>
              <a:t>Observation: Alert created and delivered.</a:t>
            </a:r>
          </a:p>
          <a:p>
            <a:pPr lvl="1"/>
            <a:r>
              <a:rPr lang="en-US" sz="1200" kern="1200" dirty="0">
                <a:solidFill>
                  <a:schemeClr val="tx1"/>
                </a:solidFill>
                <a:effectLst/>
                <a:latin typeface="+mn-lt"/>
                <a:ea typeface="+mn-ea"/>
                <a:cs typeface="+mn-cs"/>
              </a:rPr>
              <a:t>Thought: Monitor ex‑post returns and capture advisor feedback to validate decision.</a:t>
            </a:r>
          </a:p>
          <a:p>
            <a:pPr lvl="1"/>
            <a:r>
              <a:rPr lang="en-US" sz="1200" kern="1200" dirty="0">
                <a:solidFill>
                  <a:schemeClr val="tx1"/>
                </a:solidFill>
                <a:effectLst/>
                <a:latin typeface="+mn-lt"/>
                <a:ea typeface="+mn-ea"/>
                <a:cs typeface="+mn-cs"/>
              </a:rPr>
              <a:t>Action: get advisor feedback.</a:t>
            </a:r>
          </a:p>
          <a:p>
            <a:pPr lvl="1"/>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Reasoning → Action → Observation → Reasoning → Action → Observation</a:t>
            </a:r>
          </a:p>
          <a:p>
            <a:r>
              <a:rPr lang="en-US" sz="1200" kern="1200" dirty="0">
                <a:solidFill>
                  <a:schemeClr val="tx1"/>
                </a:solidFill>
                <a:effectLst/>
                <a:latin typeface="+mn-lt"/>
                <a:ea typeface="+mn-ea"/>
                <a:cs typeface="+mn-cs"/>
              </a:rPr>
              <a:t>This iterative cycle enables the system to progressively build a richer understanding of the security, moving from raw market events to quantitative analysis and finally to qualitative explanations that can be summarized for a financial advisor. The key principle is that observations are not terminal results—they become the input for the next reasoning step, allowing the analysis to adapt dynamically based on the information discovered at each stage.</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Contrast, it improves the </a:t>
            </a:r>
            <a:r>
              <a:rPr lang="en-US" sz="1200" b="1" kern="1200" dirty="0">
                <a:solidFill>
                  <a:schemeClr val="tx1"/>
                </a:solidFill>
                <a:effectLst/>
                <a:latin typeface="+mn-lt"/>
                <a:ea typeface="+mn-ea"/>
                <a:cs typeface="+mn-cs"/>
              </a:rPr>
              <a:t>thought process</a:t>
            </a:r>
            <a:r>
              <a:rPr lang="en-US" sz="1200" kern="1200" dirty="0">
                <a:solidFill>
                  <a:schemeClr val="tx1"/>
                </a:solidFill>
                <a:effectLst/>
                <a:latin typeface="+mn-lt"/>
                <a:ea typeface="+mn-ea"/>
                <a:cs typeface="+mn-cs"/>
              </a:rPr>
              <a:t> by incorporating evidence validation from multiple sources, ensuring that the agent’s conclusions are backed by verified data. This means the system systematically cross‑checks announcements, corporate actions, and analyst ratings, so advisors receive alerts rooted in </a:t>
            </a:r>
            <a:r>
              <a:rPr lang="en-US" sz="1200" i="1" kern="1200" dirty="0">
                <a:solidFill>
                  <a:schemeClr val="tx1"/>
                </a:solidFill>
                <a:effectLst/>
                <a:latin typeface="+mn-lt"/>
                <a:ea typeface="+mn-ea"/>
                <a:cs typeface="+mn-cs"/>
              </a:rPr>
              <a:t>confirmed</a:t>
            </a:r>
            <a:r>
              <a:rPr lang="en-US" sz="1200" kern="1200" dirty="0">
                <a:solidFill>
                  <a:schemeClr val="tx1"/>
                </a:solidFill>
                <a:effectLst/>
                <a:latin typeface="+mn-lt"/>
                <a:ea typeface="+mn-ea"/>
                <a:cs typeface="+mn-cs"/>
              </a:rPr>
              <a:t> facts rather than assumptions.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Most queries your agent handles are single-fact lookups ("What was Apple's Q3 dividend?"). These map cleanly onto your retrieval pipeline: retrieve top-3 chunks → answer. A linear chain of thought (or no explicit reasoning chain at all) is fine here — branching would just add latency and cost with no accuracy benefit.</a:t>
            </a:r>
          </a:p>
          <a:p>
            <a:r>
              <a:rPr lang="en-US" sz="1200" kern="1200" dirty="0">
                <a:solidFill>
                  <a:schemeClr val="tx1"/>
                </a:solidFill>
                <a:effectLst/>
                <a:latin typeface="+mn-lt"/>
                <a:ea typeface="+mn-ea"/>
                <a:cs typeface="+mn-cs"/>
              </a:rPr>
              <a:t>But a subset of queries are explanatory/multi-factor synthesis questions — e.g., "Why did Apple's stock decline after its latest earnings report?" These require weighing several plausible causal factors (revenue guidance, iPhone demand, margin commentary, macro sentiment in the retrieved news) and picking the explanation best supported by the retrieved evidence. That's exactly where </a:t>
            </a:r>
            <a:r>
              <a:rPr lang="en-US" sz="1200" kern="1200" dirty="0" err="1">
                <a:solidFill>
                  <a:schemeClr val="tx1"/>
                </a:solidFill>
                <a:effectLst/>
                <a:latin typeface="+mn-lt"/>
                <a:ea typeface="+mn-ea"/>
                <a:cs typeface="+mn-cs"/>
              </a:rPr>
              <a:t>ToT</a:t>
            </a:r>
            <a:r>
              <a:rPr lang="en-US" sz="1200" kern="1200" dirty="0">
                <a:solidFill>
                  <a:schemeClr val="tx1"/>
                </a:solidFill>
                <a:effectLst/>
                <a:latin typeface="+mn-lt"/>
                <a:ea typeface="+mn-ea"/>
                <a:cs typeface="+mn-cs"/>
              </a:rPr>
              <a:t> adds value.</a:t>
            </a:r>
          </a:p>
          <a:p>
            <a:r>
              <a:rPr lang="en-US" sz="1200" kern="1200" dirty="0">
                <a:solidFill>
                  <a:schemeClr val="tx1"/>
                </a:solidFill>
                <a:effectLst/>
                <a:latin typeface="+mn-lt"/>
                <a:ea typeface="+mn-ea"/>
                <a:cs typeface="+mn-cs"/>
              </a:rPr>
              <a:t>Decision: use </a:t>
            </a:r>
            <a:r>
              <a:rPr lang="en-US" sz="1200" kern="1200" dirty="0" err="1">
                <a:solidFill>
                  <a:schemeClr val="tx1"/>
                </a:solidFill>
                <a:effectLst/>
                <a:latin typeface="+mn-lt"/>
                <a:ea typeface="+mn-ea"/>
                <a:cs typeface="+mn-cs"/>
              </a:rPr>
              <a:t>ToT</a:t>
            </a:r>
            <a:r>
              <a:rPr lang="en-US" sz="1200" kern="1200" dirty="0">
                <a:solidFill>
                  <a:schemeClr val="tx1"/>
                </a:solidFill>
                <a:effectLst/>
                <a:latin typeface="+mn-lt"/>
                <a:ea typeface="+mn-ea"/>
                <a:cs typeface="+mn-cs"/>
              </a:rPr>
              <a:t> selectively — route explanatory/causal/"why" queries through a </a:t>
            </a:r>
            <a:r>
              <a:rPr lang="en-US" sz="1200" kern="1200" dirty="0" err="1">
                <a:solidFill>
                  <a:schemeClr val="tx1"/>
                </a:solidFill>
                <a:effectLst/>
                <a:latin typeface="+mn-lt"/>
                <a:ea typeface="+mn-ea"/>
                <a:cs typeface="+mn-cs"/>
              </a:rPr>
              <a:t>ToT</a:t>
            </a:r>
            <a:r>
              <a:rPr lang="en-US" sz="1200" kern="1200" dirty="0">
                <a:solidFill>
                  <a:schemeClr val="tx1"/>
                </a:solidFill>
                <a:effectLst/>
                <a:latin typeface="+mn-lt"/>
                <a:ea typeface="+mn-ea"/>
                <a:cs typeface="+mn-cs"/>
              </a:rPr>
              <a:t> reasoning path; keep factual lookups on the simple linear retrieval path. A query classifier (or simple keyword/intent check) decides which path a question takes.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Where </a:t>
            </a:r>
            <a:r>
              <a:rPr lang="en-US" sz="1200" b="1" kern="1200" dirty="0" err="1">
                <a:solidFill>
                  <a:schemeClr val="tx1"/>
                </a:solidFill>
                <a:effectLst/>
                <a:latin typeface="+mn-lt"/>
                <a:ea typeface="+mn-ea"/>
                <a:cs typeface="+mn-cs"/>
              </a:rPr>
              <a:t>ToT</a:t>
            </a:r>
            <a:r>
              <a:rPr lang="en-US" sz="1200" b="1" kern="1200" dirty="0">
                <a:solidFill>
                  <a:schemeClr val="tx1"/>
                </a:solidFill>
                <a:effectLst/>
                <a:latin typeface="+mn-lt"/>
                <a:ea typeface="+mn-ea"/>
                <a:cs typeface="+mn-cs"/>
              </a:rPr>
              <a:t> is used and why linear </a:t>
            </a:r>
            <a:r>
              <a:rPr lang="en-US" sz="1200" b="1" kern="1200" dirty="0" err="1">
                <a:solidFill>
                  <a:schemeClr val="tx1"/>
                </a:solidFill>
                <a:effectLst/>
                <a:latin typeface="+mn-lt"/>
                <a:ea typeface="+mn-ea"/>
                <a:cs typeface="+mn-cs"/>
              </a:rPr>
              <a:t>CoT</a:t>
            </a:r>
            <a:r>
              <a:rPr lang="en-US" sz="1200" b="1" kern="1200" dirty="0">
                <a:solidFill>
                  <a:schemeClr val="tx1"/>
                </a:solidFill>
                <a:effectLst/>
                <a:latin typeface="+mn-lt"/>
                <a:ea typeface="+mn-ea"/>
                <a:cs typeface="+mn-cs"/>
              </a:rPr>
              <a:t> fails there</a:t>
            </a:r>
          </a:p>
          <a:p>
            <a:r>
              <a:rPr lang="en-US" sz="1200" kern="1200" dirty="0">
                <a:solidFill>
                  <a:schemeClr val="tx1"/>
                </a:solidFill>
                <a:effectLst/>
                <a:latin typeface="+mn-lt"/>
                <a:ea typeface="+mn-ea"/>
                <a:cs typeface="+mn-cs"/>
              </a:rPr>
              <a:t>Premature commitment — a linear chain picks the first plausible cause it encounters in the retrieved context (e.g., "weaker iPhone demand") and builds the entire explanation around it, without checking whether a stronger candidate (e.g., guidance cut, margin compression) exists in the same chunks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Example for User Prompt </a:t>
            </a:r>
            <a:r>
              <a:rPr lang="en-US" sz="1200" i="1" kern="1200" dirty="0">
                <a:solidFill>
                  <a:schemeClr val="tx1"/>
                </a:solidFill>
                <a:effectLst/>
                <a:latin typeface="+mn-lt"/>
                <a:ea typeface="+mn-ea"/>
                <a:cs typeface="+mn-cs"/>
              </a:rPr>
              <a:t>"Why did Apple's stock decline after earnings?"</a:t>
            </a:r>
            <a:r>
              <a:rPr lang="en-US" sz="1200" kern="1200" dirty="0">
                <a:solidFill>
                  <a:schemeClr val="tx1"/>
                </a:solidFill>
                <a:effectLst/>
                <a:latin typeface="+mn-lt"/>
                <a:ea typeface="+mn-ea"/>
                <a:cs typeface="+mn-cs"/>
              </a:rPr>
              <a:t> → will use </a:t>
            </a:r>
            <a:r>
              <a:rPr lang="en-US" sz="1200" kern="1200" dirty="0" err="1">
                <a:solidFill>
                  <a:schemeClr val="tx1"/>
                </a:solidFill>
                <a:effectLst/>
                <a:latin typeface="+mn-lt"/>
                <a:ea typeface="+mn-ea"/>
                <a:cs typeface="+mn-cs"/>
              </a:rPr>
              <a:t>ToT</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Say retrieval pulls these top-3 chunks (per FAISS + metadata design):</a:t>
            </a:r>
          </a:p>
          <a:p>
            <a:pPr lvl="0"/>
            <a:r>
              <a:rPr lang="en-US" sz="1200" b="0" kern="1200" dirty="0">
                <a:solidFill>
                  <a:schemeClr val="tx1"/>
                </a:solidFill>
                <a:effectLst/>
                <a:latin typeface="+mn-lt"/>
                <a:ea typeface="+mn-ea"/>
                <a:cs typeface="+mn-cs"/>
              </a:rPr>
              <a:t>Chunk A</a:t>
            </a:r>
            <a:r>
              <a:rPr lang="en-US" sz="1200" kern="1200" dirty="0">
                <a:solidFill>
                  <a:schemeClr val="tx1"/>
                </a:solidFill>
                <a:effectLst/>
                <a:latin typeface="+mn-lt"/>
                <a:ea typeface="+mn-ea"/>
                <a:cs typeface="+mn-cs"/>
              </a:rPr>
              <a:t> (earnings call transcript, Q3): management lowered next-quarter revenue guidance, citing softer iPhone demand in China.</a:t>
            </a:r>
          </a:p>
          <a:p>
            <a:pPr lvl="0"/>
            <a:r>
              <a:rPr lang="en-US" sz="1200" b="0" kern="1200" dirty="0">
                <a:solidFill>
                  <a:schemeClr val="tx1"/>
                </a:solidFill>
                <a:effectLst/>
                <a:latin typeface="+mn-lt"/>
                <a:ea typeface="+mn-ea"/>
                <a:cs typeface="+mn-cs"/>
              </a:rPr>
              <a:t>Chunk B</a:t>
            </a:r>
            <a:r>
              <a:rPr lang="en-US" sz="1200" kern="1200" dirty="0">
                <a:solidFill>
                  <a:schemeClr val="tx1"/>
                </a:solidFill>
                <a:effectLst/>
                <a:latin typeface="+mn-lt"/>
                <a:ea typeface="+mn-ea"/>
                <a:cs typeface="+mn-cs"/>
              </a:rPr>
              <a:t> (Morningstar analyst note, same week): gross margin came in slightly below consensus due to higher component costs.</a:t>
            </a:r>
          </a:p>
          <a:p>
            <a:pPr lvl="0"/>
            <a:r>
              <a:rPr lang="en-US" sz="1200" b="0" kern="1200" dirty="0">
                <a:solidFill>
                  <a:schemeClr val="tx1"/>
                </a:solidFill>
                <a:effectLst/>
                <a:latin typeface="+mn-lt"/>
                <a:ea typeface="+mn-ea"/>
                <a:cs typeface="+mn-cs"/>
              </a:rPr>
              <a:t>Chunk C</a:t>
            </a:r>
            <a:r>
              <a:rPr lang="en-US" sz="1200" kern="1200" dirty="0">
                <a:solidFill>
                  <a:schemeClr val="tx1"/>
                </a:solidFill>
                <a:effectLst/>
                <a:latin typeface="+mn-lt"/>
                <a:ea typeface="+mn-ea"/>
                <a:cs typeface="+mn-cs"/>
              </a:rPr>
              <a:t> (Yahoo Finance news wrap, same week): broader tech sector sold off that day on rate-hike fears.</a:t>
            </a:r>
          </a:p>
          <a:p>
            <a:r>
              <a:rPr lang="en-US" sz="1200" kern="1200" dirty="0">
                <a:solidFill>
                  <a:schemeClr val="tx1"/>
                </a:solidFill>
                <a:effectLst/>
                <a:latin typeface="+mn-lt"/>
                <a:ea typeface="+mn-ea"/>
                <a:cs typeface="+mn-cs"/>
              </a:rPr>
              <a:t>Beam search keeps top 2 (Chunks 1 and 2) and refines them at depth 2 — </a:t>
            </a:r>
            <a:r>
              <a:rPr lang="en-US" sz="1200" i="1" kern="1200" dirty="0">
                <a:solidFill>
                  <a:schemeClr val="tx1"/>
                </a:solidFill>
                <a:effectLst/>
                <a:latin typeface="+mn-lt"/>
                <a:ea typeface="+mn-ea"/>
                <a:cs typeface="+mn-cs"/>
              </a:rPr>
              <a:t>"The decline reflects two factors from the earnings report: management cut next-quarter revenue guidance on weaker China iPhone demand, and gross margin came in below consensus due to higher component costs — the broader tech selloff that day appears to be a secondary, market-wide factor rather than an Apple-specific one."</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3488314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txBody>
          <a:bodyPr/>
          <a:lstStyle/>
          <a:p>
            <a:endParaRPr lang="en-US"/>
          </a:p>
        </p:txBody>
      </p:sp>
      <p:sp>
        <p:nvSpPr>
          <p:cNvPr id="3" name="Shape 1"/>
          <p:cNvSpPr/>
          <p:nvPr/>
        </p:nvSpPr>
        <p:spPr>
          <a:xfrm>
            <a:off x="0" y="0"/>
            <a:ext cx="12191695" cy="6858000"/>
          </a:xfrm>
          <a:prstGeom prst="rect">
            <a:avLst/>
          </a:prstGeom>
          <a:solidFill>
            <a:srgbClr val="FFFFFF">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098873"/>
            <a:ext cx="6296860" cy="177194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A Multi-Agent Market Forecaster</a:t>
            </a:r>
            <a:endParaRPr lang="en-US" sz="3700" dirty="0"/>
          </a:p>
        </p:txBody>
      </p:sp>
      <p:sp>
        <p:nvSpPr>
          <p:cNvPr id="4" name="Text 1"/>
          <p:cNvSpPr/>
          <p:nvPr/>
        </p:nvSpPr>
        <p:spPr>
          <a:xfrm>
            <a:off x="661475" y="4154289"/>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i="1" dirty="0">
                <a:solidFill>
                  <a:srgbClr val="3C3939"/>
                </a:solidFill>
                <a:latin typeface="Roboto" pitchFamily="34" charset="0"/>
                <a:ea typeface="Roboto" pitchFamily="34" charset="-122"/>
                <a:cs typeface="Roboto" pitchFamily="34" charset="-120"/>
              </a:rPr>
              <a:t>An Autonomous, Read-Only Portfolio Intelligence &amp; Reasoning System for Financial Advisors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462286"/>
            <a:ext cx="6941071" cy="3933329"/>
          </a:xfrm>
          <a:prstGeom prst="rect">
            <a:avLst/>
          </a:prstGeom>
        </p:spPr>
      </p:pic>
      <p:sp>
        <p:nvSpPr>
          <p:cNvPr id="3" name="Text 0"/>
          <p:cNvSpPr/>
          <p:nvPr/>
        </p:nvSpPr>
        <p:spPr>
          <a:xfrm>
            <a:off x="7961907" y="654645"/>
            <a:ext cx="3574564" cy="1356717"/>
          </a:xfrm>
          <a:prstGeom prst="rect">
            <a:avLst/>
          </a:prstGeom>
          <a:noFill/>
          <a:ln/>
        </p:spPr>
        <p:txBody>
          <a:bodyPr wrap="square" lIns="0" tIns="0" rIns="0" bIns="0" rtlCol="0" anchor="t">
            <a:normAutofit/>
          </a:bodyPr>
          <a:lstStyle/>
          <a:p>
            <a:pPr marL="0" indent="0" algn="l">
              <a:lnSpc>
                <a:spcPct val="104000"/>
              </a:lnSpc>
              <a:buNone/>
            </a:pPr>
            <a:r>
              <a:rPr lang="en-US" sz="2800" dirty="0">
                <a:solidFill>
                  <a:srgbClr val="1B1B27"/>
                </a:solidFill>
                <a:latin typeface="Raleway" pitchFamily="34" charset="0"/>
                <a:ea typeface="Raleway" pitchFamily="34" charset="-122"/>
                <a:cs typeface="Raleway" pitchFamily="34" charset="-120"/>
              </a:rPr>
              <a:t>The Problem: Information Overload at Scale</a:t>
            </a:r>
            <a:endParaRPr lang="en-US" sz="28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1907" y="2135981"/>
            <a:ext cx="3574564" cy="1277342"/>
          </a:xfrm>
          <a:prstGeom prst="rect">
            <a:avLst/>
          </a:prstGeom>
        </p:spPr>
      </p:pic>
      <p:sp>
        <p:nvSpPr>
          <p:cNvPr id="5" name="Text 1"/>
          <p:cNvSpPr/>
          <p:nvPr/>
        </p:nvSpPr>
        <p:spPr>
          <a:xfrm>
            <a:off x="8201812" y="2299692"/>
            <a:ext cx="3170952" cy="226020"/>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Manual Tracking Bottleneck</a:t>
            </a:r>
            <a:endParaRPr lang="en-US" sz="1400" dirty="0"/>
          </a:p>
        </p:txBody>
      </p:sp>
      <p:sp>
        <p:nvSpPr>
          <p:cNvPr id="6" name="Text 2"/>
          <p:cNvSpPr/>
          <p:nvPr/>
        </p:nvSpPr>
        <p:spPr>
          <a:xfrm>
            <a:off x="8201812" y="2636441"/>
            <a:ext cx="3170952" cy="613172"/>
          </a:xfrm>
          <a:prstGeom prst="rect">
            <a:avLst/>
          </a:prstGeom>
          <a:noFill/>
          <a:ln/>
        </p:spPr>
        <p:txBody>
          <a:bodyPr wrap="square" lIns="0" tIns="0" rIns="0" bIns="0" rtlCol="0" anchor="t">
            <a:normAutofit/>
          </a:bodyPr>
          <a:lstStyle/>
          <a:p>
            <a:pPr marL="0" indent="0" algn="l">
              <a:lnSpc>
                <a:spcPct val="118000"/>
              </a:lnSpc>
              <a:buNone/>
            </a:pPr>
            <a:r>
              <a:rPr lang="en-US" sz="1100" dirty="0">
                <a:solidFill>
                  <a:srgbClr val="3C3939"/>
                </a:solidFill>
                <a:latin typeface="Roboto" pitchFamily="34" charset="0"/>
                <a:ea typeface="Roboto" pitchFamily="34" charset="-122"/>
                <a:cs typeface="Roboto" pitchFamily="34" charset="-120"/>
              </a:rPr>
              <a:t>Advisors must reconcile dividends, splits, and rating changes across multi-asset portfolios from disparate, siloed sources.</a:t>
            </a:r>
            <a:endParaRPr lang="en-US" sz="11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1907" y="3524052"/>
            <a:ext cx="3574564" cy="1277342"/>
          </a:xfrm>
          <a:prstGeom prst="rect">
            <a:avLst/>
          </a:prstGeom>
        </p:spPr>
      </p:pic>
      <p:sp>
        <p:nvSpPr>
          <p:cNvPr id="8" name="Text 3"/>
          <p:cNvSpPr/>
          <p:nvPr/>
        </p:nvSpPr>
        <p:spPr>
          <a:xfrm>
            <a:off x="8201812" y="3687762"/>
            <a:ext cx="3170952" cy="226020"/>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The "Why" Challenge</a:t>
            </a:r>
            <a:endParaRPr lang="en-US" sz="1400" dirty="0"/>
          </a:p>
        </p:txBody>
      </p:sp>
      <p:sp>
        <p:nvSpPr>
          <p:cNvPr id="9" name="Text 4"/>
          <p:cNvSpPr/>
          <p:nvPr/>
        </p:nvSpPr>
        <p:spPr>
          <a:xfrm>
            <a:off x="8201812" y="4024511"/>
            <a:ext cx="3170952" cy="613172"/>
          </a:xfrm>
          <a:prstGeom prst="rect">
            <a:avLst/>
          </a:prstGeom>
          <a:noFill/>
          <a:ln/>
        </p:spPr>
        <p:txBody>
          <a:bodyPr wrap="square" lIns="0" tIns="0" rIns="0" bIns="0" rtlCol="0" anchor="t">
            <a:normAutofit/>
          </a:bodyPr>
          <a:lstStyle/>
          <a:p>
            <a:pPr marL="0" indent="0" algn="l">
              <a:lnSpc>
                <a:spcPct val="118000"/>
              </a:lnSpc>
              <a:buNone/>
            </a:pPr>
            <a:r>
              <a:rPr lang="en-US" sz="1100" dirty="0">
                <a:solidFill>
                  <a:srgbClr val="3C3939"/>
                </a:solidFill>
                <a:latin typeface="Roboto" pitchFamily="34" charset="0"/>
                <a:ea typeface="Roboto" pitchFamily="34" charset="-122"/>
                <a:cs typeface="Roboto" pitchFamily="34" charset="-120"/>
              </a:rPr>
              <a:t>Clients demand fast, defensible, grounded explanations—not guesses—when portfolio events occur.</a:t>
            </a:r>
            <a:endParaRPr lang="en-US" sz="11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1907" y="4912122"/>
            <a:ext cx="3574564" cy="1277342"/>
          </a:xfrm>
          <a:prstGeom prst="rect">
            <a:avLst/>
          </a:prstGeom>
        </p:spPr>
      </p:pic>
      <p:sp>
        <p:nvSpPr>
          <p:cNvPr id="11" name="Text 5"/>
          <p:cNvSpPr/>
          <p:nvPr/>
        </p:nvSpPr>
        <p:spPr>
          <a:xfrm>
            <a:off x="8201812" y="5075833"/>
            <a:ext cx="3170952" cy="226020"/>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High Stakes</a:t>
            </a:r>
            <a:endParaRPr lang="en-US" sz="1400" dirty="0"/>
          </a:p>
        </p:txBody>
      </p:sp>
      <p:sp>
        <p:nvSpPr>
          <p:cNvPr id="12" name="Text 6"/>
          <p:cNvSpPr/>
          <p:nvPr/>
        </p:nvSpPr>
        <p:spPr>
          <a:xfrm>
            <a:off x="8201812" y="5412581"/>
            <a:ext cx="3170952" cy="613172"/>
          </a:xfrm>
          <a:prstGeom prst="rect">
            <a:avLst/>
          </a:prstGeom>
          <a:noFill/>
          <a:ln/>
        </p:spPr>
        <p:txBody>
          <a:bodyPr wrap="square" lIns="0" tIns="0" rIns="0" bIns="0" rtlCol="0" anchor="t">
            <a:normAutofit/>
          </a:bodyPr>
          <a:lstStyle/>
          <a:p>
            <a:pPr marL="0" indent="0" algn="l">
              <a:lnSpc>
                <a:spcPct val="118000"/>
              </a:lnSpc>
              <a:buNone/>
            </a:pPr>
            <a:r>
              <a:rPr lang="en-US" sz="1100" dirty="0">
                <a:solidFill>
                  <a:srgbClr val="3C3939"/>
                </a:solidFill>
                <a:latin typeface="Roboto" pitchFamily="34" charset="0"/>
                <a:ea typeface="Roboto" pitchFamily="34" charset="-122"/>
                <a:cs typeface="Roboto" pitchFamily="34" charset="-120"/>
              </a:rPr>
              <a:t>In finance, hallucinated explanations are bad advice. Accuracy and groundedness are non-negotiable.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Label 20"/>
          <p:cNvSpPr txBox="1"/>
          <p:nvPr/>
        </p:nvSpPr>
        <p:spPr>
          <a:xfrm>
            <a:off x="660400" y="520700"/>
            <a:ext cx="10871200" cy="330200"/>
          </a:xfrm>
          <a:prstGeom prst="rect">
            <a:avLst/>
          </a:prstGeom>
          <a:noFill/>
        </p:spPr>
        <p:txBody>
          <a:bodyPr wrap="square" lIns="25400" tIns="0" rIns="25400" bIns="0" anchor="t">
            <a:noAutofit/>
          </a:bodyPr>
          <a:lstStyle/>
          <a:p>
            <a:pPr algn="l">
              <a:lnSpc>
                <a:spcPct val="94000"/>
              </a:lnSpc>
              <a:buNone/>
            </a:pPr>
            <a:r>
              <a:rPr lang="en-US" sz="1900" b="1" dirty="0">
                <a:solidFill>
                  <a:srgbClr val="1B1B27"/>
                </a:solidFill>
                <a:latin typeface="Raleway"/>
              </a:rPr>
              <a:t>System Architecture: Advisor to Annotated Answer</a:t>
            </a:r>
          </a:p>
        </p:txBody>
      </p:sp>
      <p:sp>
        <p:nvSpPr>
          <p:cNvPr id="21" name="Node 21"/>
          <p:cNvSpPr/>
          <p:nvPr/>
        </p:nvSpPr>
        <p:spPr>
          <a:xfrm>
            <a:off x="6604000" y="1168400"/>
            <a:ext cx="3429000" cy="1981200"/>
          </a:xfrm>
          <a:prstGeom prst="roundRect">
            <a:avLst>
              <a:gd name="adj" fmla="val 9000"/>
            </a:avLst>
          </a:prstGeom>
          <a:noFill/>
          <a:ln w="9525">
            <a:solidFill>
              <a:srgbClr val="C9CBD6"/>
            </a:solidFill>
            <a:prstDash val="dash"/>
          </a:ln>
        </p:spPr>
        <p:txBody>
          <a:bodyPr wrap="square" lIns="76200" tIns="44450" rIns="76200" bIns="44450" anchor="ctr">
            <a:noAutofit/>
          </a:bodyPr>
          <a:lstStyle/>
          <a:p>
            <a:pPr>
              <a:buNone/>
            </a:pPr>
            <a:endParaRPr lang="en-US" sz="900"/>
          </a:p>
        </p:txBody>
      </p:sp>
      <p:sp>
        <p:nvSpPr>
          <p:cNvPr id="22" name="Label 22"/>
          <p:cNvSpPr txBox="1"/>
          <p:nvPr/>
        </p:nvSpPr>
        <p:spPr>
          <a:xfrm>
            <a:off x="6705600" y="1244600"/>
            <a:ext cx="2540000" cy="177800"/>
          </a:xfrm>
          <a:prstGeom prst="rect">
            <a:avLst/>
          </a:prstGeom>
          <a:noFill/>
        </p:spPr>
        <p:txBody>
          <a:bodyPr wrap="square" lIns="25400" tIns="0" rIns="25400" bIns="0" anchor="t">
            <a:noAutofit/>
          </a:bodyPr>
          <a:lstStyle/>
          <a:p>
            <a:pPr algn="l">
              <a:lnSpc>
                <a:spcPct val="94000"/>
              </a:lnSpc>
              <a:buNone/>
            </a:pPr>
            <a:r>
              <a:rPr lang="en-US" sz="900" b="1" dirty="0">
                <a:solidFill>
                  <a:srgbClr val="55555F"/>
                </a:solidFill>
                <a:latin typeface="Roboto"/>
              </a:rPr>
              <a:t>BUILD PROFILE</a:t>
            </a:r>
          </a:p>
        </p:txBody>
      </p:sp>
      <p:sp>
        <p:nvSpPr>
          <p:cNvPr id="23" name="Node 23"/>
          <p:cNvSpPr/>
          <p:nvPr/>
        </p:nvSpPr>
        <p:spPr>
          <a:xfrm>
            <a:off x="6604000" y="3810000"/>
            <a:ext cx="3429000" cy="1981200"/>
          </a:xfrm>
          <a:prstGeom prst="roundRect">
            <a:avLst>
              <a:gd name="adj" fmla="val 9000"/>
            </a:avLst>
          </a:prstGeom>
          <a:noFill/>
          <a:ln w="9525">
            <a:solidFill>
              <a:srgbClr val="C9CBD6"/>
            </a:solidFill>
            <a:prstDash val="dash"/>
          </a:ln>
        </p:spPr>
        <p:txBody>
          <a:bodyPr wrap="square" lIns="76200" tIns="44450" rIns="76200" bIns="44450" anchor="ctr">
            <a:noAutofit/>
          </a:bodyPr>
          <a:lstStyle/>
          <a:p>
            <a:pPr>
              <a:buNone/>
            </a:pPr>
            <a:endParaRPr lang="en-US" sz="900"/>
          </a:p>
        </p:txBody>
      </p:sp>
      <p:sp>
        <p:nvSpPr>
          <p:cNvPr id="24" name="Label 24"/>
          <p:cNvSpPr txBox="1"/>
          <p:nvPr/>
        </p:nvSpPr>
        <p:spPr>
          <a:xfrm>
            <a:off x="6705600" y="3886200"/>
            <a:ext cx="2794000" cy="177800"/>
          </a:xfrm>
          <a:prstGeom prst="rect">
            <a:avLst/>
          </a:prstGeom>
          <a:noFill/>
        </p:spPr>
        <p:txBody>
          <a:bodyPr wrap="square" lIns="25400" tIns="0" rIns="25400" bIns="0" anchor="t">
            <a:noAutofit/>
          </a:bodyPr>
          <a:lstStyle/>
          <a:p>
            <a:pPr algn="l">
              <a:lnSpc>
                <a:spcPct val="94000"/>
              </a:lnSpc>
              <a:buNone/>
            </a:pPr>
            <a:r>
              <a:rPr lang="en-US" sz="900" b="1" dirty="0">
                <a:solidFill>
                  <a:srgbClr val="55555F"/>
                </a:solidFill>
                <a:latin typeface="Roboto"/>
              </a:rPr>
              <a:t>ANSWER THE QUESTION</a:t>
            </a:r>
          </a:p>
        </p:txBody>
      </p:sp>
      <p:sp>
        <p:nvSpPr>
          <p:cNvPr id="25" name="Node 25"/>
          <p:cNvSpPr/>
          <p:nvPr/>
        </p:nvSpPr>
        <p:spPr>
          <a:xfrm>
            <a:off x="660400" y="3200400"/>
            <a:ext cx="1422400" cy="5588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Advisor</a:t>
            </a:r>
          </a:p>
          <a:p>
            <a:pPr algn="l">
              <a:lnSpc>
                <a:spcPct val="94000"/>
              </a:lnSpc>
              <a:spcBef>
                <a:spcPts val="120"/>
              </a:spcBef>
              <a:buNone/>
            </a:pPr>
            <a:r>
              <a:rPr lang="en-US" sz="1000" dirty="0">
                <a:solidFill>
                  <a:srgbClr val="4A4A56"/>
                </a:solidFill>
                <a:latin typeface="Roboto"/>
              </a:rPr>
              <a:t>signs in via Google</a:t>
            </a:r>
          </a:p>
        </p:txBody>
      </p:sp>
      <p:sp>
        <p:nvSpPr>
          <p:cNvPr id="26" name="Node 26"/>
          <p:cNvSpPr/>
          <p:nvPr/>
        </p:nvSpPr>
        <p:spPr>
          <a:xfrm>
            <a:off x="2362200" y="3175000"/>
            <a:ext cx="1651000" cy="6096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Chat UI</a:t>
            </a:r>
          </a:p>
          <a:p>
            <a:pPr algn="l">
              <a:lnSpc>
                <a:spcPct val="94000"/>
              </a:lnSpc>
              <a:spcBef>
                <a:spcPts val="120"/>
              </a:spcBef>
              <a:buNone/>
            </a:pPr>
            <a:r>
              <a:rPr lang="en-US" sz="1000" dirty="0">
                <a:solidFill>
                  <a:srgbClr val="4A4A56"/>
                </a:solidFill>
                <a:latin typeface="Roboto"/>
              </a:rPr>
              <a:t>Gradio on FastAPI</a:t>
            </a:r>
          </a:p>
        </p:txBody>
      </p:sp>
      <p:sp>
        <p:nvSpPr>
          <p:cNvPr id="27" name="Node 27"/>
          <p:cNvSpPr/>
          <p:nvPr/>
        </p:nvSpPr>
        <p:spPr>
          <a:xfrm>
            <a:off x="2489200" y="4241800"/>
            <a:ext cx="1397000" cy="584200"/>
          </a:xfrm>
          <a:prstGeom prst="roundRect">
            <a:avLst>
              <a:gd name="adj" fmla="val 9000"/>
            </a:avLst>
          </a:prstGeom>
          <a:solidFill>
            <a:srgbClr val="FFFFFF"/>
          </a:solidFill>
          <a:ln w="9525">
            <a:solidFill>
              <a:srgbClr val="C9CBD6"/>
            </a:solidFill>
            <a:prstDash val="dash"/>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clients.db</a:t>
            </a:r>
          </a:p>
          <a:p>
            <a:pPr algn="l">
              <a:lnSpc>
                <a:spcPct val="94000"/>
              </a:lnSpc>
              <a:spcBef>
                <a:spcPts val="120"/>
              </a:spcBef>
              <a:buNone/>
            </a:pPr>
            <a:r>
              <a:rPr lang="en-US" sz="1000" dirty="0">
                <a:solidFill>
                  <a:srgbClr val="4A4A56"/>
                </a:solidFill>
                <a:latin typeface="Roboto"/>
              </a:rPr>
              <a:t>rows scoped to advisor_id</a:t>
            </a:r>
          </a:p>
        </p:txBody>
      </p:sp>
      <p:sp>
        <p:nvSpPr>
          <p:cNvPr id="28" name="Node 28"/>
          <p:cNvSpPr/>
          <p:nvPr/>
        </p:nvSpPr>
        <p:spPr>
          <a:xfrm>
            <a:off x="4191000" y="3073400"/>
            <a:ext cx="1600200" cy="812800"/>
          </a:xfrm>
          <a:prstGeom prst="roundRect">
            <a:avLst>
              <a:gd name="adj" fmla="val 9000"/>
            </a:avLst>
          </a:prstGeom>
          <a:solidFill>
            <a:srgbClr val="F1F1F6"/>
          </a:solidFill>
          <a:ln w="9525">
            <a:solidFill>
              <a:srgbClr val="C9CBD6"/>
            </a:solidFill>
          </a:ln>
        </p:spPr>
        <p:txBody>
          <a:bodyPr wrap="square" lIns="76200" tIns="44450" rIns="76200" bIns="44450" anchor="ctr">
            <a:noAutofit/>
          </a:bodyPr>
          <a:lstStyle/>
          <a:p>
            <a:pPr algn="ctr">
              <a:lnSpc>
                <a:spcPct val="94000"/>
              </a:lnSpc>
              <a:buNone/>
            </a:pPr>
            <a:r>
              <a:rPr lang="en-US" sz="950" b="1" dirty="0">
                <a:solidFill>
                  <a:srgbClr val="1B1B27"/>
                </a:solidFill>
                <a:latin typeface="Raleway"/>
              </a:rPr>
              <a:t>looks_like_portfolio?</a:t>
            </a:r>
          </a:p>
        </p:txBody>
      </p:sp>
      <p:sp>
        <p:nvSpPr>
          <p:cNvPr id="29" name="Conn 29"/>
          <p:cNvSpPr/>
          <p:nvPr/>
        </p:nvSpPr>
        <p:spPr>
          <a:xfrm>
            <a:off x="2082800" y="3479800"/>
            <a:ext cx="279400" cy="0"/>
          </a:xfrm>
          <a:prstGeom prst="line">
            <a:avLst/>
          </a:prstGeom>
          <a:ln w="9525">
            <a:solidFill>
              <a:srgbClr val="55555F"/>
            </a:solidFill>
            <a:tailEnd type="triangle" w="sm" len="sm"/>
          </a:ln>
        </p:spPr>
        <p:txBody>
          <a:bodyPr/>
          <a:lstStyle/>
          <a:p>
            <a:endParaRPr lang="en-US"/>
          </a:p>
        </p:txBody>
      </p:sp>
      <p:sp>
        <p:nvSpPr>
          <p:cNvPr id="30" name="Conn 30"/>
          <p:cNvSpPr/>
          <p:nvPr/>
        </p:nvSpPr>
        <p:spPr>
          <a:xfrm>
            <a:off x="4013200" y="3479800"/>
            <a:ext cx="177800" cy="0"/>
          </a:xfrm>
          <a:prstGeom prst="line">
            <a:avLst/>
          </a:prstGeom>
          <a:ln w="9525">
            <a:solidFill>
              <a:srgbClr val="55555F"/>
            </a:solidFill>
            <a:tailEnd type="triangle" w="sm" len="sm"/>
          </a:ln>
        </p:spPr>
        <p:txBody>
          <a:bodyPr/>
          <a:lstStyle/>
          <a:p>
            <a:endParaRPr lang="en-US"/>
          </a:p>
        </p:txBody>
      </p:sp>
      <p:sp>
        <p:nvSpPr>
          <p:cNvPr id="31" name="Conn 31"/>
          <p:cNvSpPr/>
          <p:nvPr/>
        </p:nvSpPr>
        <p:spPr>
          <a:xfrm>
            <a:off x="3187700" y="3784600"/>
            <a:ext cx="0" cy="457200"/>
          </a:xfrm>
          <a:prstGeom prst="line">
            <a:avLst/>
          </a:prstGeom>
          <a:ln w="9525">
            <a:solidFill>
              <a:srgbClr val="55555F"/>
            </a:solidFill>
            <a:headEnd type="triangle" w="sm" len="sm"/>
            <a:tailEnd type="triangle" w="sm" len="sm"/>
          </a:ln>
        </p:spPr>
        <p:txBody>
          <a:bodyPr/>
          <a:lstStyle/>
          <a:p>
            <a:endParaRPr lang="en-US"/>
          </a:p>
        </p:txBody>
      </p:sp>
      <p:sp>
        <p:nvSpPr>
          <p:cNvPr id="32" name="Conn 32"/>
          <p:cNvSpPr/>
          <p:nvPr/>
        </p:nvSpPr>
        <p:spPr>
          <a:xfrm>
            <a:off x="5791200" y="3479800"/>
            <a:ext cx="177800" cy="0"/>
          </a:xfrm>
          <a:prstGeom prst="line">
            <a:avLst/>
          </a:prstGeom>
          <a:ln w="9525">
            <a:solidFill>
              <a:srgbClr val="55555F"/>
            </a:solidFill>
          </a:ln>
        </p:spPr>
        <p:txBody>
          <a:bodyPr/>
          <a:lstStyle/>
          <a:p>
            <a:endParaRPr lang="en-US"/>
          </a:p>
        </p:txBody>
      </p:sp>
      <p:sp>
        <p:nvSpPr>
          <p:cNvPr id="33" name="Conn 33"/>
          <p:cNvSpPr/>
          <p:nvPr/>
        </p:nvSpPr>
        <p:spPr>
          <a:xfrm>
            <a:off x="5969000" y="1866900"/>
            <a:ext cx="0" cy="3048000"/>
          </a:xfrm>
          <a:prstGeom prst="line">
            <a:avLst/>
          </a:prstGeom>
          <a:ln w="9525">
            <a:solidFill>
              <a:srgbClr val="55555F"/>
            </a:solidFill>
          </a:ln>
        </p:spPr>
        <p:txBody>
          <a:bodyPr/>
          <a:lstStyle/>
          <a:p>
            <a:endParaRPr lang="en-US"/>
          </a:p>
        </p:txBody>
      </p:sp>
      <p:sp>
        <p:nvSpPr>
          <p:cNvPr id="34" name="Conn 34"/>
          <p:cNvSpPr/>
          <p:nvPr/>
        </p:nvSpPr>
        <p:spPr>
          <a:xfrm>
            <a:off x="5969000" y="1866900"/>
            <a:ext cx="762000" cy="0"/>
          </a:xfrm>
          <a:prstGeom prst="line">
            <a:avLst/>
          </a:prstGeom>
          <a:ln w="9525">
            <a:solidFill>
              <a:srgbClr val="55555F"/>
            </a:solidFill>
            <a:tailEnd type="triangle" w="sm" len="sm"/>
          </a:ln>
        </p:spPr>
        <p:txBody>
          <a:bodyPr/>
          <a:lstStyle/>
          <a:p>
            <a:endParaRPr lang="en-US"/>
          </a:p>
        </p:txBody>
      </p:sp>
      <p:sp>
        <p:nvSpPr>
          <p:cNvPr id="35" name="Conn 35"/>
          <p:cNvSpPr/>
          <p:nvPr/>
        </p:nvSpPr>
        <p:spPr>
          <a:xfrm>
            <a:off x="5969000" y="4914900"/>
            <a:ext cx="762000" cy="0"/>
          </a:xfrm>
          <a:prstGeom prst="line">
            <a:avLst/>
          </a:prstGeom>
          <a:ln w="9525">
            <a:solidFill>
              <a:srgbClr val="55555F"/>
            </a:solidFill>
            <a:tailEnd type="triangle" w="sm" len="sm"/>
          </a:ln>
        </p:spPr>
        <p:txBody>
          <a:bodyPr/>
          <a:lstStyle/>
          <a:p>
            <a:endParaRPr lang="en-US"/>
          </a:p>
        </p:txBody>
      </p:sp>
      <p:sp>
        <p:nvSpPr>
          <p:cNvPr id="36" name="Label 36"/>
          <p:cNvSpPr txBox="1"/>
          <p:nvPr/>
        </p:nvSpPr>
        <p:spPr>
          <a:xfrm>
            <a:off x="6019800" y="2489200"/>
            <a:ext cx="584200" cy="177800"/>
          </a:xfrm>
          <a:prstGeom prst="rect">
            <a:avLst/>
          </a:prstGeom>
          <a:noFill/>
        </p:spPr>
        <p:txBody>
          <a:bodyPr wrap="square" lIns="25400" tIns="0" rIns="25400" bIns="0" anchor="ctr">
            <a:noAutofit/>
          </a:bodyPr>
          <a:lstStyle/>
          <a:p>
            <a:pPr algn="l">
              <a:lnSpc>
                <a:spcPct val="94000"/>
              </a:lnSpc>
              <a:buNone/>
            </a:pPr>
            <a:r>
              <a:rPr lang="en-US" sz="1000" dirty="0">
                <a:solidFill>
                  <a:srgbClr val="55555F"/>
                </a:solidFill>
                <a:latin typeface="Roboto"/>
              </a:rPr>
              <a:t>portfolio</a:t>
            </a:r>
          </a:p>
        </p:txBody>
      </p:sp>
      <p:sp>
        <p:nvSpPr>
          <p:cNvPr id="37" name="Label 37"/>
          <p:cNvSpPr txBox="1"/>
          <p:nvPr/>
        </p:nvSpPr>
        <p:spPr>
          <a:xfrm>
            <a:off x="6019800" y="4267200"/>
            <a:ext cx="584200" cy="177800"/>
          </a:xfrm>
          <a:prstGeom prst="rect">
            <a:avLst/>
          </a:prstGeom>
          <a:noFill/>
        </p:spPr>
        <p:txBody>
          <a:bodyPr wrap="square" lIns="25400" tIns="0" rIns="25400" bIns="0" anchor="ctr">
            <a:noAutofit/>
          </a:bodyPr>
          <a:lstStyle/>
          <a:p>
            <a:pPr algn="l">
              <a:lnSpc>
                <a:spcPct val="94000"/>
              </a:lnSpc>
              <a:buNone/>
            </a:pPr>
            <a:r>
              <a:rPr lang="en-US" sz="1000" dirty="0">
                <a:solidFill>
                  <a:srgbClr val="55555F"/>
                </a:solidFill>
                <a:latin typeface="Roboto"/>
              </a:rPr>
              <a:t>question</a:t>
            </a:r>
          </a:p>
        </p:txBody>
      </p:sp>
      <p:sp>
        <p:nvSpPr>
          <p:cNvPr id="38" name="Node 38"/>
          <p:cNvSpPr/>
          <p:nvPr/>
        </p:nvSpPr>
        <p:spPr>
          <a:xfrm>
            <a:off x="6731000" y="1574800"/>
            <a:ext cx="1574800" cy="5842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Data Aggregator</a:t>
            </a:r>
          </a:p>
          <a:p>
            <a:pPr algn="l">
              <a:lnSpc>
                <a:spcPct val="94000"/>
              </a:lnSpc>
              <a:spcBef>
                <a:spcPts val="120"/>
              </a:spcBef>
              <a:buNone/>
            </a:pPr>
            <a:r>
              <a:rPr lang="en-US" sz="1000" dirty="0">
                <a:solidFill>
                  <a:srgbClr val="4A4A56"/>
                </a:solidFill>
                <a:latin typeface="Roboto"/>
              </a:rPr>
              <a:t>Yahoo Finance</a:t>
            </a:r>
          </a:p>
        </p:txBody>
      </p:sp>
      <p:sp>
        <p:nvSpPr>
          <p:cNvPr id="39" name="Node 39"/>
          <p:cNvSpPr/>
          <p:nvPr/>
        </p:nvSpPr>
        <p:spPr>
          <a:xfrm>
            <a:off x="8559800" y="1574800"/>
            <a:ext cx="1346200" cy="5842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Portfolio Analyst</a:t>
            </a:r>
          </a:p>
          <a:p>
            <a:pPr algn="l">
              <a:lnSpc>
                <a:spcPct val="94000"/>
              </a:lnSpc>
              <a:spcBef>
                <a:spcPts val="120"/>
              </a:spcBef>
              <a:buNone/>
            </a:pPr>
            <a:r>
              <a:rPr lang="en-US" sz="1000" dirty="0">
                <a:solidFill>
                  <a:srgbClr val="4A4A56"/>
                </a:solidFill>
                <a:latin typeface="Roboto"/>
              </a:rPr>
              <a:t>Claude Sonnet 5</a:t>
            </a:r>
          </a:p>
        </p:txBody>
      </p:sp>
      <p:sp>
        <p:nvSpPr>
          <p:cNvPr id="40" name="Node 40"/>
          <p:cNvSpPr/>
          <p:nvPr/>
        </p:nvSpPr>
        <p:spPr>
          <a:xfrm>
            <a:off x="6731000" y="2362200"/>
            <a:ext cx="3175000" cy="5334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Rollup alerts + Alpha Vantage cross-check</a:t>
            </a:r>
          </a:p>
        </p:txBody>
      </p:sp>
      <p:sp>
        <p:nvSpPr>
          <p:cNvPr id="41" name="Conn 41"/>
          <p:cNvSpPr/>
          <p:nvPr/>
        </p:nvSpPr>
        <p:spPr>
          <a:xfrm>
            <a:off x="8305800" y="1866900"/>
            <a:ext cx="254000" cy="0"/>
          </a:xfrm>
          <a:prstGeom prst="line">
            <a:avLst/>
          </a:prstGeom>
          <a:ln w="9525">
            <a:solidFill>
              <a:srgbClr val="55555F"/>
            </a:solidFill>
            <a:tailEnd type="triangle" w="sm" len="sm"/>
          </a:ln>
        </p:spPr>
        <p:txBody>
          <a:bodyPr/>
          <a:lstStyle/>
          <a:p>
            <a:endParaRPr lang="en-US"/>
          </a:p>
        </p:txBody>
      </p:sp>
      <p:sp>
        <p:nvSpPr>
          <p:cNvPr id="42" name="Conn 42"/>
          <p:cNvSpPr/>
          <p:nvPr/>
        </p:nvSpPr>
        <p:spPr>
          <a:xfrm>
            <a:off x="7518400" y="2159000"/>
            <a:ext cx="0" cy="203200"/>
          </a:xfrm>
          <a:prstGeom prst="line">
            <a:avLst/>
          </a:prstGeom>
          <a:ln w="9525">
            <a:solidFill>
              <a:srgbClr val="55555F"/>
            </a:solidFill>
            <a:tailEnd type="triangle" w="sm" len="sm"/>
          </a:ln>
        </p:spPr>
        <p:txBody>
          <a:bodyPr/>
          <a:lstStyle/>
          <a:p>
            <a:endParaRPr lang="en-US"/>
          </a:p>
        </p:txBody>
      </p:sp>
      <p:sp>
        <p:nvSpPr>
          <p:cNvPr id="43" name="Node 43"/>
          <p:cNvSpPr/>
          <p:nvPr/>
        </p:nvSpPr>
        <p:spPr>
          <a:xfrm>
            <a:off x="6731000" y="4622800"/>
            <a:ext cx="1574800" cy="5842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Router Agent</a:t>
            </a:r>
          </a:p>
          <a:p>
            <a:pPr algn="l">
              <a:lnSpc>
                <a:spcPct val="94000"/>
              </a:lnSpc>
              <a:spcBef>
                <a:spcPts val="120"/>
              </a:spcBef>
              <a:buNone/>
            </a:pPr>
            <a:r>
              <a:rPr lang="en-US" sz="1000" dirty="0">
                <a:solidFill>
                  <a:srgbClr val="4A4A56"/>
                </a:solidFill>
                <a:latin typeface="Roboto"/>
              </a:rPr>
              <a:t>Claude Sonnet 5</a:t>
            </a:r>
          </a:p>
        </p:txBody>
      </p:sp>
      <p:sp>
        <p:nvSpPr>
          <p:cNvPr id="44" name="Node 44"/>
          <p:cNvSpPr/>
          <p:nvPr/>
        </p:nvSpPr>
        <p:spPr>
          <a:xfrm>
            <a:off x="8559800" y="4216400"/>
            <a:ext cx="1346200" cy="6096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ReAct Agent</a:t>
            </a:r>
          </a:p>
          <a:p>
            <a:pPr algn="l">
              <a:lnSpc>
                <a:spcPct val="94000"/>
              </a:lnSpc>
              <a:spcBef>
                <a:spcPts val="120"/>
              </a:spcBef>
              <a:buNone/>
            </a:pPr>
            <a:r>
              <a:rPr lang="en-US" sz="1000" dirty="0">
                <a:solidFill>
                  <a:srgbClr val="4A4A56"/>
                </a:solidFill>
                <a:latin typeface="Roboto"/>
              </a:rPr>
              <a:t>straight · Yahoo Finance, ChromaDB</a:t>
            </a:r>
          </a:p>
        </p:txBody>
      </p:sp>
      <p:sp>
        <p:nvSpPr>
          <p:cNvPr id="45" name="Node 45"/>
          <p:cNvSpPr/>
          <p:nvPr/>
        </p:nvSpPr>
        <p:spPr>
          <a:xfrm>
            <a:off x="8559800" y="4978400"/>
            <a:ext cx="1346200" cy="660400"/>
          </a:xfrm>
          <a:prstGeom prst="roundRect">
            <a:avLst>
              <a:gd name="adj" fmla="val 9000"/>
            </a:avLst>
          </a:prstGeom>
          <a:solidFill>
            <a:srgbClr val="FFFFFF"/>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ToT Crew</a:t>
            </a:r>
          </a:p>
          <a:p>
            <a:pPr algn="l">
              <a:lnSpc>
                <a:spcPct val="94000"/>
              </a:lnSpc>
              <a:spcBef>
                <a:spcPts val="120"/>
              </a:spcBef>
              <a:buNone/>
            </a:pPr>
            <a:r>
              <a:rPr lang="en-US" sz="1000" dirty="0">
                <a:solidFill>
                  <a:srgbClr val="4A4A56"/>
                </a:solidFill>
                <a:latin typeface="Roboto"/>
              </a:rPr>
              <a:t>tot · 3 analysts, critic, synthesizer</a:t>
            </a:r>
          </a:p>
        </p:txBody>
      </p:sp>
      <p:sp>
        <p:nvSpPr>
          <p:cNvPr id="46" name="Conn 46"/>
          <p:cNvSpPr/>
          <p:nvPr/>
        </p:nvSpPr>
        <p:spPr>
          <a:xfrm>
            <a:off x="8305800" y="4914900"/>
            <a:ext cx="101600" cy="0"/>
          </a:xfrm>
          <a:prstGeom prst="line">
            <a:avLst/>
          </a:prstGeom>
          <a:ln w="9525">
            <a:solidFill>
              <a:srgbClr val="55555F"/>
            </a:solidFill>
          </a:ln>
        </p:spPr>
        <p:txBody>
          <a:bodyPr/>
          <a:lstStyle/>
          <a:p>
            <a:endParaRPr lang="en-US"/>
          </a:p>
        </p:txBody>
      </p:sp>
      <p:sp>
        <p:nvSpPr>
          <p:cNvPr id="47" name="Conn 47"/>
          <p:cNvSpPr/>
          <p:nvPr/>
        </p:nvSpPr>
        <p:spPr>
          <a:xfrm>
            <a:off x="8407400" y="4521200"/>
            <a:ext cx="0" cy="787400"/>
          </a:xfrm>
          <a:prstGeom prst="line">
            <a:avLst/>
          </a:prstGeom>
          <a:ln w="9525">
            <a:solidFill>
              <a:srgbClr val="55555F"/>
            </a:solidFill>
          </a:ln>
        </p:spPr>
        <p:txBody>
          <a:bodyPr/>
          <a:lstStyle/>
          <a:p>
            <a:endParaRPr lang="en-US"/>
          </a:p>
        </p:txBody>
      </p:sp>
      <p:sp>
        <p:nvSpPr>
          <p:cNvPr id="48" name="Conn 48"/>
          <p:cNvSpPr/>
          <p:nvPr/>
        </p:nvSpPr>
        <p:spPr>
          <a:xfrm>
            <a:off x="8407400" y="4521200"/>
            <a:ext cx="152400" cy="0"/>
          </a:xfrm>
          <a:prstGeom prst="line">
            <a:avLst/>
          </a:prstGeom>
          <a:ln w="9525">
            <a:solidFill>
              <a:srgbClr val="55555F"/>
            </a:solidFill>
            <a:tailEnd type="triangle" w="sm" len="sm"/>
          </a:ln>
        </p:spPr>
        <p:txBody>
          <a:bodyPr/>
          <a:lstStyle/>
          <a:p>
            <a:endParaRPr lang="en-US"/>
          </a:p>
        </p:txBody>
      </p:sp>
      <p:sp>
        <p:nvSpPr>
          <p:cNvPr id="49" name="Conn 49"/>
          <p:cNvSpPr/>
          <p:nvPr/>
        </p:nvSpPr>
        <p:spPr>
          <a:xfrm>
            <a:off x="8407400" y="5308600"/>
            <a:ext cx="152400" cy="0"/>
          </a:xfrm>
          <a:prstGeom prst="line">
            <a:avLst/>
          </a:prstGeom>
          <a:ln w="9525">
            <a:solidFill>
              <a:srgbClr val="55555F"/>
            </a:solidFill>
            <a:tailEnd type="triangle" w="sm" len="sm"/>
          </a:ln>
        </p:spPr>
        <p:txBody>
          <a:bodyPr/>
          <a:lstStyle/>
          <a:p>
            <a:endParaRPr lang="en-US"/>
          </a:p>
        </p:txBody>
      </p:sp>
      <p:sp>
        <p:nvSpPr>
          <p:cNvPr id="50" name="Conn 50"/>
          <p:cNvSpPr/>
          <p:nvPr/>
        </p:nvSpPr>
        <p:spPr>
          <a:xfrm>
            <a:off x="9906000" y="1866900"/>
            <a:ext cx="177800" cy="0"/>
          </a:xfrm>
          <a:prstGeom prst="line">
            <a:avLst/>
          </a:prstGeom>
          <a:ln w="9525">
            <a:solidFill>
              <a:srgbClr val="55555F"/>
            </a:solidFill>
          </a:ln>
        </p:spPr>
        <p:txBody>
          <a:bodyPr/>
          <a:lstStyle/>
          <a:p>
            <a:endParaRPr lang="en-US"/>
          </a:p>
        </p:txBody>
      </p:sp>
      <p:sp>
        <p:nvSpPr>
          <p:cNvPr id="51" name="Conn 51"/>
          <p:cNvSpPr/>
          <p:nvPr/>
        </p:nvSpPr>
        <p:spPr>
          <a:xfrm>
            <a:off x="9906000" y="4521200"/>
            <a:ext cx="177800" cy="0"/>
          </a:xfrm>
          <a:prstGeom prst="line">
            <a:avLst/>
          </a:prstGeom>
          <a:ln w="9525">
            <a:solidFill>
              <a:srgbClr val="55555F"/>
            </a:solidFill>
          </a:ln>
        </p:spPr>
        <p:txBody>
          <a:bodyPr/>
          <a:lstStyle/>
          <a:p>
            <a:endParaRPr lang="en-US"/>
          </a:p>
        </p:txBody>
      </p:sp>
      <p:sp>
        <p:nvSpPr>
          <p:cNvPr id="52" name="Conn 52"/>
          <p:cNvSpPr/>
          <p:nvPr/>
        </p:nvSpPr>
        <p:spPr>
          <a:xfrm>
            <a:off x="9906000" y="5308600"/>
            <a:ext cx="177800" cy="0"/>
          </a:xfrm>
          <a:prstGeom prst="line">
            <a:avLst/>
          </a:prstGeom>
          <a:ln w="9525">
            <a:solidFill>
              <a:srgbClr val="55555F"/>
            </a:solidFill>
          </a:ln>
        </p:spPr>
        <p:txBody>
          <a:bodyPr/>
          <a:lstStyle/>
          <a:p>
            <a:endParaRPr lang="en-US"/>
          </a:p>
        </p:txBody>
      </p:sp>
      <p:sp>
        <p:nvSpPr>
          <p:cNvPr id="53" name="Conn 53"/>
          <p:cNvSpPr/>
          <p:nvPr/>
        </p:nvSpPr>
        <p:spPr>
          <a:xfrm>
            <a:off x="10083800" y="1866900"/>
            <a:ext cx="0" cy="3441700"/>
          </a:xfrm>
          <a:prstGeom prst="line">
            <a:avLst/>
          </a:prstGeom>
          <a:ln w="9525">
            <a:solidFill>
              <a:srgbClr val="55555F"/>
            </a:solidFill>
          </a:ln>
        </p:spPr>
        <p:txBody>
          <a:bodyPr/>
          <a:lstStyle/>
          <a:p>
            <a:endParaRPr lang="en-US"/>
          </a:p>
        </p:txBody>
      </p:sp>
      <p:sp>
        <p:nvSpPr>
          <p:cNvPr id="54" name="Conn 54"/>
          <p:cNvSpPr/>
          <p:nvPr/>
        </p:nvSpPr>
        <p:spPr>
          <a:xfrm>
            <a:off x="10083800" y="3479800"/>
            <a:ext cx="177800" cy="0"/>
          </a:xfrm>
          <a:prstGeom prst="line">
            <a:avLst/>
          </a:prstGeom>
          <a:ln w="9525">
            <a:solidFill>
              <a:srgbClr val="55555F"/>
            </a:solidFill>
            <a:tailEnd type="triangle" w="sm" len="sm"/>
          </a:ln>
        </p:spPr>
        <p:txBody>
          <a:bodyPr/>
          <a:lstStyle/>
          <a:p>
            <a:endParaRPr lang="en-US"/>
          </a:p>
        </p:txBody>
      </p:sp>
      <p:sp>
        <p:nvSpPr>
          <p:cNvPr id="55" name="Node 55"/>
          <p:cNvSpPr/>
          <p:nvPr/>
        </p:nvSpPr>
        <p:spPr>
          <a:xfrm>
            <a:off x="10261600" y="2946400"/>
            <a:ext cx="1270000" cy="1066800"/>
          </a:xfrm>
          <a:prstGeom prst="roundRect">
            <a:avLst>
              <a:gd name="adj" fmla="val 9000"/>
            </a:avLst>
          </a:prstGeom>
          <a:solidFill>
            <a:srgbClr val="F1F1F6"/>
          </a:solidFill>
          <a:ln w="9525">
            <a:solidFill>
              <a:srgbClr val="C9CBD6"/>
            </a:solidFill>
          </a:ln>
        </p:spPr>
        <p:txBody>
          <a:bodyPr wrap="square" lIns="76200" tIns="44450" rIns="76200" bIns="44450" anchor="ctr">
            <a:noAutofit/>
          </a:bodyPr>
          <a:lstStyle/>
          <a:p>
            <a:pPr algn="l">
              <a:lnSpc>
                <a:spcPct val="94000"/>
              </a:lnSpc>
              <a:buNone/>
            </a:pPr>
            <a:r>
              <a:rPr lang="en-US" sz="1100" b="1" dirty="0">
                <a:solidFill>
                  <a:srgbClr val="1B1B27"/>
                </a:solidFill>
                <a:latin typeface="Raleway"/>
              </a:rPr>
              <a:t>Guardrails &amp; Evaluators</a:t>
            </a:r>
          </a:p>
          <a:p>
            <a:pPr algn="l">
              <a:lnSpc>
                <a:spcPct val="94000"/>
              </a:lnSpc>
              <a:spcBef>
                <a:spcPts val="120"/>
              </a:spcBef>
              <a:buNone/>
            </a:pPr>
            <a:r>
              <a:rPr lang="en-US" sz="1000" dirty="0">
                <a:solidFill>
                  <a:srgbClr val="4A4A56"/>
                </a:solidFill>
                <a:latin typeface="Roboto"/>
              </a:rPr>
              <a:t>annotates, never blocks a reply</a:t>
            </a:r>
          </a:p>
        </p:txBody>
      </p:sp>
      <p:sp>
        <p:nvSpPr>
          <p:cNvPr id="56" name="Conn 56"/>
          <p:cNvSpPr/>
          <p:nvPr/>
        </p:nvSpPr>
        <p:spPr>
          <a:xfrm flipV="1">
            <a:off x="10896600" y="965200"/>
            <a:ext cx="0" cy="1981200"/>
          </a:xfrm>
          <a:prstGeom prst="line">
            <a:avLst/>
          </a:prstGeom>
          <a:ln w="9525">
            <a:solidFill>
              <a:srgbClr val="55555F"/>
            </a:solidFill>
          </a:ln>
        </p:spPr>
        <p:txBody>
          <a:bodyPr/>
          <a:lstStyle/>
          <a:p>
            <a:endParaRPr lang="en-US"/>
          </a:p>
        </p:txBody>
      </p:sp>
      <p:sp>
        <p:nvSpPr>
          <p:cNvPr id="57" name="Conn 57"/>
          <p:cNvSpPr/>
          <p:nvPr/>
        </p:nvSpPr>
        <p:spPr>
          <a:xfrm flipH="1">
            <a:off x="3187700" y="965200"/>
            <a:ext cx="7708900" cy="0"/>
          </a:xfrm>
          <a:prstGeom prst="line">
            <a:avLst/>
          </a:prstGeom>
          <a:ln w="9525">
            <a:solidFill>
              <a:srgbClr val="55555F"/>
            </a:solidFill>
          </a:ln>
        </p:spPr>
        <p:txBody>
          <a:bodyPr/>
          <a:lstStyle/>
          <a:p>
            <a:endParaRPr lang="en-US"/>
          </a:p>
        </p:txBody>
      </p:sp>
      <p:sp>
        <p:nvSpPr>
          <p:cNvPr id="58" name="Conn 58"/>
          <p:cNvSpPr/>
          <p:nvPr/>
        </p:nvSpPr>
        <p:spPr>
          <a:xfrm>
            <a:off x="3187700" y="965200"/>
            <a:ext cx="0" cy="2209800"/>
          </a:xfrm>
          <a:prstGeom prst="line">
            <a:avLst/>
          </a:prstGeom>
          <a:ln w="9525">
            <a:solidFill>
              <a:srgbClr val="55555F"/>
            </a:solidFill>
            <a:tailEnd type="triangle" w="sm" len="sm"/>
          </a:ln>
        </p:spPr>
        <p:txBody>
          <a:bodyPr/>
          <a:lstStyle/>
          <a:p>
            <a:endParaRPr lang="en-US"/>
          </a:p>
        </p:txBody>
      </p:sp>
      <p:sp>
        <p:nvSpPr>
          <p:cNvPr id="59" name="Label 59"/>
          <p:cNvSpPr txBox="1"/>
          <p:nvPr/>
        </p:nvSpPr>
        <p:spPr>
          <a:xfrm>
            <a:off x="5334000" y="863600"/>
            <a:ext cx="1473200" cy="203200"/>
          </a:xfrm>
          <a:prstGeom prst="rect">
            <a:avLst/>
          </a:prstGeom>
          <a:solidFill>
            <a:srgbClr val="FFFFFF"/>
          </a:solidFill>
        </p:spPr>
        <p:txBody>
          <a:bodyPr wrap="square" lIns="25400" tIns="0" rIns="25400" bIns="0" anchor="ctr">
            <a:noAutofit/>
          </a:bodyPr>
          <a:lstStyle/>
          <a:p>
            <a:pPr algn="ctr">
              <a:lnSpc>
                <a:spcPct val="94000"/>
              </a:lnSpc>
              <a:buNone/>
            </a:pPr>
            <a:r>
              <a:rPr lang="en-US" sz="1000" dirty="0">
                <a:solidFill>
                  <a:srgbClr val="55555F"/>
                </a:solidFill>
                <a:latin typeface="Roboto"/>
              </a:rPr>
              <a:t>annotated answer</a:t>
            </a:r>
          </a:p>
        </p:txBody>
      </p:sp>
      <p:sp>
        <p:nvSpPr>
          <p:cNvPr id="90" name="Label 90"/>
          <p:cNvSpPr txBox="1"/>
          <p:nvPr/>
        </p:nvSpPr>
        <p:spPr>
          <a:xfrm>
            <a:off x="660400" y="6121400"/>
            <a:ext cx="10871200" cy="228600"/>
          </a:xfrm>
          <a:prstGeom prst="rect">
            <a:avLst/>
          </a:prstGeom>
          <a:noFill/>
        </p:spPr>
        <p:txBody>
          <a:bodyPr wrap="square" lIns="0" tIns="0" rIns="0" bIns="0" anchor="t">
            <a:noAutofit/>
          </a:bodyPr>
          <a:lstStyle/>
          <a:p>
            <a:pPr algn="l">
              <a:buNone/>
            </a:pPr>
            <a:r>
              <a:rPr lang="en-US" sz="1100" dirty="0">
                <a:solidFill>
                  <a:srgbClr val="4A4A56"/>
                </a:solidFill>
                <a:latin typeface="Roboto"/>
              </a:rPr>
              <a:t>Every answer passes through the guardrail layer on its way back to the chat, and it annotates rather than blocks.</a:t>
            </a:r>
          </a:p>
        </p:txBody>
      </p:sp>
    </p:spTree>
    <p:extLst>
      <p:ext uri="{BB962C8B-B14F-4D97-AF65-F5344CB8AC3E}">
        <p14:creationId xmlns:p14="http://schemas.microsoft.com/office/powerpoint/2010/main" val="3971127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Label 20"/>
          <p:cNvSpPr txBox="1"/>
          <p:nvPr/>
        </p:nvSpPr>
        <p:spPr>
          <a:xfrm>
            <a:off x="660400" y="520700"/>
            <a:ext cx="10871200" cy="330200"/>
          </a:xfrm>
          <a:prstGeom prst="rect">
            <a:avLst/>
          </a:prstGeom>
          <a:noFill/>
        </p:spPr>
        <p:txBody>
          <a:bodyPr wrap="square" lIns="0" tIns="0" rIns="0" bIns="0">
            <a:noAutofit/>
          </a:bodyPr>
          <a:lstStyle/>
          <a:p>
            <a:pPr algn="l">
              <a:lnSpc>
                <a:spcPct val="96000"/>
              </a:lnSpc>
              <a:buNone/>
            </a:pPr>
            <a:r>
              <a:rPr lang="en-US" sz="1900" b="1" dirty="0">
                <a:solidFill>
                  <a:srgbClr val="1B1B27"/>
                </a:solidFill>
                <a:latin typeface="Raleway"/>
              </a:rPr>
              <a:t>Router Agent: One Decision, Two Paths</a:t>
            </a:r>
          </a:p>
        </p:txBody>
      </p:sp>
      <p:sp>
        <p:nvSpPr>
          <p:cNvPr id="21" name="Card 21"/>
          <p:cNvSpPr/>
          <p:nvPr/>
        </p:nvSpPr>
        <p:spPr>
          <a:xfrm>
            <a:off x="660400" y="1041400"/>
            <a:ext cx="10871200" cy="990600"/>
          </a:xfrm>
          <a:prstGeom prst="roundRect">
            <a:avLst>
              <a:gd name="adj" fmla="val 6000"/>
            </a:avLst>
          </a:prstGeom>
          <a:solidFill>
            <a:srgbClr val="F1F1F6"/>
          </a:solidFill>
          <a:ln w="9525">
            <a:solidFill>
              <a:srgbClr val="C9CBD6"/>
            </a:solidFill>
          </a:ln>
        </p:spPr>
        <p:txBody>
          <a:bodyPr wrap="square" lIns="139700" tIns="101600" rIns="139700" bIns="101600" anchor="ctr">
            <a:noAutofit/>
          </a:bodyPr>
          <a:lstStyle/>
          <a:p>
            <a:pPr algn="l">
              <a:lnSpc>
                <a:spcPct val="96000"/>
              </a:lnSpc>
              <a:buNone/>
            </a:pPr>
            <a:r>
              <a:rPr lang="en-US" sz="1200" b="1" dirty="0">
                <a:solidFill>
                  <a:srgbClr val="1B1B27"/>
                </a:solidFill>
                <a:latin typeface="Raleway"/>
              </a:rPr>
              <a:t>Router Agent — runs on every advisor question</a:t>
            </a:r>
          </a:p>
          <a:p>
            <a:pPr algn="l">
              <a:lnSpc>
                <a:spcPct val="96000"/>
              </a:lnSpc>
              <a:spcBef>
                <a:spcPts val="300"/>
              </a:spcBef>
              <a:buNone/>
            </a:pPr>
            <a:r>
              <a:rPr lang="en-US" sz="1100" dirty="0">
                <a:solidFill>
                  <a:srgbClr val="3C3939"/>
                </a:solidFill>
                <a:latin typeface="Roboto"/>
              </a:rPr>
              <a:t>Own system prompt. Classifies each question as straight/factual or complex/analytical and dispatches it to the matching path. It never answers the question itself; the routing decision is its only job.</a:t>
            </a:r>
          </a:p>
        </p:txBody>
      </p:sp>
      <p:sp>
        <p:nvSpPr>
          <p:cNvPr id="22" name="Conn 22"/>
          <p:cNvSpPr/>
          <p:nvPr/>
        </p:nvSpPr>
        <p:spPr>
          <a:xfrm>
            <a:off x="2438400" y="2032000"/>
            <a:ext cx="0" cy="3048000"/>
          </a:xfrm>
          <a:prstGeom prst="line">
            <a:avLst/>
          </a:prstGeom>
          <a:ln w="9525">
            <a:solidFill>
              <a:srgbClr val="6E6E80"/>
            </a:solidFill>
          </a:ln>
        </p:spPr>
        <p:txBody>
          <a:bodyPr/>
          <a:lstStyle/>
          <a:p>
            <a:endParaRPr lang="en-US"/>
          </a:p>
        </p:txBody>
      </p:sp>
      <p:sp>
        <p:nvSpPr>
          <p:cNvPr id="23" name="Conn 23"/>
          <p:cNvSpPr/>
          <p:nvPr/>
        </p:nvSpPr>
        <p:spPr>
          <a:xfrm>
            <a:off x="2438400" y="3111500"/>
            <a:ext cx="228600" cy="0"/>
          </a:xfrm>
          <a:prstGeom prst="line">
            <a:avLst/>
          </a:prstGeom>
          <a:ln w="9525">
            <a:solidFill>
              <a:srgbClr val="6E6E80"/>
            </a:solidFill>
            <a:tailEnd type="triangle" w="sm" len="sm"/>
          </a:ln>
        </p:spPr>
        <p:txBody>
          <a:bodyPr/>
          <a:lstStyle/>
          <a:p>
            <a:endParaRPr lang="en-US"/>
          </a:p>
        </p:txBody>
      </p:sp>
      <p:sp>
        <p:nvSpPr>
          <p:cNvPr id="24" name="Conn 24"/>
          <p:cNvSpPr/>
          <p:nvPr/>
        </p:nvSpPr>
        <p:spPr>
          <a:xfrm>
            <a:off x="2438400" y="5080000"/>
            <a:ext cx="228600" cy="0"/>
          </a:xfrm>
          <a:prstGeom prst="line">
            <a:avLst/>
          </a:prstGeom>
          <a:ln w="9525">
            <a:solidFill>
              <a:srgbClr val="6E6E80"/>
            </a:solidFill>
            <a:tailEnd type="triangle" w="sm" len="sm"/>
          </a:ln>
        </p:spPr>
        <p:txBody>
          <a:bodyPr/>
          <a:lstStyle/>
          <a:p>
            <a:endParaRPr lang="en-US"/>
          </a:p>
        </p:txBody>
      </p:sp>
      <p:sp>
        <p:nvSpPr>
          <p:cNvPr id="25" name="Label 25"/>
          <p:cNvSpPr txBox="1"/>
          <p:nvPr/>
        </p:nvSpPr>
        <p:spPr>
          <a:xfrm>
            <a:off x="660400" y="2895600"/>
            <a:ext cx="1651000" cy="609600"/>
          </a:xfrm>
          <a:prstGeom prst="rect">
            <a:avLst/>
          </a:prstGeom>
          <a:noFill/>
        </p:spPr>
        <p:txBody>
          <a:bodyPr wrap="square" lIns="0" tIns="0" rIns="0" bIns="0">
            <a:noAutofit/>
          </a:bodyPr>
          <a:lstStyle/>
          <a:p>
            <a:pPr algn="l">
              <a:lnSpc>
                <a:spcPct val="96000"/>
              </a:lnSpc>
              <a:buNone/>
            </a:pPr>
            <a:r>
              <a:rPr lang="en-US" sz="1200" b="1" dirty="0">
                <a:solidFill>
                  <a:srgbClr val="1B1B27"/>
                </a:solidFill>
                <a:latin typeface="Raleway"/>
              </a:rPr>
              <a:t>Straight path</a:t>
            </a:r>
          </a:p>
          <a:p>
            <a:pPr algn="l">
              <a:lnSpc>
                <a:spcPct val="96000"/>
              </a:lnSpc>
              <a:spcBef>
                <a:spcPts val="200"/>
              </a:spcBef>
              <a:buNone/>
            </a:pPr>
            <a:r>
              <a:rPr lang="en-US" sz="1000" dirty="0">
                <a:solidFill>
                  <a:srgbClr val="4A4A56"/>
                </a:solidFill>
                <a:latin typeface="Roboto"/>
              </a:rPr>
              <a:t>factual questions</a:t>
            </a:r>
          </a:p>
        </p:txBody>
      </p:sp>
      <p:sp>
        <p:nvSpPr>
          <p:cNvPr id="26" name="Card 26"/>
          <p:cNvSpPr/>
          <p:nvPr/>
        </p:nvSpPr>
        <p:spPr>
          <a:xfrm>
            <a:off x="2667000" y="2717800"/>
            <a:ext cx="8864600" cy="787400"/>
          </a:xfrm>
          <a:prstGeom prst="roundRect">
            <a:avLst>
              <a:gd name="adj" fmla="val 6000"/>
            </a:avLst>
          </a:prstGeom>
          <a:solidFill>
            <a:srgbClr val="FFFFFF"/>
          </a:solidFill>
          <a:ln w="9525">
            <a:solidFill>
              <a:srgbClr val="C9CBD6"/>
            </a:solidFill>
          </a:ln>
        </p:spPr>
        <p:txBody>
          <a:bodyPr wrap="square" lIns="139700" tIns="101600" rIns="139700" bIns="101600" anchor="ctr">
            <a:noAutofit/>
          </a:bodyPr>
          <a:lstStyle/>
          <a:p>
            <a:pPr algn="l">
              <a:lnSpc>
                <a:spcPct val="96000"/>
              </a:lnSpc>
              <a:buNone/>
            </a:pPr>
            <a:r>
              <a:rPr lang="en-US" sz="1200" b="1" dirty="0">
                <a:solidFill>
                  <a:srgbClr val="1B1B27"/>
                </a:solidFill>
                <a:latin typeface="Raleway"/>
              </a:rPr>
              <a:t>ReAct Agent</a:t>
            </a:r>
          </a:p>
          <a:p>
            <a:pPr algn="l">
              <a:lnSpc>
                <a:spcPct val="96000"/>
              </a:lnSpc>
              <a:spcBef>
                <a:spcPts val="300"/>
              </a:spcBef>
              <a:buNone/>
            </a:pPr>
            <a:r>
              <a:rPr lang="en-US" sz="1100" dirty="0">
                <a:solidFill>
                  <a:srgbClr val="3C3939"/>
                </a:solidFill>
                <a:latin typeface="Roboto"/>
              </a:rPr>
              <a:t>Fetches whatever additional data the question needs through data_sources.py.</a:t>
            </a:r>
          </a:p>
        </p:txBody>
      </p:sp>
      <p:sp>
        <p:nvSpPr>
          <p:cNvPr id="27" name="Label 27"/>
          <p:cNvSpPr txBox="1"/>
          <p:nvPr/>
        </p:nvSpPr>
        <p:spPr>
          <a:xfrm>
            <a:off x="660400" y="4724400"/>
            <a:ext cx="1651000" cy="609600"/>
          </a:xfrm>
          <a:prstGeom prst="rect">
            <a:avLst/>
          </a:prstGeom>
          <a:noFill/>
        </p:spPr>
        <p:txBody>
          <a:bodyPr wrap="square" lIns="0" tIns="0" rIns="0" bIns="0">
            <a:noAutofit/>
          </a:bodyPr>
          <a:lstStyle/>
          <a:p>
            <a:pPr algn="l">
              <a:lnSpc>
                <a:spcPct val="96000"/>
              </a:lnSpc>
              <a:buNone/>
            </a:pPr>
            <a:r>
              <a:rPr lang="en-US" sz="1200" b="1" dirty="0">
                <a:solidFill>
                  <a:srgbClr val="1B1B27"/>
                </a:solidFill>
                <a:latin typeface="Raleway"/>
              </a:rPr>
              <a:t>Complex path</a:t>
            </a:r>
          </a:p>
          <a:p>
            <a:pPr algn="l">
              <a:lnSpc>
                <a:spcPct val="96000"/>
              </a:lnSpc>
              <a:spcBef>
                <a:spcPts val="200"/>
              </a:spcBef>
              <a:buNone/>
            </a:pPr>
            <a:r>
              <a:rPr lang="en-US" sz="1000" dirty="0">
                <a:solidFill>
                  <a:srgbClr val="4A4A56"/>
                </a:solidFill>
                <a:latin typeface="Roboto"/>
              </a:rPr>
              <a:t>analytical questions · ToT Crew</a:t>
            </a:r>
          </a:p>
        </p:txBody>
      </p:sp>
      <p:sp>
        <p:nvSpPr>
          <p:cNvPr id="28" name="Card 28"/>
          <p:cNvSpPr/>
          <p:nvPr/>
        </p:nvSpPr>
        <p:spPr>
          <a:xfrm>
            <a:off x="2667000" y="4419600"/>
            <a:ext cx="2819400" cy="1320800"/>
          </a:xfrm>
          <a:prstGeom prst="roundRect">
            <a:avLst>
              <a:gd name="adj" fmla="val 6000"/>
            </a:avLst>
          </a:prstGeom>
          <a:solidFill>
            <a:srgbClr val="FFFFFF"/>
          </a:solidFill>
          <a:ln w="9525">
            <a:solidFill>
              <a:srgbClr val="C9CBD6"/>
            </a:solidFill>
          </a:ln>
        </p:spPr>
        <p:txBody>
          <a:bodyPr wrap="square" lIns="139700" tIns="101600" rIns="139700" bIns="101600" anchor="t">
            <a:noAutofit/>
          </a:bodyPr>
          <a:lstStyle/>
          <a:p>
            <a:pPr algn="l">
              <a:lnSpc>
                <a:spcPct val="96000"/>
              </a:lnSpc>
              <a:buNone/>
            </a:pPr>
            <a:r>
              <a:rPr lang="en-US" sz="1200" b="1" dirty="0">
                <a:solidFill>
                  <a:srgbClr val="1B1B27"/>
                </a:solidFill>
                <a:latin typeface="Raleway"/>
              </a:rPr>
              <a:t>Thought Generator</a:t>
            </a:r>
          </a:p>
          <a:p>
            <a:pPr algn="l">
              <a:lnSpc>
                <a:spcPct val="96000"/>
              </a:lnSpc>
              <a:spcBef>
                <a:spcPts val="300"/>
              </a:spcBef>
              <a:buNone/>
            </a:pPr>
            <a:r>
              <a:rPr lang="en-US" sz="1100" dirty="0">
                <a:solidFill>
                  <a:srgbClr val="3C3939"/>
                </a:solidFill>
                <a:latin typeface="Roboto"/>
              </a:rPr>
              <a:t>Generates candidate explanations for the question, grounded in retrieved context.</a:t>
            </a:r>
          </a:p>
        </p:txBody>
      </p:sp>
      <p:sp>
        <p:nvSpPr>
          <p:cNvPr id="29" name="Card 29"/>
          <p:cNvSpPr/>
          <p:nvPr/>
        </p:nvSpPr>
        <p:spPr>
          <a:xfrm>
            <a:off x="5689600" y="4419600"/>
            <a:ext cx="2819400" cy="1320800"/>
          </a:xfrm>
          <a:prstGeom prst="roundRect">
            <a:avLst>
              <a:gd name="adj" fmla="val 6000"/>
            </a:avLst>
          </a:prstGeom>
          <a:solidFill>
            <a:srgbClr val="FFFFFF"/>
          </a:solidFill>
          <a:ln w="9525">
            <a:solidFill>
              <a:srgbClr val="C9CBD6"/>
            </a:solidFill>
          </a:ln>
        </p:spPr>
        <p:txBody>
          <a:bodyPr wrap="square" lIns="139700" tIns="101600" rIns="139700" bIns="101600" anchor="t">
            <a:noAutofit/>
          </a:bodyPr>
          <a:lstStyle/>
          <a:p>
            <a:pPr algn="l">
              <a:lnSpc>
                <a:spcPct val="96000"/>
              </a:lnSpc>
              <a:buNone/>
            </a:pPr>
            <a:r>
              <a:rPr lang="en-US" sz="1200" b="1" dirty="0">
                <a:solidFill>
                  <a:srgbClr val="1B1B27"/>
                </a:solidFill>
                <a:latin typeface="Raleway"/>
              </a:rPr>
              <a:t>Critic / Evaluator</a:t>
            </a:r>
          </a:p>
          <a:p>
            <a:pPr algn="l">
              <a:lnSpc>
                <a:spcPct val="96000"/>
              </a:lnSpc>
              <a:spcBef>
                <a:spcPts val="300"/>
              </a:spcBef>
              <a:buNone/>
            </a:pPr>
            <a:r>
              <a:rPr lang="en-US" sz="1100" dirty="0">
                <a:solidFill>
                  <a:srgbClr val="3C3939"/>
                </a:solidFill>
                <a:latin typeface="Roboto"/>
              </a:rPr>
              <a:t>Scores each branch and rescores as needed. Generation and evaluation stay separate, so the system never grades its own homework.</a:t>
            </a:r>
          </a:p>
        </p:txBody>
      </p:sp>
      <p:sp>
        <p:nvSpPr>
          <p:cNvPr id="30" name="Card 30"/>
          <p:cNvSpPr/>
          <p:nvPr/>
        </p:nvSpPr>
        <p:spPr>
          <a:xfrm>
            <a:off x="8712200" y="4419600"/>
            <a:ext cx="2819400" cy="1320800"/>
          </a:xfrm>
          <a:prstGeom prst="roundRect">
            <a:avLst>
              <a:gd name="adj" fmla="val 6000"/>
            </a:avLst>
          </a:prstGeom>
          <a:solidFill>
            <a:srgbClr val="FFFFFF"/>
          </a:solidFill>
          <a:ln w="9525">
            <a:solidFill>
              <a:srgbClr val="C9CBD6"/>
            </a:solidFill>
          </a:ln>
        </p:spPr>
        <p:txBody>
          <a:bodyPr wrap="square" lIns="139700" tIns="101600" rIns="139700" bIns="101600" anchor="t">
            <a:noAutofit/>
          </a:bodyPr>
          <a:lstStyle/>
          <a:p>
            <a:pPr algn="l">
              <a:lnSpc>
                <a:spcPct val="96000"/>
              </a:lnSpc>
              <a:buNone/>
            </a:pPr>
            <a:r>
              <a:rPr lang="en-US" sz="1200" b="1" dirty="0">
                <a:solidFill>
                  <a:srgbClr val="1B1B27"/>
                </a:solidFill>
                <a:latin typeface="Raleway"/>
              </a:rPr>
              <a:t>Synthesizer</a:t>
            </a:r>
          </a:p>
          <a:p>
            <a:pPr algn="l">
              <a:lnSpc>
                <a:spcPct val="96000"/>
              </a:lnSpc>
              <a:spcBef>
                <a:spcPts val="300"/>
              </a:spcBef>
              <a:buNone/>
            </a:pPr>
            <a:r>
              <a:rPr lang="en-US" sz="1100" dirty="0">
                <a:solidFill>
                  <a:srgbClr val="3C3939"/>
                </a:solidFill>
                <a:latin typeface="Roboto"/>
              </a:rPr>
              <a:t>Turns the surviving scored branches into the final answer written back to the advisor.</a:t>
            </a:r>
          </a:p>
        </p:txBody>
      </p:sp>
      <p:sp>
        <p:nvSpPr>
          <p:cNvPr id="31" name="Conn 31"/>
          <p:cNvSpPr/>
          <p:nvPr/>
        </p:nvSpPr>
        <p:spPr>
          <a:xfrm>
            <a:off x="5486400" y="5080000"/>
            <a:ext cx="203200" cy="0"/>
          </a:xfrm>
          <a:prstGeom prst="line">
            <a:avLst/>
          </a:prstGeom>
          <a:ln w="9525">
            <a:solidFill>
              <a:srgbClr val="6E6E80"/>
            </a:solidFill>
            <a:tailEnd type="triangle" w="sm" len="sm"/>
          </a:ln>
        </p:spPr>
        <p:txBody>
          <a:bodyPr/>
          <a:lstStyle/>
          <a:p>
            <a:endParaRPr lang="en-US"/>
          </a:p>
        </p:txBody>
      </p:sp>
      <p:sp>
        <p:nvSpPr>
          <p:cNvPr id="32" name="Conn 32"/>
          <p:cNvSpPr/>
          <p:nvPr/>
        </p:nvSpPr>
        <p:spPr>
          <a:xfrm>
            <a:off x="8509000" y="5080000"/>
            <a:ext cx="203200" cy="0"/>
          </a:xfrm>
          <a:prstGeom prst="line">
            <a:avLst/>
          </a:prstGeom>
          <a:ln w="9525">
            <a:solidFill>
              <a:srgbClr val="6E6E80"/>
            </a:solidFill>
            <a:tailEnd type="triangle" w="sm" len="sm"/>
          </a:ln>
        </p:spPr>
        <p:txBody>
          <a:bodyPr/>
          <a:lstStyle/>
          <a:p>
            <a:endParaRPr lang="en-US"/>
          </a:p>
        </p:txBody>
      </p:sp>
      <p:sp>
        <p:nvSpPr>
          <p:cNvPr id="33" name="Label 33"/>
          <p:cNvSpPr txBox="1"/>
          <p:nvPr/>
        </p:nvSpPr>
        <p:spPr>
          <a:xfrm>
            <a:off x="2667000" y="5969000"/>
            <a:ext cx="8864600" cy="279400"/>
          </a:xfrm>
          <a:prstGeom prst="rect">
            <a:avLst/>
          </a:prstGeom>
          <a:noFill/>
        </p:spPr>
        <p:txBody>
          <a:bodyPr wrap="square" lIns="0" tIns="0" rIns="0" bIns="0">
            <a:noAutofit/>
          </a:bodyPr>
          <a:lstStyle/>
          <a:p>
            <a:pPr algn="l">
              <a:lnSpc>
                <a:spcPct val="96000"/>
              </a:lnSpc>
              <a:buNone/>
            </a:pPr>
            <a:r>
              <a:rPr lang="en-US" sz="1050" dirty="0">
                <a:solidFill>
                  <a:srgbClr val="4A4A56"/>
                </a:solidFill>
                <a:latin typeface="Roboto"/>
              </a:rPr>
              <a:t>Branch state for the whole cycle lives in session_state.</a:t>
            </a:r>
          </a:p>
        </p:txBody>
      </p:sp>
    </p:spTree>
    <p:extLst>
      <p:ext uri="{BB962C8B-B14F-4D97-AF65-F5344CB8AC3E}">
        <p14:creationId xmlns:p14="http://schemas.microsoft.com/office/powerpoint/2010/main" val="2088296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Label 20"/>
          <p:cNvSpPr txBox="1"/>
          <p:nvPr/>
        </p:nvSpPr>
        <p:spPr>
          <a:xfrm>
            <a:off x="660400" y="520700"/>
            <a:ext cx="10871200" cy="330200"/>
          </a:xfrm>
          <a:prstGeom prst="rect">
            <a:avLst/>
          </a:prstGeom>
          <a:noFill/>
        </p:spPr>
        <p:txBody>
          <a:bodyPr wrap="square" lIns="0" tIns="0" rIns="0" bIns="0" anchor="t">
            <a:noAutofit/>
          </a:bodyPr>
          <a:lstStyle/>
          <a:p>
            <a:pPr algn="l">
              <a:lnSpc>
                <a:spcPct val="96000"/>
              </a:lnSpc>
              <a:buNone/>
            </a:pPr>
            <a:r>
              <a:rPr lang="en-US" sz="1900" b="1" dirty="0">
                <a:solidFill>
                  <a:srgbClr val="1B1B27"/>
                </a:solidFill>
                <a:latin typeface="Raleway"/>
              </a:rPr>
              <a:t>Agent Coordination: Sequential Outside, Iterative Inside</a:t>
            </a:r>
          </a:p>
        </p:txBody>
      </p:sp>
      <p:sp>
        <p:nvSpPr>
          <p:cNvPr id="21" name="Label 21"/>
          <p:cNvSpPr txBox="1"/>
          <p:nvPr/>
        </p:nvSpPr>
        <p:spPr>
          <a:xfrm>
            <a:off x="660400" y="939800"/>
            <a:ext cx="10871200" cy="228600"/>
          </a:xfrm>
          <a:prstGeom prst="rect">
            <a:avLst/>
          </a:prstGeom>
          <a:noFill/>
        </p:spPr>
        <p:txBody>
          <a:bodyPr wrap="square" lIns="0" tIns="0" rIns="0" bIns="0" anchor="t">
            <a:noAutofit/>
          </a:bodyPr>
          <a:lstStyle/>
          <a:p>
            <a:pPr algn="l">
              <a:lnSpc>
                <a:spcPct val="96000"/>
              </a:lnSpc>
              <a:buNone/>
            </a:pPr>
            <a:r>
              <a:rPr lang="en-US" sz="1100" dirty="0">
                <a:solidFill>
                  <a:srgbClr val="4A4A56"/>
                </a:solidFill>
                <a:latin typeface="Roboto"/>
              </a:rPr>
              <a:t>One hybrid strategy: assembly-line handoffs at the outer layer, a generate-evaluate-prune loop inside the ToT Crew.</a:t>
            </a:r>
          </a:p>
        </p:txBody>
      </p:sp>
      <p:sp>
        <p:nvSpPr>
          <p:cNvPr id="22" name="Conn 22"/>
          <p:cNvSpPr/>
          <p:nvPr/>
        </p:nvSpPr>
        <p:spPr>
          <a:xfrm>
            <a:off x="6096000" y="1346200"/>
            <a:ext cx="0" cy="4394200"/>
          </a:xfrm>
          <a:prstGeom prst="line">
            <a:avLst/>
          </a:prstGeom>
          <a:ln w="9525">
            <a:solidFill>
              <a:srgbClr val="E4E4EB"/>
            </a:solidFill>
          </a:ln>
        </p:spPr>
        <p:txBody>
          <a:bodyPr/>
          <a:lstStyle/>
          <a:p>
            <a:endParaRPr lang="en-US"/>
          </a:p>
        </p:txBody>
      </p:sp>
      <p:sp>
        <p:nvSpPr>
          <p:cNvPr id="23" name="Label 23"/>
          <p:cNvSpPr txBox="1"/>
          <p:nvPr/>
        </p:nvSpPr>
        <p:spPr>
          <a:xfrm>
            <a:off x="660400" y="1346200"/>
            <a:ext cx="5080000" cy="279400"/>
          </a:xfrm>
          <a:prstGeom prst="rect">
            <a:avLst/>
          </a:prstGeom>
          <a:noFill/>
        </p:spPr>
        <p:txBody>
          <a:bodyPr wrap="square" lIns="0" tIns="0" rIns="0" bIns="0" anchor="t">
            <a:noAutofit/>
          </a:bodyPr>
          <a:lstStyle/>
          <a:p>
            <a:pPr algn="l">
              <a:lnSpc>
                <a:spcPct val="96000"/>
              </a:lnSpc>
              <a:buNone/>
            </a:pPr>
            <a:r>
              <a:rPr lang="en-US" sz="1500" b="1" dirty="0">
                <a:solidFill>
                  <a:srgbClr val="1B1B27"/>
                </a:solidFill>
                <a:latin typeface="Raleway"/>
              </a:rPr>
              <a:t>Sequential — outer layer</a:t>
            </a:r>
          </a:p>
        </p:txBody>
      </p:sp>
      <p:sp>
        <p:nvSpPr>
          <p:cNvPr id="24" name="Label 24"/>
          <p:cNvSpPr txBox="1"/>
          <p:nvPr/>
        </p:nvSpPr>
        <p:spPr>
          <a:xfrm>
            <a:off x="660400" y="1676400"/>
            <a:ext cx="5080000" cy="203200"/>
          </a:xfrm>
          <a:prstGeom prst="rect">
            <a:avLst/>
          </a:prstGeom>
          <a:noFill/>
        </p:spPr>
        <p:txBody>
          <a:bodyPr wrap="square" lIns="0" tIns="0" rIns="0" bIns="0" anchor="t">
            <a:noAutofit/>
          </a:bodyPr>
          <a:lstStyle/>
          <a:p>
            <a:pPr algn="l">
              <a:lnSpc>
                <a:spcPct val="96000"/>
              </a:lnSpc>
              <a:buNone/>
            </a:pPr>
            <a:r>
              <a:rPr lang="en-US" sz="1050" dirty="0">
                <a:solidFill>
                  <a:srgbClr val="55555F"/>
                </a:solidFill>
                <a:latin typeface="Roboto"/>
              </a:rPr>
              <a:t>Strict handoffs, one pass each</a:t>
            </a:r>
          </a:p>
        </p:txBody>
      </p:sp>
      <p:sp>
        <p:nvSpPr>
          <p:cNvPr id="25" name="Label 25"/>
          <p:cNvSpPr txBox="1"/>
          <p:nvPr/>
        </p:nvSpPr>
        <p:spPr>
          <a:xfrm>
            <a:off x="660400" y="2082800"/>
            <a:ext cx="5080000" cy="203200"/>
          </a:xfrm>
          <a:prstGeom prst="rect">
            <a:avLst/>
          </a:prstGeom>
          <a:noFill/>
        </p:spPr>
        <p:txBody>
          <a:bodyPr wrap="square" lIns="0" tIns="0" rIns="0" bIns="0" anchor="t">
            <a:noAutofit/>
          </a:bodyPr>
          <a:lstStyle/>
          <a:p>
            <a:pPr algn="l">
              <a:lnSpc>
                <a:spcPct val="96000"/>
              </a:lnSpc>
              <a:buNone/>
            </a:pPr>
            <a:r>
              <a:rPr lang="en-US" sz="1150" b="1" dirty="0">
                <a:solidFill>
                  <a:srgbClr val="1B1B27"/>
                </a:solidFill>
                <a:latin typeface="Raleway"/>
              </a:rPr>
              <a:t>Profile Summary Crew</a:t>
            </a:r>
          </a:p>
        </p:txBody>
      </p:sp>
      <p:sp>
        <p:nvSpPr>
          <p:cNvPr id="26" name="Pill 26"/>
          <p:cNvSpPr/>
          <p:nvPr/>
        </p:nvSpPr>
        <p:spPr>
          <a:xfrm>
            <a:off x="660400" y="2362200"/>
            <a:ext cx="2006600" cy="4318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100" dirty="0">
                <a:solidFill>
                  <a:srgbClr val="3C3939"/>
                </a:solidFill>
                <a:latin typeface="Roboto"/>
              </a:rPr>
              <a:t>Data Aggregator</a:t>
            </a:r>
          </a:p>
        </p:txBody>
      </p:sp>
      <p:sp>
        <p:nvSpPr>
          <p:cNvPr id="27" name="Conn 27"/>
          <p:cNvSpPr/>
          <p:nvPr/>
        </p:nvSpPr>
        <p:spPr>
          <a:xfrm>
            <a:off x="2717800" y="2578100"/>
            <a:ext cx="228600" cy="0"/>
          </a:xfrm>
          <a:prstGeom prst="line">
            <a:avLst/>
          </a:prstGeom>
          <a:ln w="9525">
            <a:solidFill>
              <a:srgbClr val="55555F"/>
            </a:solidFill>
            <a:tailEnd type="triangle" w="sm" len="sm"/>
          </a:ln>
        </p:spPr>
        <p:txBody>
          <a:bodyPr/>
          <a:lstStyle/>
          <a:p>
            <a:endParaRPr lang="en-US"/>
          </a:p>
        </p:txBody>
      </p:sp>
      <p:sp>
        <p:nvSpPr>
          <p:cNvPr id="28" name="Pill 28"/>
          <p:cNvSpPr/>
          <p:nvPr/>
        </p:nvSpPr>
        <p:spPr>
          <a:xfrm>
            <a:off x="2997200" y="2362200"/>
            <a:ext cx="2235200" cy="4318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100" dirty="0">
                <a:solidFill>
                  <a:srgbClr val="3C3939"/>
                </a:solidFill>
                <a:latin typeface="Roboto"/>
              </a:rPr>
              <a:t>Profile Summarizer</a:t>
            </a:r>
          </a:p>
        </p:txBody>
      </p:sp>
      <p:sp>
        <p:nvSpPr>
          <p:cNvPr id="29" name="Label 29"/>
          <p:cNvSpPr txBox="1"/>
          <p:nvPr/>
        </p:nvSpPr>
        <p:spPr>
          <a:xfrm>
            <a:off x="660400" y="2895600"/>
            <a:ext cx="5080000" cy="203200"/>
          </a:xfrm>
          <a:prstGeom prst="rect">
            <a:avLst/>
          </a:prstGeom>
          <a:noFill/>
        </p:spPr>
        <p:txBody>
          <a:bodyPr wrap="square" lIns="0" tIns="0" rIns="0" bIns="0" anchor="t">
            <a:noAutofit/>
          </a:bodyPr>
          <a:lstStyle/>
          <a:p>
            <a:pPr algn="l">
              <a:lnSpc>
                <a:spcPct val="96000"/>
              </a:lnSpc>
              <a:buNone/>
            </a:pPr>
            <a:r>
              <a:rPr lang="en-US" sz="1050" dirty="0">
                <a:solidFill>
                  <a:srgbClr val="4A4A56"/>
                </a:solidFill>
                <a:latin typeface="Roboto"/>
              </a:rPr>
              <a:t>Strict handoff, runs once per session.</a:t>
            </a:r>
          </a:p>
        </p:txBody>
      </p:sp>
      <p:sp>
        <p:nvSpPr>
          <p:cNvPr id="30" name="Label 30"/>
          <p:cNvSpPr txBox="1"/>
          <p:nvPr/>
        </p:nvSpPr>
        <p:spPr>
          <a:xfrm>
            <a:off x="660400" y="3327400"/>
            <a:ext cx="2540000" cy="203200"/>
          </a:xfrm>
          <a:prstGeom prst="rect">
            <a:avLst/>
          </a:prstGeom>
          <a:noFill/>
        </p:spPr>
        <p:txBody>
          <a:bodyPr wrap="square" lIns="0" tIns="0" rIns="0" bIns="0" anchor="t">
            <a:noAutofit/>
          </a:bodyPr>
          <a:lstStyle/>
          <a:p>
            <a:pPr algn="l">
              <a:lnSpc>
                <a:spcPct val="96000"/>
              </a:lnSpc>
              <a:buNone/>
            </a:pPr>
            <a:r>
              <a:rPr lang="en-US" sz="1150" b="1" dirty="0">
                <a:solidFill>
                  <a:srgbClr val="1B1B27"/>
                </a:solidFill>
                <a:latin typeface="Raleway"/>
              </a:rPr>
              <a:t>Per-question flow</a:t>
            </a:r>
          </a:p>
        </p:txBody>
      </p:sp>
      <p:sp>
        <p:nvSpPr>
          <p:cNvPr id="31" name="Pill 31"/>
          <p:cNvSpPr/>
          <p:nvPr/>
        </p:nvSpPr>
        <p:spPr>
          <a:xfrm>
            <a:off x="660400" y="3606800"/>
            <a:ext cx="1676400" cy="4318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100" dirty="0">
                <a:solidFill>
                  <a:srgbClr val="3C3939"/>
                </a:solidFill>
                <a:latin typeface="Roboto"/>
              </a:rPr>
              <a:t>Router Agent</a:t>
            </a:r>
          </a:p>
        </p:txBody>
      </p:sp>
      <p:sp>
        <p:nvSpPr>
          <p:cNvPr id="32" name="Conn 32"/>
          <p:cNvSpPr/>
          <p:nvPr/>
        </p:nvSpPr>
        <p:spPr>
          <a:xfrm>
            <a:off x="2387600" y="3822700"/>
            <a:ext cx="203200" cy="0"/>
          </a:xfrm>
          <a:prstGeom prst="line">
            <a:avLst/>
          </a:prstGeom>
          <a:ln w="9525">
            <a:solidFill>
              <a:srgbClr val="55555F"/>
            </a:solidFill>
          </a:ln>
        </p:spPr>
        <p:txBody>
          <a:bodyPr/>
          <a:lstStyle/>
          <a:p>
            <a:endParaRPr lang="en-US"/>
          </a:p>
        </p:txBody>
      </p:sp>
      <p:sp>
        <p:nvSpPr>
          <p:cNvPr id="33" name="Conn 33"/>
          <p:cNvSpPr/>
          <p:nvPr/>
        </p:nvSpPr>
        <p:spPr>
          <a:xfrm>
            <a:off x="2590800" y="3505200"/>
            <a:ext cx="0" cy="635000"/>
          </a:xfrm>
          <a:prstGeom prst="line">
            <a:avLst/>
          </a:prstGeom>
          <a:ln w="9525">
            <a:solidFill>
              <a:srgbClr val="55555F"/>
            </a:solidFill>
          </a:ln>
        </p:spPr>
        <p:txBody>
          <a:bodyPr/>
          <a:lstStyle/>
          <a:p>
            <a:endParaRPr lang="en-US"/>
          </a:p>
        </p:txBody>
      </p:sp>
      <p:sp>
        <p:nvSpPr>
          <p:cNvPr id="34" name="Conn 34"/>
          <p:cNvSpPr/>
          <p:nvPr/>
        </p:nvSpPr>
        <p:spPr>
          <a:xfrm>
            <a:off x="2590800" y="3505200"/>
            <a:ext cx="762000" cy="0"/>
          </a:xfrm>
          <a:prstGeom prst="line">
            <a:avLst/>
          </a:prstGeom>
          <a:ln w="9525">
            <a:solidFill>
              <a:srgbClr val="55555F"/>
            </a:solidFill>
            <a:tailEnd type="triangle" w="sm" len="sm"/>
          </a:ln>
        </p:spPr>
        <p:txBody>
          <a:bodyPr/>
          <a:lstStyle/>
          <a:p>
            <a:endParaRPr lang="en-US"/>
          </a:p>
        </p:txBody>
      </p:sp>
      <p:sp>
        <p:nvSpPr>
          <p:cNvPr id="35" name="Conn 35"/>
          <p:cNvSpPr/>
          <p:nvPr/>
        </p:nvSpPr>
        <p:spPr>
          <a:xfrm>
            <a:off x="2590800" y="4140200"/>
            <a:ext cx="762000" cy="0"/>
          </a:xfrm>
          <a:prstGeom prst="line">
            <a:avLst/>
          </a:prstGeom>
          <a:ln w="9525">
            <a:solidFill>
              <a:srgbClr val="55555F"/>
            </a:solidFill>
            <a:tailEnd type="triangle" w="sm" len="sm"/>
          </a:ln>
        </p:spPr>
        <p:txBody>
          <a:bodyPr/>
          <a:lstStyle/>
          <a:p>
            <a:endParaRPr lang="en-US"/>
          </a:p>
        </p:txBody>
      </p:sp>
      <p:sp>
        <p:nvSpPr>
          <p:cNvPr id="36" name="Pill 36"/>
          <p:cNvSpPr/>
          <p:nvPr/>
        </p:nvSpPr>
        <p:spPr>
          <a:xfrm>
            <a:off x="3352800" y="3302000"/>
            <a:ext cx="1905000" cy="4064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100" dirty="0">
                <a:solidFill>
                  <a:srgbClr val="3C3939"/>
                </a:solidFill>
                <a:latin typeface="Roboto"/>
              </a:rPr>
              <a:t>ReAct Agent</a:t>
            </a:r>
          </a:p>
        </p:txBody>
      </p:sp>
      <p:sp>
        <p:nvSpPr>
          <p:cNvPr id="37" name="Pill 37"/>
          <p:cNvSpPr/>
          <p:nvPr/>
        </p:nvSpPr>
        <p:spPr>
          <a:xfrm>
            <a:off x="3352800" y="3937000"/>
            <a:ext cx="1905000" cy="4064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100" dirty="0">
                <a:solidFill>
                  <a:srgbClr val="3C3939"/>
                </a:solidFill>
                <a:latin typeface="Roboto"/>
              </a:rPr>
              <a:t>ToT Crew</a:t>
            </a:r>
          </a:p>
        </p:txBody>
      </p:sp>
      <p:sp>
        <p:nvSpPr>
          <p:cNvPr id="38" name="Label 38"/>
          <p:cNvSpPr txBox="1"/>
          <p:nvPr/>
        </p:nvSpPr>
        <p:spPr>
          <a:xfrm>
            <a:off x="660400" y="4445000"/>
            <a:ext cx="5080000" cy="406400"/>
          </a:xfrm>
          <a:prstGeom prst="rect">
            <a:avLst/>
          </a:prstGeom>
          <a:noFill/>
        </p:spPr>
        <p:txBody>
          <a:bodyPr wrap="square" lIns="0" tIns="0" rIns="0" bIns="0" anchor="t">
            <a:noAutofit/>
          </a:bodyPr>
          <a:lstStyle/>
          <a:p>
            <a:pPr algn="l">
              <a:lnSpc>
                <a:spcPct val="96000"/>
              </a:lnSpc>
              <a:buNone/>
            </a:pPr>
            <a:r>
              <a:rPr lang="en-US" sz="1050" dirty="0">
                <a:solidFill>
                  <a:srgbClr val="4A4A56"/>
                </a:solidFill>
                <a:latin typeface="Roboto"/>
              </a:rPr>
              <a:t>The Router makes a single dispatch decision, with no back-and-forth afterward.</a:t>
            </a:r>
          </a:p>
        </p:txBody>
      </p:sp>
      <p:sp>
        <p:nvSpPr>
          <p:cNvPr id="39" name="Label 39"/>
          <p:cNvSpPr txBox="1"/>
          <p:nvPr/>
        </p:nvSpPr>
        <p:spPr>
          <a:xfrm>
            <a:off x="660400" y="4927600"/>
            <a:ext cx="5080000" cy="203200"/>
          </a:xfrm>
          <a:prstGeom prst="rect">
            <a:avLst/>
          </a:prstGeom>
          <a:noFill/>
        </p:spPr>
        <p:txBody>
          <a:bodyPr wrap="square" lIns="0" tIns="0" rIns="0" bIns="0" anchor="t">
            <a:noAutofit/>
          </a:bodyPr>
          <a:lstStyle/>
          <a:p>
            <a:pPr algn="l">
              <a:lnSpc>
                <a:spcPct val="96000"/>
              </a:lnSpc>
              <a:buNone/>
            </a:pPr>
            <a:r>
              <a:rPr lang="en-US" sz="1150" b="1" dirty="0">
                <a:solidFill>
                  <a:srgbClr val="1B1B27"/>
                </a:solidFill>
                <a:latin typeface="Raleway"/>
              </a:rPr>
              <a:t>ReAct path</a:t>
            </a:r>
          </a:p>
        </p:txBody>
      </p:sp>
      <p:sp>
        <p:nvSpPr>
          <p:cNvPr id="40" name="Pill 40"/>
          <p:cNvSpPr/>
          <p:nvPr/>
        </p:nvSpPr>
        <p:spPr>
          <a:xfrm>
            <a:off x="660400" y="5207000"/>
            <a:ext cx="1320800" cy="4318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100" dirty="0">
                <a:solidFill>
                  <a:srgbClr val="3C3939"/>
                </a:solidFill>
                <a:latin typeface="Roboto"/>
              </a:rPr>
              <a:t>Fetch</a:t>
            </a:r>
          </a:p>
        </p:txBody>
      </p:sp>
      <p:sp>
        <p:nvSpPr>
          <p:cNvPr id="41" name="Conn 41"/>
          <p:cNvSpPr/>
          <p:nvPr/>
        </p:nvSpPr>
        <p:spPr>
          <a:xfrm>
            <a:off x="2032000" y="5422900"/>
            <a:ext cx="228600" cy="0"/>
          </a:xfrm>
          <a:prstGeom prst="line">
            <a:avLst/>
          </a:prstGeom>
          <a:ln w="9525">
            <a:solidFill>
              <a:srgbClr val="55555F"/>
            </a:solidFill>
            <a:tailEnd type="triangle" w="sm" len="sm"/>
          </a:ln>
        </p:spPr>
        <p:txBody>
          <a:bodyPr/>
          <a:lstStyle/>
          <a:p>
            <a:endParaRPr lang="en-US"/>
          </a:p>
        </p:txBody>
      </p:sp>
      <p:sp>
        <p:nvSpPr>
          <p:cNvPr id="42" name="Pill 42"/>
          <p:cNvSpPr/>
          <p:nvPr/>
        </p:nvSpPr>
        <p:spPr>
          <a:xfrm>
            <a:off x="2311400" y="5207000"/>
            <a:ext cx="1422400" cy="4318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100" dirty="0">
                <a:solidFill>
                  <a:srgbClr val="3C3939"/>
                </a:solidFill>
                <a:latin typeface="Roboto"/>
              </a:rPr>
              <a:t>Answer</a:t>
            </a:r>
          </a:p>
        </p:txBody>
      </p:sp>
      <p:sp>
        <p:nvSpPr>
          <p:cNvPr id="43" name="Label 43"/>
          <p:cNvSpPr txBox="1"/>
          <p:nvPr/>
        </p:nvSpPr>
        <p:spPr>
          <a:xfrm>
            <a:off x="3886200" y="5207000"/>
            <a:ext cx="1854200" cy="431800"/>
          </a:xfrm>
          <a:prstGeom prst="rect">
            <a:avLst/>
          </a:prstGeom>
          <a:noFill/>
        </p:spPr>
        <p:txBody>
          <a:bodyPr wrap="square" lIns="0" tIns="0" rIns="0" bIns="0" anchor="ctr">
            <a:noAutofit/>
          </a:bodyPr>
          <a:lstStyle/>
          <a:p>
            <a:pPr algn="l">
              <a:lnSpc>
                <a:spcPct val="96000"/>
              </a:lnSpc>
              <a:buNone/>
            </a:pPr>
            <a:r>
              <a:rPr lang="en-US" sz="1050" dirty="0">
                <a:solidFill>
                  <a:srgbClr val="4A4A56"/>
                </a:solidFill>
                <a:latin typeface="Roboto"/>
              </a:rPr>
              <a:t>Single pass, no iterative loop.</a:t>
            </a:r>
          </a:p>
        </p:txBody>
      </p:sp>
      <p:sp>
        <p:nvSpPr>
          <p:cNvPr id="44" name="Label 44"/>
          <p:cNvSpPr txBox="1"/>
          <p:nvPr/>
        </p:nvSpPr>
        <p:spPr>
          <a:xfrm>
            <a:off x="6375400" y="1346200"/>
            <a:ext cx="5156200" cy="279400"/>
          </a:xfrm>
          <a:prstGeom prst="rect">
            <a:avLst/>
          </a:prstGeom>
          <a:noFill/>
        </p:spPr>
        <p:txBody>
          <a:bodyPr wrap="square" lIns="0" tIns="0" rIns="0" bIns="0" anchor="t">
            <a:noAutofit/>
          </a:bodyPr>
          <a:lstStyle/>
          <a:p>
            <a:pPr algn="l">
              <a:lnSpc>
                <a:spcPct val="96000"/>
              </a:lnSpc>
              <a:buNone/>
            </a:pPr>
            <a:r>
              <a:rPr lang="en-US" sz="1500" b="1" dirty="0">
                <a:solidFill>
                  <a:srgbClr val="1B1B27"/>
                </a:solidFill>
                <a:latin typeface="Raleway"/>
              </a:rPr>
              <a:t>Iterative — within the ToT Crew</a:t>
            </a:r>
          </a:p>
        </p:txBody>
      </p:sp>
      <p:sp>
        <p:nvSpPr>
          <p:cNvPr id="45" name="Label 45"/>
          <p:cNvSpPr txBox="1"/>
          <p:nvPr/>
        </p:nvSpPr>
        <p:spPr>
          <a:xfrm>
            <a:off x="6375400" y="1676400"/>
            <a:ext cx="5156200" cy="203200"/>
          </a:xfrm>
          <a:prstGeom prst="rect">
            <a:avLst/>
          </a:prstGeom>
          <a:noFill/>
        </p:spPr>
        <p:txBody>
          <a:bodyPr wrap="square" lIns="0" tIns="0" rIns="0" bIns="0" anchor="t">
            <a:noAutofit/>
          </a:bodyPr>
          <a:lstStyle/>
          <a:p>
            <a:pPr algn="l">
              <a:lnSpc>
                <a:spcPct val="96000"/>
              </a:lnSpc>
              <a:buNone/>
            </a:pPr>
            <a:r>
              <a:rPr lang="en-US" sz="1050" dirty="0">
                <a:solidFill>
                  <a:srgbClr val="55555F"/>
                </a:solidFill>
                <a:latin typeface="Roboto"/>
              </a:rPr>
              <a:t>Generate, evaluate, prune, repeat</a:t>
            </a:r>
          </a:p>
        </p:txBody>
      </p:sp>
      <p:sp>
        <p:nvSpPr>
          <p:cNvPr id="46" name="Pill 46"/>
          <p:cNvSpPr/>
          <p:nvPr/>
        </p:nvSpPr>
        <p:spPr>
          <a:xfrm>
            <a:off x="6375400" y="2082800"/>
            <a:ext cx="3175000" cy="6096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l">
              <a:lnSpc>
                <a:spcPct val="96000"/>
              </a:lnSpc>
              <a:buNone/>
            </a:pPr>
            <a:r>
              <a:rPr lang="en-US" sz="1150" b="1" dirty="0">
                <a:solidFill>
                  <a:srgbClr val="1B1B27"/>
                </a:solidFill>
                <a:latin typeface="Raleway"/>
              </a:rPr>
              <a:t>Thought Generator</a:t>
            </a:r>
          </a:p>
          <a:p>
            <a:pPr algn="l">
              <a:lnSpc>
                <a:spcPct val="96000"/>
              </a:lnSpc>
              <a:spcBef>
                <a:spcPts val="120"/>
              </a:spcBef>
              <a:buNone/>
            </a:pPr>
            <a:r>
              <a:rPr lang="en-US" sz="1050" dirty="0">
                <a:solidFill>
                  <a:srgbClr val="4A4A56"/>
                </a:solidFill>
                <a:latin typeface="Roboto"/>
              </a:rPr>
              <a:t>Produces candidate branches.</a:t>
            </a:r>
          </a:p>
        </p:txBody>
      </p:sp>
      <p:sp>
        <p:nvSpPr>
          <p:cNvPr id="47" name="Conn 47"/>
          <p:cNvSpPr/>
          <p:nvPr/>
        </p:nvSpPr>
        <p:spPr>
          <a:xfrm>
            <a:off x="7962900" y="2692400"/>
            <a:ext cx="0" cy="228600"/>
          </a:xfrm>
          <a:prstGeom prst="line">
            <a:avLst/>
          </a:prstGeom>
          <a:ln w="9525">
            <a:solidFill>
              <a:srgbClr val="55555F"/>
            </a:solidFill>
            <a:tailEnd type="triangle" w="sm" len="sm"/>
          </a:ln>
        </p:spPr>
        <p:txBody>
          <a:bodyPr/>
          <a:lstStyle/>
          <a:p>
            <a:endParaRPr lang="en-US"/>
          </a:p>
        </p:txBody>
      </p:sp>
      <p:sp>
        <p:nvSpPr>
          <p:cNvPr id="48" name="Pill 48"/>
          <p:cNvSpPr/>
          <p:nvPr/>
        </p:nvSpPr>
        <p:spPr>
          <a:xfrm>
            <a:off x="6375400" y="2921000"/>
            <a:ext cx="3175000" cy="6096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l">
              <a:lnSpc>
                <a:spcPct val="96000"/>
              </a:lnSpc>
              <a:buNone/>
            </a:pPr>
            <a:r>
              <a:rPr lang="en-US" sz="1150" b="1" dirty="0">
                <a:solidFill>
                  <a:srgbClr val="1B1B27"/>
                </a:solidFill>
                <a:latin typeface="Raleway"/>
              </a:rPr>
              <a:t>Critic / Evaluator</a:t>
            </a:r>
          </a:p>
          <a:p>
            <a:pPr algn="l">
              <a:lnSpc>
                <a:spcPct val="96000"/>
              </a:lnSpc>
              <a:spcBef>
                <a:spcPts val="120"/>
              </a:spcBef>
              <a:buNone/>
            </a:pPr>
            <a:r>
              <a:rPr lang="en-US" sz="1050" dirty="0">
                <a:solidFill>
                  <a:srgbClr val="4A4A56"/>
                </a:solidFill>
                <a:latin typeface="Roboto"/>
              </a:rPr>
              <a:t>Evaluates and scores those candidates.</a:t>
            </a:r>
          </a:p>
        </p:txBody>
      </p:sp>
      <p:sp>
        <p:nvSpPr>
          <p:cNvPr id="49" name="Conn 49"/>
          <p:cNvSpPr/>
          <p:nvPr/>
        </p:nvSpPr>
        <p:spPr>
          <a:xfrm>
            <a:off x="7962900" y="3530600"/>
            <a:ext cx="0" cy="228600"/>
          </a:xfrm>
          <a:prstGeom prst="line">
            <a:avLst/>
          </a:prstGeom>
          <a:ln w="9525">
            <a:solidFill>
              <a:srgbClr val="55555F"/>
            </a:solidFill>
            <a:tailEnd type="triangle" w="sm" len="sm"/>
          </a:ln>
        </p:spPr>
        <p:txBody>
          <a:bodyPr/>
          <a:lstStyle/>
          <a:p>
            <a:endParaRPr lang="en-US"/>
          </a:p>
        </p:txBody>
      </p:sp>
      <p:sp>
        <p:nvSpPr>
          <p:cNvPr id="50" name="Pill 50"/>
          <p:cNvSpPr/>
          <p:nvPr/>
        </p:nvSpPr>
        <p:spPr>
          <a:xfrm>
            <a:off x="6375400" y="3759200"/>
            <a:ext cx="3175000" cy="609600"/>
          </a:xfrm>
          <a:prstGeom prst="roundRect">
            <a:avLst>
              <a:gd name="adj" fmla="val 14000"/>
            </a:avLst>
          </a:prstGeom>
          <a:solidFill>
            <a:srgbClr val="FFFFFF"/>
          </a:solidFill>
          <a:ln w="9525">
            <a:solidFill>
              <a:srgbClr val="C9CBD6"/>
            </a:solidFill>
          </a:ln>
        </p:spPr>
        <p:txBody>
          <a:bodyPr wrap="square" lIns="88900" tIns="50800" rIns="88900" bIns="50800" anchor="ctr">
            <a:noAutofit/>
          </a:bodyPr>
          <a:lstStyle/>
          <a:p>
            <a:pPr algn="l">
              <a:lnSpc>
                <a:spcPct val="96000"/>
              </a:lnSpc>
              <a:buNone/>
            </a:pPr>
            <a:r>
              <a:rPr lang="en-US" sz="1150" b="1" dirty="0">
                <a:solidFill>
                  <a:srgbClr val="1B1B27"/>
                </a:solidFill>
                <a:latin typeface="Raleway"/>
              </a:rPr>
              <a:t>Rescope and refine</a:t>
            </a:r>
          </a:p>
          <a:p>
            <a:pPr algn="l">
              <a:lnSpc>
                <a:spcPct val="96000"/>
              </a:lnSpc>
              <a:spcBef>
                <a:spcPts val="120"/>
              </a:spcBef>
              <a:buNone/>
            </a:pPr>
            <a:r>
              <a:rPr lang="en-US" sz="1050" dirty="0">
                <a:solidFill>
                  <a:srgbClr val="4A4A56"/>
                </a:solidFill>
                <a:latin typeface="Roboto"/>
              </a:rPr>
              <a:t>Only the surviving branches advance.</a:t>
            </a:r>
          </a:p>
        </p:txBody>
      </p:sp>
      <p:sp>
        <p:nvSpPr>
          <p:cNvPr id="51" name="Conn 51"/>
          <p:cNvSpPr/>
          <p:nvPr/>
        </p:nvSpPr>
        <p:spPr>
          <a:xfrm>
            <a:off x="9550400" y="4064000"/>
            <a:ext cx="355600" cy="0"/>
          </a:xfrm>
          <a:prstGeom prst="line">
            <a:avLst/>
          </a:prstGeom>
          <a:ln w="9525">
            <a:solidFill>
              <a:srgbClr val="55555F"/>
            </a:solidFill>
          </a:ln>
        </p:spPr>
        <p:txBody>
          <a:bodyPr/>
          <a:lstStyle/>
          <a:p>
            <a:endParaRPr lang="en-US"/>
          </a:p>
        </p:txBody>
      </p:sp>
      <p:sp>
        <p:nvSpPr>
          <p:cNvPr id="52" name="Conn 52"/>
          <p:cNvSpPr/>
          <p:nvPr/>
        </p:nvSpPr>
        <p:spPr>
          <a:xfrm>
            <a:off x="9906000" y="2387600"/>
            <a:ext cx="0" cy="1676400"/>
          </a:xfrm>
          <a:prstGeom prst="line">
            <a:avLst/>
          </a:prstGeom>
          <a:ln w="9525">
            <a:solidFill>
              <a:srgbClr val="55555F"/>
            </a:solidFill>
          </a:ln>
        </p:spPr>
        <p:txBody>
          <a:bodyPr/>
          <a:lstStyle/>
          <a:p>
            <a:endParaRPr lang="en-US"/>
          </a:p>
        </p:txBody>
      </p:sp>
      <p:sp>
        <p:nvSpPr>
          <p:cNvPr id="53" name="Conn 53"/>
          <p:cNvSpPr/>
          <p:nvPr/>
        </p:nvSpPr>
        <p:spPr>
          <a:xfrm flipH="1">
            <a:off x="9550400" y="2387600"/>
            <a:ext cx="355600" cy="0"/>
          </a:xfrm>
          <a:prstGeom prst="line">
            <a:avLst/>
          </a:prstGeom>
          <a:ln w="9525">
            <a:solidFill>
              <a:srgbClr val="55555F"/>
            </a:solidFill>
            <a:tailEnd type="triangle" w="sm" len="sm"/>
          </a:ln>
        </p:spPr>
        <p:txBody>
          <a:bodyPr/>
          <a:lstStyle/>
          <a:p>
            <a:endParaRPr lang="en-US"/>
          </a:p>
        </p:txBody>
      </p:sp>
      <p:sp>
        <p:nvSpPr>
          <p:cNvPr id="54" name="Label 54"/>
          <p:cNvSpPr txBox="1"/>
          <p:nvPr/>
        </p:nvSpPr>
        <p:spPr>
          <a:xfrm>
            <a:off x="10033000" y="2895600"/>
            <a:ext cx="1422400" cy="431800"/>
          </a:xfrm>
          <a:prstGeom prst="rect">
            <a:avLst/>
          </a:prstGeom>
          <a:noFill/>
        </p:spPr>
        <p:txBody>
          <a:bodyPr wrap="square" lIns="0" tIns="0" rIns="0" bIns="0" anchor="t">
            <a:noAutofit/>
          </a:bodyPr>
          <a:lstStyle/>
          <a:p>
            <a:pPr algn="l">
              <a:lnSpc>
                <a:spcPct val="96000"/>
              </a:lnSpc>
              <a:buNone/>
            </a:pPr>
            <a:r>
              <a:rPr lang="en-US" sz="1050" dirty="0">
                <a:solidFill>
                  <a:srgbClr val="55555F"/>
                </a:solidFill>
                <a:latin typeface="Roboto"/>
              </a:rPr>
              <a:t>repeats to the set depth</a:t>
            </a:r>
          </a:p>
        </p:txBody>
      </p:sp>
      <p:sp>
        <p:nvSpPr>
          <p:cNvPr id="55" name="Conn 55"/>
          <p:cNvSpPr/>
          <p:nvPr/>
        </p:nvSpPr>
        <p:spPr>
          <a:xfrm>
            <a:off x="7962900" y="4368800"/>
            <a:ext cx="0" cy="228600"/>
          </a:xfrm>
          <a:prstGeom prst="line">
            <a:avLst/>
          </a:prstGeom>
          <a:ln w="9525">
            <a:solidFill>
              <a:srgbClr val="55555F"/>
            </a:solidFill>
            <a:tailEnd type="triangle" w="sm" len="sm"/>
          </a:ln>
        </p:spPr>
        <p:txBody>
          <a:bodyPr/>
          <a:lstStyle/>
          <a:p>
            <a:endParaRPr lang="en-US"/>
          </a:p>
        </p:txBody>
      </p:sp>
      <p:sp>
        <p:nvSpPr>
          <p:cNvPr id="56" name="Pill 56"/>
          <p:cNvSpPr/>
          <p:nvPr/>
        </p:nvSpPr>
        <p:spPr>
          <a:xfrm>
            <a:off x="6375400" y="4597400"/>
            <a:ext cx="3175000" cy="660400"/>
          </a:xfrm>
          <a:prstGeom prst="roundRect">
            <a:avLst>
              <a:gd name="adj" fmla="val 14000"/>
            </a:avLst>
          </a:prstGeom>
          <a:solidFill>
            <a:srgbClr val="F1F1F6"/>
          </a:solidFill>
          <a:ln w="9525">
            <a:solidFill>
              <a:srgbClr val="C9CBD6"/>
            </a:solidFill>
          </a:ln>
        </p:spPr>
        <p:txBody>
          <a:bodyPr wrap="square" lIns="88900" tIns="50800" rIns="88900" bIns="50800" anchor="ctr">
            <a:noAutofit/>
          </a:bodyPr>
          <a:lstStyle/>
          <a:p>
            <a:pPr algn="l">
              <a:lnSpc>
                <a:spcPct val="96000"/>
              </a:lnSpc>
              <a:buNone/>
            </a:pPr>
            <a:r>
              <a:rPr lang="en-US" sz="1150" b="1" dirty="0">
                <a:solidFill>
                  <a:srgbClr val="1B1B27"/>
                </a:solidFill>
                <a:latin typeface="Raleway"/>
              </a:rPr>
              <a:t>Synthesizer</a:t>
            </a:r>
          </a:p>
          <a:p>
            <a:pPr algn="l">
              <a:lnSpc>
                <a:spcPct val="96000"/>
              </a:lnSpc>
              <a:spcBef>
                <a:spcPts val="120"/>
              </a:spcBef>
              <a:buNone/>
            </a:pPr>
            <a:r>
              <a:rPr lang="en-US" sz="1050" dirty="0">
                <a:solidFill>
                  <a:srgbClr val="4A4A56"/>
                </a:solidFill>
                <a:latin typeface="Roboto"/>
              </a:rPr>
              <a:t>Combines the final surviving branches into the answer.</a:t>
            </a:r>
          </a:p>
        </p:txBody>
      </p:sp>
      <p:sp>
        <p:nvSpPr>
          <p:cNvPr id="57" name="Label 57"/>
          <p:cNvSpPr txBox="1"/>
          <p:nvPr/>
        </p:nvSpPr>
        <p:spPr>
          <a:xfrm>
            <a:off x="660400" y="5994400"/>
            <a:ext cx="10871200" cy="228600"/>
          </a:xfrm>
          <a:prstGeom prst="rect">
            <a:avLst/>
          </a:prstGeom>
          <a:noFill/>
        </p:spPr>
        <p:txBody>
          <a:bodyPr wrap="square" lIns="0" tIns="0" rIns="0" bIns="0" anchor="t">
            <a:noAutofit/>
          </a:bodyPr>
          <a:lstStyle/>
          <a:p>
            <a:pPr algn="l">
              <a:lnSpc>
                <a:spcPct val="96000"/>
              </a:lnSpc>
              <a:buNone/>
            </a:pPr>
            <a:r>
              <a:rPr lang="en-US" sz="1100" dirty="0">
                <a:solidFill>
                  <a:srgbClr val="4A4A56"/>
                </a:solidFill>
                <a:latin typeface="Roboto"/>
              </a:rPr>
              <a:t>Sequential where the path is already decided; iterative where branches still have to be searched and pruned.</a:t>
            </a:r>
          </a:p>
        </p:txBody>
      </p:sp>
    </p:spTree>
    <p:extLst>
      <p:ext uri="{BB962C8B-B14F-4D97-AF65-F5344CB8AC3E}">
        <p14:creationId xmlns:p14="http://schemas.microsoft.com/office/powerpoint/2010/main" val="1767047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Label 20"/>
          <p:cNvSpPr txBox="1"/>
          <p:nvPr/>
        </p:nvSpPr>
        <p:spPr>
          <a:xfrm>
            <a:off x="660400" y="520700"/>
            <a:ext cx="10871200" cy="330200"/>
          </a:xfrm>
          <a:prstGeom prst="rect">
            <a:avLst/>
          </a:prstGeom>
          <a:noFill/>
        </p:spPr>
        <p:txBody>
          <a:bodyPr wrap="square" lIns="0" tIns="0" rIns="0" bIns="0" anchor="ctr">
            <a:noAutofit/>
          </a:bodyPr>
          <a:lstStyle/>
          <a:p>
            <a:pPr algn="l">
              <a:lnSpc>
                <a:spcPct val="96000"/>
              </a:lnSpc>
              <a:buNone/>
            </a:pPr>
            <a:r>
              <a:rPr lang="en-US" sz="1900" b="1" dirty="0">
                <a:solidFill>
                  <a:srgbClr val="1B1B27"/>
                </a:solidFill>
                <a:latin typeface="Raleway"/>
              </a:rPr>
              <a:t>The ReAct Cycle: Each Observation Restarts Reasoning</a:t>
            </a:r>
          </a:p>
        </p:txBody>
      </p:sp>
      <p:sp>
        <p:nvSpPr>
          <p:cNvPr id="21" name="Label 21"/>
          <p:cNvSpPr txBox="1"/>
          <p:nvPr/>
        </p:nvSpPr>
        <p:spPr>
          <a:xfrm>
            <a:off x="660400" y="939800"/>
            <a:ext cx="10871200" cy="228600"/>
          </a:xfrm>
          <a:prstGeom prst="rect">
            <a:avLst/>
          </a:prstGeom>
          <a:noFill/>
        </p:spPr>
        <p:txBody>
          <a:bodyPr wrap="square" lIns="0" tIns="0" rIns="0" bIns="0" anchor="ctr">
            <a:noAutofit/>
          </a:bodyPr>
          <a:lstStyle/>
          <a:p>
            <a:pPr algn="l">
              <a:lnSpc>
                <a:spcPct val="96000"/>
              </a:lnSpc>
              <a:buNone/>
            </a:pPr>
            <a:r>
              <a:rPr lang="en-US" sz="1100" dirty="0">
                <a:solidFill>
                  <a:srgbClr val="4A4A56"/>
                </a:solidFill>
                <a:latin typeface="Roboto"/>
              </a:rPr>
              <a:t>Every pass moves the analysis further: raw market events, then quantitative analysis, then qualitative explanation.</a:t>
            </a:r>
          </a:p>
        </p:txBody>
      </p:sp>
      <p:sp>
        <p:nvSpPr>
          <p:cNvPr id="22" name="Shape 22"/>
          <p:cNvSpPr/>
          <p:nvPr/>
        </p:nvSpPr>
        <p:spPr>
          <a:xfrm>
            <a:off x="660400" y="1422400"/>
            <a:ext cx="1892300" cy="914400"/>
          </a:xfrm>
          <a:prstGeom prst="chevron">
            <a:avLst>
              <a:gd name="adj" fmla="val 22000"/>
            </a:avLst>
          </a:prstGeom>
          <a:solidFill>
            <a:srgbClr val="FFFFFF"/>
          </a:solidFill>
          <a:ln w="9525">
            <a:solidFill>
              <a:srgbClr val="C9CBD6"/>
            </a:solidFill>
          </a:ln>
        </p:spPr>
        <p:txBody>
          <a:bodyPr wrap="square" lIns="25400" tIns="50800" rIns="25400" bIns="50800" anchor="ctr">
            <a:noAutofit/>
          </a:bodyPr>
          <a:lstStyle/>
          <a:p>
            <a:pPr algn="ctr">
              <a:lnSpc>
                <a:spcPct val="96000"/>
              </a:lnSpc>
              <a:buNone/>
            </a:pPr>
            <a:r>
              <a:rPr lang="en-US" sz="1300" b="1" dirty="0">
                <a:solidFill>
                  <a:srgbClr val="1B1B27"/>
                </a:solidFill>
                <a:latin typeface="Raleway"/>
              </a:rPr>
              <a:t>Reasoning</a:t>
            </a:r>
          </a:p>
        </p:txBody>
      </p:sp>
      <p:sp>
        <p:nvSpPr>
          <p:cNvPr id="23" name="Shape 23"/>
          <p:cNvSpPr/>
          <p:nvPr/>
        </p:nvSpPr>
        <p:spPr>
          <a:xfrm>
            <a:off x="2451100" y="1422400"/>
            <a:ext cx="1892300" cy="914400"/>
          </a:xfrm>
          <a:prstGeom prst="chevron">
            <a:avLst>
              <a:gd name="adj" fmla="val 22000"/>
            </a:avLst>
          </a:prstGeom>
          <a:solidFill>
            <a:srgbClr val="F1F1F6"/>
          </a:solidFill>
          <a:ln w="9525">
            <a:solidFill>
              <a:srgbClr val="C9CBD6"/>
            </a:solidFill>
          </a:ln>
        </p:spPr>
        <p:txBody>
          <a:bodyPr wrap="square" lIns="25400" tIns="50800" rIns="25400" bIns="50800" anchor="ctr">
            <a:noAutofit/>
          </a:bodyPr>
          <a:lstStyle/>
          <a:p>
            <a:pPr algn="ctr">
              <a:lnSpc>
                <a:spcPct val="96000"/>
              </a:lnSpc>
              <a:buNone/>
            </a:pPr>
            <a:r>
              <a:rPr lang="en-US" sz="1300" b="1" dirty="0">
                <a:solidFill>
                  <a:srgbClr val="1B1B27"/>
                </a:solidFill>
                <a:latin typeface="Raleway"/>
              </a:rPr>
              <a:t>Action</a:t>
            </a:r>
          </a:p>
        </p:txBody>
      </p:sp>
      <p:sp>
        <p:nvSpPr>
          <p:cNvPr id="24" name="Shape 24"/>
          <p:cNvSpPr/>
          <p:nvPr/>
        </p:nvSpPr>
        <p:spPr>
          <a:xfrm>
            <a:off x="4241800" y="1422400"/>
            <a:ext cx="1892300" cy="914400"/>
          </a:xfrm>
          <a:prstGeom prst="chevron">
            <a:avLst>
              <a:gd name="adj" fmla="val 22000"/>
            </a:avLst>
          </a:prstGeom>
          <a:solidFill>
            <a:srgbClr val="E4E4EE"/>
          </a:solidFill>
          <a:ln w="9525">
            <a:solidFill>
              <a:srgbClr val="C9CBD6"/>
            </a:solidFill>
          </a:ln>
        </p:spPr>
        <p:txBody>
          <a:bodyPr wrap="square" lIns="25400" tIns="50800" rIns="25400" bIns="50800" anchor="ctr">
            <a:noAutofit/>
          </a:bodyPr>
          <a:lstStyle/>
          <a:p>
            <a:pPr algn="ctr">
              <a:lnSpc>
                <a:spcPct val="96000"/>
              </a:lnSpc>
              <a:buNone/>
            </a:pPr>
            <a:r>
              <a:rPr lang="en-US" sz="1300" b="1" dirty="0">
                <a:solidFill>
                  <a:srgbClr val="1B1B27"/>
                </a:solidFill>
                <a:latin typeface="Raleway"/>
              </a:rPr>
              <a:t>Observation</a:t>
            </a:r>
          </a:p>
        </p:txBody>
      </p:sp>
      <p:sp>
        <p:nvSpPr>
          <p:cNvPr id="25" name="Shape 25"/>
          <p:cNvSpPr/>
          <p:nvPr/>
        </p:nvSpPr>
        <p:spPr>
          <a:xfrm>
            <a:off x="6032500" y="1422400"/>
            <a:ext cx="1892300" cy="914400"/>
          </a:xfrm>
          <a:prstGeom prst="chevron">
            <a:avLst>
              <a:gd name="adj" fmla="val 22000"/>
            </a:avLst>
          </a:prstGeom>
          <a:solidFill>
            <a:srgbClr val="FFFFFF"/>
          </a:solidFill>
          <a:ln w="9525">
            <a:solidFill>
              <a:srgbClr val="C9CBD6"/>
            </a:solidFill>
          </a:ln>
        </p:spPr>
        <p:txBody>
          <a:bodyPr wrap="square" lIns="25400" tIns="50800" rIns="25400" bIns="50800" anchor="ctr">
            <a:noAutofit/>
          </a:bodyPr>
          <a:lstStyle/>
          <a:p>
            <a:pPr algn="ctr">
              <a:lnSpc>
                <a:spcPct val="96000"/>
              </a:lnSpc>
              <a:buNone/>
            </a:pPr>
            <a:r>
              <a:rPr lang="en-US" sz="1300" b="1" dirty="0">
                <a:solidFill>
                  <a:srgbClr val="1B1B27"/>
                </a:solidFill>
                <a:latin typeface="Raleway"/>
              </a:rPr>
              <a:t>Reasoning</a:t>
            </a:r>
          </a:p>
        </p:txBody>
      </p:sp>
      <p:sp>
        <p:nvSpPr>
          <p:cNvPr id="26" name="Shape 26"/>
          <p:cNvSpPr/>
          <p:nvPr/>
        </p:nvSpPr>
        <p:spPr>
          <a:xfrm>
            <a:off x="7823200" y="1422400"/>
            <a:ext cx="1892300" cy="914400"/>
          </a:xfrm>
          <a:prstGeom prst="chevron">
            <a:avLst>
              <a:gd name="adj" fmla="val 22000"/>
            </a:avLst>
          </a:prstGeom>
          <a:solidFill>
            <a:srgbClr val="F1F1F6"/>
          </a:solidFill>
          <a:ln w="9525">
            <a:solidFill>
              <a:srgbClr val="C9CBD6"/>
            </a:solidFill>
          </a:ln>
        </p:spPr>
        <p:txBody>
          <a:bodyPr wrap="square" lIns="25400" tIns="50800" rIns="25400" bIns="50800" anchor="ctr">
            <a:noAutofit/>
          </a:bodyPr>
          <a:lstStyle/>
          <a:p>
            <a:pPr algn="ctr">
              <a:lnSpc>
                <a:spcPct val="96000"/>
              </a:lnSpc>
              <a:buNone/>
            </a:pPr>
            <a:r>
              <a:rPr lang="en-US" sz="1300" b="1" dirty="0">
                <a:solidFill>
                  <a:srgbClr val="1B1B27"/>
                </a:solidFill>
                <a:latin typeface="Raleway"/>
              </a:rPr>
              <a:t>Action</a:t>
            </a:r>
          </a:p>
        </p:txBody>
      </p:sp>
      <p:sp>
        <p:nvSpPr>
          <p:cNvPr id="27" name="Shape 27"/>
          <p:cNvSpPr/>
          <p:nvPr/>
        </p:nvSpPr>
        <p:spPr>
          <a:xfrm>
            <a:off x="9613900" y="1422400"/>
            <a:ext cx="1892300" cy="914400"/>
          </a:xfrm>
          <a:prstGeom prst="chevron">
            <a:avLst>
              <a:gd name="adj" fmla="val 22000"/>
            </a:avLst>
          </a:prstGeom>
          <a:solidFill>
            <a:srgbClr val="E4E4EE"/>
          </a:solidFill>
          <a:ln w="9525">
            <a:solidFill>
              <a:srgbClr val="C9CBD6"/>
            </a:solidFill>
          </a:ln>
        </p:spPr>
        <p:txBody>
          <a:bodyPr wrap="square" lIns="25400" tIns="50800" rIns="25400" bIns="50800" anchor="ctr">
            <a:noAutofit/>
          </a:bodyPr>
          <a:lstStyle/>
          <a:p>
            <a:pPr algn="ctr">
              <a:lnSpc>
                <a:spcPct val="96000"/>
              </a:lnSpc>
              <a:buNone/>
            </a:pPr>
            <a:r>
              <a:rPr lang="en-US" sz="1300" b="1" dirty="0">
                <a:solidFill>
                  <a:srgbClr val="1B1B27"/>
                </a:solidFill>
                <a:latin typeface="Raleway"/>
              </a:rPr>
              <a:t>Observation</a:t>
            </a:r>
          </a:p>
        </p:txBody>
      </p:sp>
      <p:sp>
        <p:nvSpPr>
          <p:cNvPr id="28" name="Conn 28"/>
          <p:cNvSpPr/>
          <p:nvPr/>
        </p:nvSpPr>
        <p:spPr>
          <a:xfrm>
            <a:off x="11176000" y="2336800"/>
            <a:ext cx="0" cy="279400"/>
          </a:xfrm>
          <a:prstGeom prst="line">
            <a:avLst/>
          </a:prstGeom>
          <a:ln w="9525">
            <a:solidFill>
              <a:srgbClr val="6E6E80"/>
            </a:solidFill>
          </a:ln>
        </p:spPr>
        <p:txBody>
          <a:bodyPr/>
          <a:lstStyle/>
          <a:p>
            <a:endParaRPr lang="en-US"/>
          </a:p>
        </p:txBody>
      </p:sp>
      <p:sp>
        <p:nvSpPr>
          <p:cNvPr id="29" name="Conn 29"/>
          <p:cNvSpPr/>
          <p:nvPr/>
        </p:nvSpPr>
        <p:spPr>
          <a:xfrm flipH="1">
            <a:off x="1117600" y="2616200"/>
            <a:ext cx="10058400" cy="0"/>
          </a:xfrm>
          <a:prstGeom prst="line">
            <a:avLst/>
          </a:prstGeom>
          <a:ln w="9525">
            <a:solidFill>
              <a:srgbClr val="6E6E80"/>
            </a:solidFill>
          </a:ln>
        </p:spPr>
        <p:txBody>
          <a:bodyPr/>
          <a:lstStyle/>
          <a:p>
            <a:endParaRPr lang="en-US"/>
          </a:p>
        </p:txBody>
      </p:sp>
      <p:sp>
        <p:nvSpPr>
          <p:cNvPr id="30" name="Conn 30"/>
          <p:cNvSpPr/>
          <p:nvPr/>
        </p:nvSpPr>
        <p:spPr>
          <a:xfrm flipV="1">
            <a:off x="1117600" y="2336800"/>
            <a:ext cx="0" cy="279400"/>
          </a:xfrm>
          <a:prstGeom prst="line">
            <a:avLst/>
          </a:prstGeom>
          <a:ln w="9525">
            <a:solidFill>
              <a:srgbClr val="6E6E80"/>
            </a:solidFill>
            <a:tailEnd type="triangle" w="sm" len="sm"/>
          </a:ln>
        </p:spPr>
        <p:txBody>
          <a:bodyPr/>
          <a:lstStyle/>
          <a:p>
            <a:endParaRPr lang="en-US"/>
          </a:p>
        </p:txBody>
      </p:sp>
      <p:sp>
        <p:nvSpPr>
          <p:cNvPr id="31" name="Label 31"/>
          <p:cNvSpPr txBox="1"/>
          <p:nvPr/>
        </p:nvSpPr>
        <p:spPr>
          <a:xfrm>
            <a:off x="4318000" y="2667000"/>
            <a:ext cx="3556000" cy="228600"/>
          </a:xfrm>
          <a:prstGeom prst="rect">
            <a:avLst/>
          </a:prstGeom>
          <a:noFill/>
        </p:spPr>
        <p:txBody>
          <a:bodyPr wrap="square" lIns="0" tIns="0" rIns="0" bIns="0" anchor="ctr">
            <a:noAutofit/>
          </a:bodyPr>
          <a:lstStyle/>
          <a:p>
            <a:pPr algn="ctr">
              <a:lnSpc>
                <a:spcPct val="96000"/>
              </a:lnSpc>
              <a:buNone/>
            </a:pPr>
            <a:r>
              <a:rPr lang="en-US" sz="1000" dirty="0">
                <a:solidFill>
                  <a:srgbClr val="6E6E80"/>
                </a:solidFill>
                <a:latin typeface="Roboto"/>
              </a:rPr>
              <a:t>and repeats until the picture is complete</a:t>
            </a:r>
          </a:p>
        </p:txBody>
      </p:sp>
      <p:sp>
        <p:nvSpPr>
          <p:cNvPr id="32" name="Shape 32"/>
          <p:cNvSpPr/>
          <p:nvPr/>
        </p:nvSpPr>
        <p:spPr>
          <a:xfrm>
            <a:off x="660400" y="3175000"/>
            <a:ext cx="3454400" cy="1092200"/>
          </a:xfrm>
          <a:prstGeom prst="roundRect">
            <a:avLst/>
          </a:prstGeom>
          <a:solidFill>
            <a:srgbClr val="FFFFFF"/>
          </a:solidFill>
          <a:ln w="9525">
            <a:solidFill>
              <a:srgbClr val="C9CBD6"/>
            </a:solidFill>
          </a:ln>
        </p:spPr>
        <p:txBody>
          <a:bodyPr wrap="square" lIns="139700" tIns="50800" rIns="139700" bIns="50800" anchor="t">
            <a:noAutofit/>
          </a:bodyPr>
          <a:lstStyle/>
          <a:p>
            <a:pPr algn="l">
              <a:lnSpc>
                <a:spcPct val="96000"/>
              </a:lnSpc>
              <a:buNone/>
            </a:pPr>
            <a:r>
              <a:rPr lang="en-US" sz="1200" b="1" dirty="0">
                <a:solidFill>
                  <a:srgbClr val="1B1B27"/>
                </a:solidFill>
                <a:latin typeface="Raleway"/>
              </a:rPr>
              <a:t>Reasoning</a:t>
            </a:r>
          </a:p>
          <a:p>
            <a:pPr algn="l">
              <a:lnSpc>
                <a:spcPct val="96000"/>
              </a:lnSpc>
              <a:spcBef>
                <a:spcPts val="300"/>
              </a:spcBef>
              <a:buNone/>
            </a:pPr>
            <a:r>
              <a:rPr lang="en-US" sz="1100" dirty="0">
                <a:solidFill>
                  <a:srgbClr val="3C3939"/>
                </a:solidFill>
                <a:latin typeface="Roboto"/>
              </a:rPr>
              <a:t>Decides what still needs to be known about the security.</a:t>
            </a:r>
          </a:p>
        </p:txBody>
      </p:sp>
      <p:sp>
        <p:nvSpPr>
          <p:cNvPr id="33" name="Shape 33"/>
          <p:cNvSpPr/>
          <p:nvPr/>
        </p:nvSpPr>
        <p:spPr>
          <a:xfrm>
            <a:off x="4368800" y="3175000"/>
            <a:ext cx="3454400" cy="1092200"/>
          </a:xfrm>
          <a:prstGeom prst="roundRect">
            <a:avLst/>
          </a:prstGeom>
          <a:solidFill>
            <a:srgbClr val="FFFFFF"/>
          </a:solidFill>
          <a:ln w="9525">
            <a:solidFill>
              <a:srgbClr val="C9CBD6"/>
            </a:solidFill>
          </a:ln>
        </p:spPr>
        <p:txBody>
          <a:bodyPr wrap="square" lIns="139700" tIns="50800" rIns="139700" bIns="50800" anchor="t">
            <a:noAutofit/>
          </a:bodyPr>
          <a:lstStyle/>
          <a:p>
            <a:pPr algn="l">
              <a:lnSpc>
                <a:spcPct val="96000"/>
              </a:lnSpc>
              <a:buNone/>
            </a:pPr>
            <a:r>
              <a:rPr lang="en-US" sz="1200" b="1" dirty="0">
                <a:solidFill>
                  <a:srgbClr val="1B1B27"/>
                </a:solidFill>
                <a:latin typeface="Raleway"/>
              </a:rPr>
              <a:t>Action</a:t>
            </a:r>
          </a:p>
          <a:p>
            <a:pPr algn="l">
              <a:lnSpc>
                <a:spcPct val="96000"/>
              </a:lnSpc>
              <a:spcBef>
                <a:spcPts val="300"/>
              </a:spcBef>
              <a:buNone/>
            </a:pPr>
            <a:r>
              <a:rPr lang="en-US" sz="1100" dirty="0">
                <a:solidFill>
                  <a:srgbClr val="3C3939"/>
                </a:solidFill>
                <a:latin typeface="Roboto"/>
              </a:rPr>
              <a:t>Calls the tool or data source that can answer it.</a:t>
            </a:r>
          </a:p>
        </p:txBody>
      </p:sp>
      <p:sp>
        <p:nvSpPr>
          <p:cNvPr id="34" name="Shape 34"/>
          <p:cNvSpPr/>
          <p:nvPr/>
        </p:nvSpPr>
        <p:spPr>
          <a:xfrm>
            <a:off x="8077200" y="3175000"/>
            <a:ext cx="3454400" cy="1092200"/>
          </a:xfrm>
          <a:prstGeom prst="roundRect">
            <a:avLst/>
          </a:prstGeom>
          <a:solidFill>
            <a:srgbClr val="FFFFFF"/>
          </a:solidFill>
          <a:ln w="9525">
            <a:solidFill>
              <a:srgbClr val="C9CBD6"/>
            </a:solidFill>
          </a:ln>
        </p:spPr>
        <p:txBody>
          <a:bodyPr wrap="square" lIns="139700" tIns="50800" rIns="139700" bIns="50800" anchor="t">
            <a:noAutofit/>
          </a:bodyPr>
          <a:lstStyle/>
          <a:p>
            <a:pPr algn="l">
              <a:lnSpc>
                <a:spcPct val="96000"/>
              </a:lnSpc>
              <a:buNone/>
            </a:pPr>
            <a:r>
              <a:rPr lang="en-US" sz="1200" b="1" dirty="0">
                <a:solidFill>
                  <a:srgbClr val="1B1B27"/>
                </a:solidFill>
                <a:latin typeface="Raleway"/>
              </a:rPr>
              <a:t>Observation</a:t>
            </a:r>
          </a:p>
          <a:p>
            <a:pPr algn="l">
              <a:lnSpc>
                <a:spcPct val="96000"/>
              </a:lnSpc>
              <a:spcBef>
                <a:spcPts val="300"/>
              </a:spcBef>
              <a:buNone/>
            </a:pPr>
            <a:r>
              <a:rPr lang="en-US" sz="1100" dirty="0">
                <a:solidFill>
                  <a:srgbClr val="3C3939"/>
                </a:solidFill>
                <a:latin typeface="Roboto"/>
              </a:rPr>
              <a:t>Returns a result — which becomes the next question, not the answer.</a:t>
            </a:r>
          </a:p>
        </p:txBody>
      </p:sp>
      <p:sp>
        <p:nvSpPr>
          <p:cNvPr id="35" name="Shape 35"/>
          <p:cNvSpPr/>
          <p:nvPr/>
        </p:nvSpPr>
        <p:spPr>
          <a:xfrm>
            <a:off x="660400" y="4521200"/>
            <a:ext cx="10871200" cy="1371600"/>
          </a:xfrm>
          <a:prstGeom prst="roundRect">
            <a:avLst/>
          </a:prstGeom>
          <a:solidFill>
            <a:srgbClr val="F1F1F6"/>
          </a:solidFill>
          <a:ln w="9525">
            <a:solidFill>
              <a:srgbClr val="C9CBD6"/>
            </a:solidFill>
          </a:ln>
        </p:spPr>
        <p:txBody>
          <a:bodyPr wrap="square" lIns="139700" tIns="50800" rIns="139700" bIns="50800" anchor="ctr">
            <a:noAutofit/>
          </a:bodyPr>
          <a:lstStyle/>
          <a:p>
            <a:pPr algn="l">
              <a:lnSpc>
                <a:spcPct val="96000"/>
              </a:lnSpc>
              <a:buNone/>
            </a:pPr>
            <a:r>
              <a:rPr lang="en-US" sz="1500" b="1" dirty="0">
                <a:solidFill>
                  <a:srgbClr val="1B1B27"/>
                </a:solidFill>
                <a:latin typeface="Raleway"/>
              </a:rPr>
              <a:t>Observations are not terminal results.</a:t>
            </a:r>
          </a:p>
          <a:p>
            <a:pPr algn="l">
              <a:lnSpc>
                <a:spcPct val="96000"/>
              </a:lnSpc>
              <a:spcBef>
                <a:spcPts val="350"/>
              </a:spcBef>
              <a:buNone/>
            </a:pPr>
            <a:r>
              <a:rPr lang="en-US" sz="1250" dirty="0">
                <a:solidFill>
                  <a:srgbClr val="3C3939"/>
                </a:solidFill>
                <a:latin typeface="Roboto"/>
              </a:rPr>
              <a:t>Each observation becomes the input to the next reasoning step, so the analysis adapts to what it has just discovered rather than following a fixed script. That is how the loop builds from raw market events to an explanation an advisor can act on.</a:t>
            </a:r>
          </a:p>
        </p:txBody>
      </p:sp>
    </p:spTree>
    <p:extLst>
      <p:ext uri="{BB962C8B-B14F-4D97-AF65-F5344CB8AC3E}">
        <p14:creationId xmlns:p14="http://schemas.microsoft.com/office/powerpoint/2010/main" val="4197596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Label 20"/>
          <p:cNvSpPr txBox="1"/>
          <p:nvPr/>
        </p:nvSpPr>
        <p:spPr>
          <a:xfrm>
            <a:off x="660400" y="520700"/>
            <a:ext cx="10871200" cy="330200"/>
          </a:xfrm>
          <a:prstGeom prst="rect">
            <a:avLst/>
          </a:prstGeom>
          <a:noFill/>
        </p:spPr>
        <p:txBody>
          <a:bodyPr wrap="square" lIns="25400" tIns="0" rIns="25400" bIns="0" anchor="ctr">
            <a:noAutofit/>
          </a:bodyPr>
          <a:lstStyle/>
          <a:p>
            <a:pPr algn="l">
              <a:lnSpc>
                <a:spcPct val="96000"/>
              </a:lnSpc>
              <a:buNone/>
            </a:pPr>
            <a:r>
              <a:rPr lang="en-US" sz="1900" b="1" dirty="0">
                <a:solidFill>
                  <a:srgbClr val="1B1B27"/>
                </a:solidFill>
                <a:latin typeface="Raleway"/>
              </a:rPr>
              <a:t>ReAct Loop: One Ticker, Five Passes</a:t>
            </a:r>
          </a:p>
        </p:txBody>
      </p:sp>
      <p:sp>
        <p:nvSpPr>
          <p:cNvPr id="21" name="Label 21"/>
          <p:cNvSpPr txBox="1"/>
          <p:nvPr/>
        </p:nvSpPr>
        <p:spPr>
          <a:xfrm>
            <a:off x="660400" y="914400"/>
            <a:ext cx="10871200" cy="228600"/>
          </a:xfrm>
          <a:prstGeom prst="rect">
            <a:avLst/>
          </a:prstGeom>
          <a:noFill/>
        </p:spPr>
        <p:txBody>
          <a:bodyPr wrap="square" lIns="25400" tIns="0" rIns="25400" bIns="0" anchor="ctr">
            <a:noAutofit/>
          </a:bodyPr>
          <a:lstStyle/>
          <a:p>
            <a:pPr algn="l">
              <a:lnSpc>
                <a:spcPct val="96000"/>
              </a:lnSpc>
              <a:buNone/>
            </a:pPr>
            <a:r>
              <a:rPr lang="en-US" sz="1100" dirty="0">
                <a:solidFill>
                  <a:srgbClr val="4A4A56"/>
                </a:solidFill>
                <a:latin typeface="Roboto"/>
              </a:rPr>
              <a:t>Runs for each ticker in the client profile.</a:t>
            </a:r>
          </a:p>
        </p:txBody>
      </p:sp>
      <p:sp>
        <p:nvSpPr>
          <p:cNvPr id="22" name="Card 22"/>
          <p:cNvSpPr/>
          <p:nvPr/>
        </p:nvSpPr>
        <p:spPr>
          <a:xfrm>
            <a:off x="660400" y="1219200"/>
            <a:ext cx="2032000" cy="3048000"/>
          </a:xfrm>
          <a:prstGeom prst="roundRect">
            <a:avLst>
              <a:gd name="adj" fmla="val 5000"/>
            </a:avLst>
          </a:prstGeom>
          <a:solidFill>
            <a:srgbClr val="FFFFFF"/>
          </a:solidFill>
          <a:ln w="9525">
            <a:solidFill>
              <a:srgbClr val="C9CBD6"/>
            </a:solidFill>
          </a:ln>
        </p:spPr>
        <p:txBody>
          <a:bodyPr wrap="square" lIns="114300" tIns="101600" rIns="114300" bIns="101600" anchor="t">
            <a:noAutofit/>
          </a:bodyPr>
          <a:lstStyle/>
          <a:p>
            <a:pPr algn="l">
              <a:lnSpc>
                <a:spcPct val="96000"/>
              </a:lnSpc>
              <a:buNone/>
            </a:pPr>
            <a:r>
              <a:rPr lang="en-US" sz="1150" b="1" dirty="0">
                <a:solidFill>
                  <a:srgbClr val="1B1B27"/>
                </a:solidFill>
                <a:latin typeface="Raleway"/>
              </a:rPr>
              <a:t>1 · Corporate actions</a:t>
            </a:r>
          </a:p>
          <a:p>
            <a:pPr algn="l">
              <a:lnSpc>
                <a:spcPct val="96000"/>
              </a:lnSpc>
              <a:spcBef>
                <a:spcPts val="320"/>
              </a:spcBef>
              <a:buNone/>
            </a:pPr>
            <a:r>
              <a:rPr lang="en-US" sz="1050" b="1" dirty="0">
                <a:solidFill>
                  <a:srgbClr val="6E6E80"/>
                </a:solidFill>
                <a:latin typeface="Roboto"/>
              </a:rPr>
              <a:t>Thought</a:t>
            </a:r>
          </a:p>
          <a:p>
            <a:pPr algn="l">
              <a:lnSpc>
                <a:spcPct val="96000"/>
              </a:lnSpc>
              <a:spcBef>
                <a:spcPts val="60"/>
              </a:spcBef>
              <a:buNone/>
            </a:pPr>
            <a:r>
              <a:rPr lang="en-US" sz="1100" dirty="0">
                <a:solidFill>
                  <a:srgbClr val="3C3939"/>
                </a:solidFill>
                <a:latin typeface="Roboto"/>
              </a:rPr>
              <a:t>Does an announcement exist? Dividend amount, split info, rating change?</a:t>
            </a:r>
          </a:p>
          <a:p>
            <a:pPr algn="l">
              <a:lnSpc>
                <a:spcPct val="96000"/>
              </a:lnSpc>
              <a:spcBef>
                <a:spcPts val="320"/>
              </a:spcBef>
              <a:buNone/>
            </a:pPr>
            <a:r>
              <a:rPr lang="en-US" sz="1050" b="1" dirty="0">
                <a:solidFill>
                  <a:srgbClr val="6E6E80"/>
                </a:solidFill>
                <a:latin typeface="Roboto"/>
              </a:rPr>
              <a:t>Action</a:t>
            </a:r>
          </a:p>
          <a:p>
            <a:pPr algn="l">
              <a:lnSpc>
                <a:spcPct val="96000"/>
              </a:lnSpc>
              <a:spcBef>
                <a:spcPts val="60"/>
              </a:spcBef>
              <a:buNone/>
            </a:pPr>
            <a:r>
              <a:rPr lang="en-US" sz="1100" dirty="0">
                <a:solidFill>
                  <a:srgbClr val="3C3939"/>
                </a:solidFill>
                <a:latin typeface="Roboto"/>
              </a:rPr>
              <a:t>Fetch corporate action record, analyst rating history, and price snapshots at announcement time.</a:t>
            </a:r>
          </a:p>
          <a:p>
            <a:pPr algn="l">
              <a:lnSpc>
                <a:spcPct val="96000"/>
              </a:lnSpc>
              <a:spcBef>
                <a:spcPts val="320"/>
              </a:spcBef>
              <a:buNone/>
            </a:pPr>
            <a:r>
              <a:rPr lang="en-US" sz="1050" b="1" dirty="0">
                <a:solidFill>
                  <a:srgbClr val="6E6E80"/>
                </a:solidFill>
                <a:latin typeface="Roboto"/>
              </a:rPr>
              <a:t>Observation</a:t>
            </a:r>
          </a:p>
          <a:p>
            <a:pPr algn="l">
              <a:lnSpc>
                <a:spcPct val="96000"/>
              </a:lnSpc>
              <a:spcBef>
                <a:spcPts val="60"/>
              </a:spcBef>
              <a:buNone/>
            </a:pPr>
            <a:r>
              <a:rPr lang="en-US" sz="1100" dirty="0">
                <a:solidFill>
                  <a:srgbClr val="3C3939"/>
                </a:solidFill>
                <a:latin typeface="Roboto"/>
              </a:rPr>
              <a:t>Dividend $0.xx announced; no split; ratings unchanged; price stable.</a:t>
            </a:r>
          </a:p>
        </p:txBody>
      </p:sp>
      <p:sp>
        <p:nvSpPr>
          <p:cNvPr id="23" name="Card 23"/>
          <p:cNvSpPr/>
          <p:nvPr/>
        </p:nvSpPr>
        <p:spPr>
          <a:xfrm>
            <a:off x="2870200" y="1219200"/>
            <a:ext cx="2032000" cy="3048000"/>
          </a:xfrm>
          <a:prstGeom prst="roundRect">
            <a:avLst>
              <a:gd name="adj" fmla="val 5000"/>
            </a:avLst>
          </a:prstGeom>
          <a:solidFill>
            <a:srgbClr val="FFFFFF"/>
          </a:solidFill>
          <a:ln w="9525">
            <a:solidFill>
              <a:srgbClr val="C9CBD6"/>
            </a:solidFill>
          </a:ln>
        </p:spPr>
        <p:txBody>
          <a:bodyPr wrap="square" lIns="114300" tIns="101600" rIns="114300" bIns="101600" anchor="t">
            <a:noAutofit/>
          </a:bodyPr>
          <a:lstStyle/>
          <a:p>
            <a:pPr algn="l">
              <a:lnSpc>
                <a:spcPct val="96000"/>
              </a:lnSpc>
              <a:buNone/>
            </a:pPr>
            <a:r>
              <a:rPr lang="en-US" sz="1150" b="1" dirty="0">
                <a:solidFill>
                  <a:srgbClr val="1B1B27"/>
                </a:solidFill>
                <a:latin typeface="Raleway"/>
              </a:rPr>
              <a:t>2 · Threshold checks</a:t>
            </a:r>
          </a:p>
          <a:p>
            <a:pPr algn="l">
              <a:lnSpc>
                <a:spcPct val="96000"/>
              </a:lnSpc>
              <a:spcBef>
                <a:spcPts val="320"/>
              </a:spcBef>
              <a:buNone/>
            </a:pPr>
            <a:r>
              <a:rPr lang="en-US" sz="1050" b="1" dirty="0">
                <a:solidFill>
                  <a:srgbClr val="6E6E80"/>
                </a:solidFill>
                <a:latin typeface="Roboto"/>
              </a:rPr>
              <a:t>Thought</a:t>
            </a:r>
          </a:p>
          <a:p>
            <a:pPr algn="l">
              <a:lnSpc>
                <a:spcPct val="96000"/>
              </a:lnSpc>
              <a:spcBef>
                <a:spcPts val="60"/>
              </a:spcBef>
              <a:buNone/>
            </a:pPr>
            <a:r>
              <a:rPr lang="en-US" sz="1100" dirty="0">
                <a:solidFill>
                  <a:srgbClr val="3C3939"/>
                </a:solidFill>
                <a:latin typeface="Roboto"/>
              </a:rPr>
              <a:t>Check deterministic thresholds for yield and split.</a:t>
            </a:r>
          </a:p>
          <a:p>
            <a:pPr algn="l">
              <a:lnSpc>
                <a:spcPct val="96000"/>
              </a:lnSpc>
              <a:spcBef>
                <a:spcPts val="320"/>
              </a:spcBef>
              <a:buNone/>
            </a:pPr>
            <a:r>
              <a:rPr lang="en-US" sz="1050" b="1" dirty="0">
                <a:solidFill>
                  <a:srgbClr val="6E6E80"/>
                </a:solidFill>
                <a:latin typeface="Roboto"/>
              </a:rPr>
              <a:t>Action</a:t>
            </a:r>
          </a:p>
          <a:p>
            <a:pPr algn="l">
              <a:lnSpc>
                <a:spcPct val="96000"/>
              </a:lnSpc>
              <a:spcBef>
                <a:spcPts val="60"/>
              </a:spcBef>
              <a:buNone/>
            </a:pPr>
            <a:r>
              <a:rPr lang="en-US" sz="1100" dirty="0">
                <a:solidFill>
                  <a:srgbClr val="3C3939"/>
                </a:solidFill>
                <a:latin typeface="Roboto"/>
              </a:rPr>
              <a:t>Compute dividend yield and compare it to historical payouts.</a:t>
            </a:r>
          </a:p>
          <a:p>
            <a:pPr algn="l">
              <a:lnSpc>
                <a:spcPct val="96000"/>
              </a:lnSpc>
              <a:spcBef>
                <a:spcPts val="320"/>
              </a:spcBef>
              <a:buNone/>
            </a:pPr>
            <a:r>
              <a:rPr lang="en-US" sz="1050" b="1" dirty="0">
                <a:solidFill>
                  <a:srgbClr val="6E6E80"/>
                </a:solidFill>
                <a:latin typeface="Roboto"/>
              </a:rPr>
              <a:t>Observation</a:t>
            </a:r>
          </a:p>
          <a:p>
            <a:pPr algn="l">
              <a:lnSpc>
                <a:spcPct val="96000"/>
              </a:lnSpc>
              <a:spcBef>
                <a:spcPts val="60"/>
              </a:spcBef>
              <a:buNone/>
            </a:pPr>
            <a:r>
              <a:rPr lang="en-US" sz="1100" dirty="0">
                <a:solidFill>
                  <a:srgbClr val="3C3939"/>
                </a:solidFill>
                <a:latin typeface="Roboto"/>
              </a:rPr>
              <a:t>Yield 0.x%, in line with history; no volume spike.</a:t>
            </a:r>
          </a:p>
        </p:txBody>
      </p:sp>
      <p:sp>
        <p:nvSpPr>
          <p:cNvPr id="24" name="Card 24"/>
          <p:cNvSpPr/>
          <p:nvPr/>
        </p:nvSpPr>
        <p:spPr>
          <a:xfrm>
            <a:off x="5080000" y="1219200"/>
            <a:ext cx="2032000" cy="3048000"/>
          </a:xfrm>
          <a:prstGeom prst="roundRect">
            <a:avLst>
              <a:gd name="adj" fmla="val 5000"/>
            </a:avLst>
          </a:prstGeom>
          <a:solidFill>
            <a:srgbClr val="FFFFFF"/>
          </a:solidFill>
          <a:ln w="9525">
            <a:solidFill>
              <a:srgbClr val="C9CBD6"/>
            </a:solidFill>
          </a:ln>
        </p:spPr>
        <p:txBody>
          <a:bodyPr wrap="square" lIns="114300" tIns="101600" rIns="114300" bIns="101600" anchor="t">
            <a:noAutofit/>
          </a:bodyPr>
          <a:lstStyle/>
          <a:p>
            <a:pPr algn="l">
              <a:lnSpc>
                <a:spcPct val="96000"/>
              </a:lnSpc>
              <a:buNone/>
            </a:pPr>
            <a:r>
              <a:rPr lang="en-US" sz="1150" b="1" dirty="0">
                <a:solidFill>
                  <a:srgbClr val="1B1B27"/>
                </a:solidFill>
                <a:latin typeface="Raleway"/>
              </a:rPr>
              <a:t>3 · Management commentary</a:t>
            </a:r>
          </a:p>
          <a:p>
            <a:pPr algn="l">
              <a:lnSpc>
                <a:spcPct val="96000"/>
              </a:lnSpc>
              <a:spcBef>
                <a:spcPts val="320"/>
              </a:spcBef>
              <a:buNone/>
            </a:pPr>
            <a:r>
              <a:rPr lang="en-US" sz="1050" b="1" dirty="0">
                <a:solidFill>
                  <a:srgbClr val="6E6E80"/>
                </a:solidFill>
                <a:latin typeface="Roboto"/>
              </a:rPr>
              <a:t>Thought</a:t>
            </a:r>
          </a:p>
          <a:p>
            <a:pPr algn="l">
              <a:lnSpc>
                <a:spcPct val="96000"/>
              </a:lnSpc>
              <a:spcBef>
                <a:spcPts val="60"/>
              </a:spcBef>
              <a:buNone/>
            </a:pPr>
            <a:r>
              <a:rPr lang="en-US" sz="1100" dirty="0">
                <a:solidFill>
                  <a:srgbClr val="3C3939"/>
                </a:solidFill>
                <a:latin typeface="Roboto"/>
              </a:rPr>
              <a:t>Check for management commentary.</a:t>
            </a:r>
          </a:p>
          <a:p>
            <a:pPr algn="l">
              <a:lnSpc>
                <a:spcPct val="96000"/>
              </a:lnSpc>
              <a:spcBef>
                <a:spcPts val="320"/>
              </a:spcBef>
              <a:buNone/>
            </a:pPr>
            <a:r>
              <a:rPr lang="en-US" sz="1050" b="1" dirty="0">
                <a:solidFill>
                  <a:srgbClr val="6E6E80"/>
                </a:solidFill>
                <a:latin typeface="Roboto"/>
              </a:rPr>
              <a:t>Action</a:t>
            </a:r>
          </a:p>
          <a:p>
            <a:pPr algn="l">
              <a:lnSpc>
                <a:spcPct val="96000"/>
              </a:lnSpc>
              <a:spcBef>
                <a:spcPts val="60"/>
              </a:spcBef>
              <a:buNone/>
            </a:pPr>
            <a:r>
              <a:rPr lang="en-US" sz="1100" dirty="0">
                <a:solidFill>
                  <a:srgbClr val="3C3939"/>
                </a:solidFill>
                <a:latin typeface="Roboto"/>
              </a:rPr>
              <a:t>LLM summarizer ingests announcement text and historical context.</a:t>
            </a:r>
          </a:p>
          <a:p>
            <a:pPr algn="l">
              <a:lnSpc>
                <a:spcPct val="96000"/>
              </a:lnSpc>
              <a:spcBef>
                <a:spcPts val="320"/>
              </a:spcBef>
              <a:buNone/>
            </a:pPr>
            <a:r>
              <a:rPr lang="en-US" sz="1050" b="1" dirty="0">
                <a:solidFill>
                  <a:srgbClr val="6E6E80"/>
                </a:solidFill>
                <a:latin typeface="Roboto"/>
              </a:rPr>
              <a:t>Observation</a:t>
            </a:r>
          </a:p>
          <a:p>
            <a:pPr algn="l">
              <a:lnSpc>
                <a:spcPct val="96000"/>
              </a:lnSpc>
              <a:spcBef>
                <a:spcPts val="60"/>
              </a:spcBef>
              <a:buNone/>
            </a:pPr>
            <a:r>
              <a:rPr lang="en-US" sz="1100" dirty="0">
                <a:solidFill>
                  <a:srgbClr val="3C3939"/>
                </a:solidFill>
                <a:latin typeface="Roboto"/>
              </a:rPr>
              <a:t>Quarterly dividends are consistent with prior periods.</a:t>
            </a:r>
          </a:p>
        </p:txBody>
      </p:sp>
      <p:sp>
        <p:nvSpPr>
          <p:cNvPr id="25" name="Card 25"/>
          <p:cNvSpPr/>
          <p:nvPr/>
        </p:nvSpPr>
        <p:spPr>
          <a:xfrm>
            <a:off x="7289800" y="1219200"/>
            <a:ext cx="2032000" cy="3048000"/>
          </a:xfrm>
          <a:prstGeom prst="roundRect">
            <a:avLst>
              <a:gd name="adj" fmla="val 5000"/>
            </a:avLst>
          </a:prstGeom>
          <a:solidFill>
            <a:srgbClr val="FFFFFF"/>
          </a:solidFill>
          <a:ln w="9525">
            <a:solidFill>
              <a:srgbClr val="C9CBD6"/>
            </a:solidFill>
          </a:ln>
        </p:spPr>
        <p:txBody>
          <a:bodyPr wrap="square" lIns="114300" tIns="101600" rIns="114300" bIns="101600" anchor="t">
            <a:noAutofit/>
          </a:bodyPr>
          <a:lstStyle/>
          <a:p>
            <a:pPr algn="l">
              <a:lnSpc>
                <a:spcPct val="96000"/>
              </a:lnSpc>
              <a:buNone/>
            </a:pPr>
            <a:r>
              <a:rPr lang="en-US" sz="1150" b="1" dirty="0">
                <a:solidFill>
                  <a:srgbClr val="1B1B27"/>
                </a:solidFill>
                <a:latin typeface="Raleway"/>
              </a:rPr>
              <a:t>4 · Impact score</a:t>
            </a:r>
          </a:p>
          <a:p>
            <a:pPr algn="l">
              <a:lnSpc>
                <a:spcPct val="96000"/>
              </a:lnSpc>
              <a:spcBef>
                <a:spcPts val="320"/>
              </a:spcBef>
              <a:buNone/>
            </a:pPr>
            <a:r>
              <a:rPr lang="en-US" sz="1050" b="1" dirty="0">
                <a:solidFill>
                  <a:srgbClr val="6E6E80"/>
                </a:solidFill>
                <a:latin typeface="Roboto"/>
              </a:rPr>
              <a:t>Thought</a:t>
            </a:r>
          </a:p>
          <a:p>
            <a:pPr algn="l">
              <a:lnSpc>
                <a:spcPct val="96000"/>
              </a:lnSpc>
              <a:spcBef>
                <a:spcPts val="60"/>
              </a:spcBef>
              <a:buNone/>
            </a:pPr>
            <a:r>
              <a:rPr lang="en-US" sz="1100" dirty="0">
                <a:solidFill>
                  <a:srgbClr val="3C3939"/>
                </a:solidFill>
                <a:latin typeface="Roboto"/>
              </a:rPr>
              <a:t>Likely impact low, confidence moderate to high.</a:t>
            </a:r>
          </a:p>
          <a:p>
            <a:pPr algn="l">
              <a:lnSpc>
                <a:spcPct val="96000"/>
              </a:lnSpc>
              <a:spcBef>
                <a:spcPts val="320"/>
              </a:spcBef>
              <a:buNone/>
            </a:pPr>
            <a:r>
              <a:rPr lang="en-US" sz="1050" b="1" dirty="0">
                <a:solidFill>
                  <a:srgbClr val="6E6E80"/>
                </a:solidFill>
                <a:latin typeface="Roboto"/>
              </a:rPr>
              <a:t>Action</a:t>
            </a:r>
          </a:p>
          <a:p>
            <a:pPr algn="l">
              <a:lnSpc>
                <a:spcPct val="96000"/>
              </a:lnSpc>
              <a:spcBef>
                <a:spcPts val="60"/>
              </a:spcBef>
              <a:buNone/>
            </a:pPr>
            <a:r>
              <a:rPr lang="en-US" sz="1100" dirty="0">
                <a:solidFill>
                  <a:srgbClr val="3C3939"/>
                </a:solidFill>
                <a:latin typeface="Roboto"/>
              </a:rPr>
              <a:t>Score to low impact and create the alert.</a:t>
            </a:r>
          </a:p>
          <a:p>
            <a:pPr algn="l">
              <a:lnSpc>
                <a:spcPct val="96000"/>
              </a:lnSpc>
              <a:spcBef>
                <a:spcPts val="320"/>
              </a:spcBef>
              <a:buNone/>
            </a:pPr>
            <a:r>
              <a:rPr lang="en-US" sz="1050" b="1" dirty="0">
                <a:solidFill>
                  <a:srgbClr val="6E6E80"/>
                </a:solidFill>
                <a:latin typeface="Roboto"/>
              </a:rPr>
              <a:t>Observation</a:t>
            </a:r>
          </a:p>
          <a:p>
            <a:pPr algn="l">
              <a:lnSpc>
                <a:spcPct val="96000"/>
              </a:lnSpc>
              <a:spcBef>
                <a:spcPts val="60"/>
              </a:spcBef>
              <a:buNone/>
            </a:pPr>
            <a:r>
              <a:rPr lang="en-US" sz="1100" dirty="0">
                <a:solidFill>
                  <a:srgbClr val="3C3939"/>
                </a:solidFill>
                <a:latin typeface="Roboto"/>
              </a:rPr>
              <a:t>Alert created and delivered.</a:t>
            </a:r>
          </a:p>
        </p:txBody>
      </p:sp>
      <p:sp>
        <p:nvSpPr>
          <p:cNvPr id="26" name="Card 26"/>
          <p:cNvSpPr/>
          <p:nvPr/>
        </p:nvSpPr>
        <p:spPr>
          <a:xfrm>
            <a:off x="9499600" y="1219200"/>
            <a:ext cx="2032000" cy="3048000"/>
          </a:xfrm>
          <a:prstGeom prst="roundRect">
            <a:avLst>
              <a:gd name="adj" fmla="val 5000"/>
            </a:avLst>
          </a:prstGeom>
          <a:solidFill>
            <a:srgbClr val="FFFFFF"/>
          </a:solidFill>
          <a:ln w="9525">
            <a:solidFill>
              <a:srgbClr val="C9CBD6"/>
            </a:solidFill>
          </a:ln>
        </p:spPr>
        <p:txBody>
          <a:bodyPr wrap="square" lIns="114300" tIns="101600" rIns="114300" bIns="101600" anchor="t">
            <a:noAutofit/>
          </a:bodyPr>
          <a:lstStyle/>
          <a:p>
            <a:pPr algn="l">
              <a:lnSpc>
                <a:spcPct val="96000"/>
              </a:lnSpc>
              <a:buNone/>
            </a:pPr>
            <a:r>
              <a:rPr lang="en-US" sz="1150" b="1" dirty="0">
                <a:solidFill>
                  <a:srgbClr val="1B1B27"/>
                </a:solidFill>
                <a:latin typeface="Raleway"/>
              </a:rPr>
              <a:t>5 · Validation</a:t>
            </a:r>
          </a:p>
          <a:p>
            <a:pPr algn="l">
              <a:lnSpc>
                <a:spcPct val="96000"/>
              </a:lnSpc>
              <a:spcBef>
                <a:spcPts val="320"/>
              </a:spcBef>
              <a:buNone/>
            </a:pPr>
            <a:r>
              <a:rPr lang="en-US" sz="1050" b="1" dirty="0">
                <a:solidFill>
                  <a:srgbClr val="6E6E80"/>
                </a:solidFill>
                <a:latin typeface="Roboto"/>
              </a:rPr>
              <a:t>Thought</a:t>
            </a:r>
          </a:p>
          <a:p>
            <a:pPr algn="l">
              <a:lnSpc>
                <a:spcPct val="96000"/>
              </a:lnSpc>
              <a:spcBef>
                <a:spcPts val="60"/>
              </a:spcBef>
              <a:buNone/>
            </a:pPr>
            <a:r>
              <a:rPr lang="en-US" sz="1100" dirty="0">
                <a:solidFill>
                  <a:srgbClr val="3C3939"/>
                </a:solidFill>
                <a:latin typeface="Roboto"/>
              </a:rPr>
              <a:t>Monitor ex-post returns and capture advisor feedback to validate the decision.</a:t>
            </a:r>
          </a:p>
          <a:p>
            <a:pPr algn="l">
              <a:lnSpc>
                <a:spcPct val="96000"/>
              </a:lnSpc>
              <a:spcBef>
                <a:spcPts val="320"/>
              </a:spcBef>
              <a:buNone/>
            </a:pPr>
            <a:r>
              <a:rPr lang="en-US" sz="1050" b="1" dirty="0">
                <a:solidFill>
                  <a:srgbClr val="6E6E80"/>
                </a:solidFill>
                <a:latin typeface="Roboto"/>
              </a:rPr>
              <a:t>Action</a:t>
            </a:r>
          </a:p>
          <a:p>
            <a:pPr algn="l">
              <a:lnSpc>
                <a:spcPct val="96000"/>
              </a:lnSpc>
              <a:spcBef>
                <a:spcPts val="60"/>
              </a:spcBef>
              <a:buNone/>
            </a:pPr>
            <a:r>
              <a:rPr lang="en-US" sz="1100" dirty="0">
                <a:solidFill>
                  <a:srgbClr val="3C3939"/>
                </a:solidFill>
                <a:latin typeface="Roboto"/>
              </a:rPr>
              <a:t>Get advisor feedback.</a:t>
            </a:r>
          </a:p>
        </p:txBody>
      </p:sp>
      <p:sp>
        <p:nvSpPr>
          <p:cNvPr id="27" name="Conn 27"/>
          <p:cNvSpPr/>
          <p:nvPr/>
        </p:nvSpPr>
        <p:spPr>
          <a:xfrm>
            <a:off x="10515600" y="4267200"/>
            <a:ext cx="0" cy="457200"/>
          </a:xfrm>
          <a:prstGeom prst="line">
            <a:avLst/>
          </a:prstGeom>
          <a:ln w="9525">
            <a:solidFill>
              <a:srgbClr val="6E6E80"/>
            </a:solidFill>
          </a:ln>
        </p:spPr>
        <p:txBody>
          <a:bodyPr/>
          <a:lstStyle/>
          <a:p>
            <a:endParaRPr lang="en-US"/>
          </a:p>
        </p:txBody>
      </p:sp>
      <p:sp>
        <p:nvSpPr>
          <p:cNvPr id="28" name="Conn 28"/>
          <p:cNvSpPr/>
          <p:nvPr/>
        </p:nvSpPr>
        <p:spPr>
          <a:xfrm flipH="1">
            <a:off x="1676400" y="4724400"/>
            <a:ext cx="8839200" cy="0"/>
          </a:xfrm>
          <a:prstGeom prst="line">
            <a:avLst/>
          </a:prstGeom>
          <a:ln w="9525">
            <a:solidFill>
              <a:srgbClr val="6E6E80"/>
            </a:solidFill>
          </a:ln>
        </p:spPr>
        <p:txBody>
          <a:bodyPr/>
          <a:lstStyle/>
          <a:p>
            <a:endParaRPr lang="en-US"/>
          </a:p>
        </p:txBody>
      </p:sp>
      <p:sp>
        <p:nvSpPr>
          <p:cNvPr id="29" name="Conn 29"/>
          <p:cNvSpPr/>
          <p:nvPr/>
        </p:nvSpPr>
        <p:spPr>
          <a:xfrm flipV="1">
            <a:off x="1676400" y="4267200"/>
            <a:ext cx="0" cy="457200"/>
          </a:xfrm>
          <a:prstGeom prst="line">
            <a:avLst/>
          </a:prstGeom>
          <a:ln w="9525">
            <a:solidFill>
              <a:srgbClr val="6E6E80"/>
            </a:solidFill>
            <a:tailEnd type="triangle" w="sm" len="sm"/>
          </a:ln>
        </p:spPr>
        <p:txBody>
          <a:bodyPr/>
          <a:lstStyle/>
          <a:p>
            <a:endParaRPr lang="en-US"/>
          </a:p>
        </p:txBody>
      </p:sp>
      <p:sp>
        <p:nvSpPr>
          <p:cNvPr id="30" name="Label 30"/>
          <p:cNvSpPr txBox="1"/>
          <p:nvPr/>
        </p:nvSpPr>
        <p:spPr>
          <a:xfrm>
            <a:off x="4445000" y="4445000"/>
            <a:ext cx="3302000" cy="203200"/>
          </a:xfrm>
          <a:prstGeom prst="rect">
            <a:avLst/>
          </a:prstGeom>
          <a:noFill/>
        </p:spPr>
        <p:txBody>
          <a:bodyPr wrap="square" lIns="25400" tIns="0" rIns="25400" bIns="0" anchor="ctr">
            <a:noAutofit/>
          </a:bodyPr>
          <a:lstStyle/>
          <a:p>
            <a:pPr algn="ctr">
              <a:lnSpc>
                <a:spcPct val="96000"/>
              </a:lnSpc>
              <a:buNone/>
            </a:pPr>
            <a:r>
              <a:rPr lang="en-US" sz="1000" dirty="0">
                <a:solidFill>
                  <a:srgbClr val="6E6E80"/>
                </a:solidFill>
                <a:latin typeface="Roboto"/>
              </a:rPr>
              <a:t>loop repeats until impact can be scored</a:t>
            </a:r>
          </a:p>
        </p:txBody>
      </p:sp>
      <p:sp>
        <p:nvSpPr>
          <p:cNvPr id="31" name="Card 31"/>
          <p:cNvSpPr/>
          <p:nvPr/>
        </p:nvSpPr>
        <p:spPr>
          <a:xfrm>
            <a:off x="660400" y="5080000"/>
            <a:ext cx="10871200" cy="812800"/>
          </a:xfrm>
          <a:prstGeom prst="roundRect">
            <a:avLst>
              <a:gd name="adj" fmla="val 5000"/>
            </a:avLst>
          </a:prstGeom>
          <a:solidFill>
            <a:srgbClr val="F1F1F6"/>
          </a:solidFill>
          <a:ln w="9525">
            <a:solidFill>
              <a:srgbClr val="C9CBD6"/>
            </a:solidFill>
          </a:ln>
        </p:spPr>
        <p:txBody>
          <a:bodyPr wrap="square" lIns="114300" tIns="101600" rIns="114300" bIns="101600" anchor="ctr">
            <a:noAutofit/>
          </a:bodyPr>
          <a:lstStyle/>
          <a:p>
            <a:pPr algn="l">
              <a:lnSpc>
                <a:spcPct val="96000"/>
              </a:lnSpc>
              <a:buNone/>
            </a:pPr>
            <a:r>
              <a:rPr lang="en-US" sz="1150" b="1" dirty="0">
                <a:solidFill>
                  <a:srgbClr val="1B1B27"/>
                </a:solidFill>
                <a:latin typeface="Raleway"/>
              </a:rPr>
              <a:t>Deterministic first, the LLM last</a:t>
            </a:r>
          </a:p>
          <a:p>
            <a:pPr algn="l">
              <a:lnSpc>
                <a:spcPct val="96000"/>
              </a:lnSpc>
              <a:spcBef>
                <a:spcPts val="250"/>
              </a:spcBef>
              <a:buNone/>
            </a:pPr>
            <a:r>
              <a:rPr lang="en-US" sz="1100" dirty="0">
                <a:solidFill>
                  <a:srgbClr val="3C3939"/>
                </a:solidFill>
                <a:latin typeface="Roboto"/>
              </a:rPr>
              <a:t>Passes 1 and 2 are record lookups and threshold checks. The LLM summarizer only enters at pass 3, and the score at pass 4 is what creates the alert.</a:t>
            </a:r>
          </a:p>
        </p:txBody>
      </p:sp>
    </p:spTree>
    <p:extLst>
      <p:ext uri="{BB962C8B-B14F-4D97-AF65-F5344CB8AC3E}">
        <p14:creationId xmlns:p14="http://schemas.microsoft.com/office/powerpoint/2010/main" val="651861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Label 20"/>
          <p:cNvSpPr txBox="1"/>
          <p:nvPr/>
        </p:nvSpPr>
        <p:spPr>
          <a:xfrm>
            <a:off x="660400" y="520700"/>
            <a:ext cx="10871200" cy="330200"/>
          </a:xfrm>
          <a:prstGeom prst="rect">
            <a:avLst/>
          </a:prstGeom>
          <a:noFill/>
        </p:spPr>
        <p:txBody>
          <a:bodyPr wrap="square" lIns="0" tIns="0" rIns="0" bIns="0" anchor="t">
            <a:noAutofit/>
          </a:bodyPr>
          <a:lstStyle/>
          <a:p>
            <a:pPr algn="l">
              <a:lnSpc>
                <a:spcPct val="96000"/>
              </a:lnSpc>
              <a:buNone/>
            </a:pPr>
            <a:r>
              <a:rPr lang="en-US" sz="1900" b="1" dirty="0">
                <a:solidFill>
                  <a:srgbClr val="1B1B27"/>
                </a:solidFill>
                <a:latin typeface="Raleway"/>
              </a:rPr>
              <a:t>ToT Structure: Three Branches In, One Merged Answer Out</a:t>
            </a:r>
          </a:p>
        </p:txBody>
      </p:sp>
      <p:sp>
        <p:nvSpPr>
          <p:cNvPr id="21" name="Label 21"/>
          <p:cNvSpPr txBox="1"/>
          <p:nvPr/>
        </p:nvSpPr>
        <p:spPr>
          <a:xfrm>
            <a:off x="660400" y="1320800"/>
            <a:ext cx="965200" cy="558800"/>
          </a:xfrm>
          <a:prstGeom prst="rect">
            <a:avLst/>
          </a:prstGeom>
          <a:noFill/>
        </p:spPr>
        <p:txBody>
          <a:bodyPr wrap="square" lIns="0" tIns="0" rIns="0" bIns="0" anchor="ctr">
            <a:noAutofit/>
          </a:bodyPr>
          <a:lstStyle/>
          <a:p>
            <a:pPr algn="r">
              <a:lnSpc>
                <a:spcPct val="96000"/>
              </a:lnSpc>
              <a:buNone/>
            </a:pPr>
            <a:r>
              <a:rPr lang="en-US" sz="1100" b="1" dirty="0">
                <a:solidFill>
                  <a:srgbClr val="55555F"/>
                </a:solidFill>
                <a:latin typeface="Roboto"/>
              </a:rPr>
              <a:t>Query</a:t>
            </a:r>
          </a:p>
        </p:txBody>
      </p:sp>
      <p:sp>
        <p:nvSpPr>
          <p:cNvPr id="22" name="Label 22"/>
          <p:cNvSpPr txBox="1"/>
          <p:nvPr/>
        </p:nvSpPr>
        <p:spPr>
          <a:xfrm>
            <a:off x="660400" y="2413000"/>
            <a:ext cx="965200" cy="660400"/>
          </a:xfrm>
          <a:prstGeom prst="rect">
            <a:avLst/>
          </a:prstGeom>
          <a:noFill/>
        </p:spPr>
        <p:txBody>
          <a:bodyPr wrap="square" lIns="0" tIns="0" rIns="0" bIns="0" anchor="ctr">
            <a:noAutofit/>
          </a:bodyPr>
          <a:lstStyle/>
          <a:p>
            <a:pPr algn="r">
              <a:lnSpc>
                <a:spcPct val="96000"/>
              </a:lnSpc>
              <a:buNone/>
            </a:pPr>
            <a:r>
              <a:rPr lang="en-US" sz="1100" b="1" dirty="0">
                <a:solidFill>
                  <a:srgbClr val="55555F"/>
                </a:solidFill>
                <a:latin typeface="Roboto"/>
              </a:rPr>
              <a:t>Depth 1</a:t>
            </a:r>
          </a:p>
        </p:txBody>
      </p:sp>
      <p:sp>
        <p:nvSpPr>
          <p:cNvPr id="23" name="Label 23"/>
          <p:cNvSpPr txBox="1"/>
          <p:nvPr/>
        </p:nvSpPr>
        <p:spPr>
          <a:xfrm>
            <a:off x="660400" y="3606800"/>
            <a:ext cx="965200" cy="660400"/>
          </a:xfrm>
          <a:prstGeom prst="rect">
            <a:avLst/>
          </a:prstGeom>
          <a:noFill/>
        </p:spPr>
        <p:txBody>
          <a:bodyPr wrap="square" lIns="0" tIns="0" rIns="0" bIns="0" anchor="ctr">
            <a:noAutofit/>
          </a:bodyPr>
          <a:lstStyle/>
          <a:p>
            <a:pPr algn="r">
              <a:lnSpc>
                <a:spcPct val="96000"/>
              </a:lnSpc>
              <a:buNone/>
            </a:pPr>
            <a:r>
              <a:rPr lang="en-US" sz="1100" b="1" dirty="0">
                <a:solidFill>
                  <a:srgbClr val="55555F"/>
                </a:solidFill>
                <a:latin typeface="Roboto"/>
              </a:rPr>
              <a:t>Depth 2</a:t>
            </a:r>
          </a:p>
        </p:txBody>
      </p:sp>
      <p:sp>
        <p:nvSpPr>
          <p:cNvPr id="24" name="Label 24"/>
          <p:cNvSpPr txBox="1"/>
          <p:nvPr/>
        </p:nvSpPr>
        <p:spPr>
          <a:xfrm>
            <a:off x="660400" y="4800600"/>
            <a:ext cx="965200" cy="660400"/>
          </a:xfrm>
          <a:prstGeom prst="rect">
            <a:avLst/>
          </a:prstGeom>
          <a:noFill/>
        </p:spPr>
        <p:txBody>
          <a:bodyPr wrap="square" lIns="0" tIns="0" rIns="0" bIns="0" anchor="ctr">
            <a:noAutofit/>
          </a:bodyPr>
          <a:lstStyle/>
          <a:p>
            <a:pPr algn="r">
              <a:lnSpc>
                <a:spcPct val="96000"/>
              </a:lnSpc>
              <a:buNone/>
            </a:pPr>
            <a:r>
              <a:rPr lang="en-US" sz="1100" b="1" dirty="0">
                <a:solidFill>
                  <a:srgbClr val="55555F"/>
                </a:solidFill>
                <a:latin typeface="Roboto"/>
              </a:rPr>
              <a:t>Merged</a:t>
            </a:r>
          </a:p>
        </p:txBody>
      </p:sp>
      <p:sp>
        <p:nvSpPr>
          <p:cNvPr id="25" name="Node 25"/>
          <p:cNvSpPr/>
          <p:nvPr/>
        </p:nvSpPr>
        <p:spPr>
          <a:xfrm>
            <a:off x="5638800" y="1320800"/>
            <a:ext cx="2032000" cy="558800"/>
          </a:xfrm>
          <a:prstGeom prst="roundRect">
            <a:avLst>
              <a:gd name="adj" fmla="val 10000"/>
            </a:avLst>
          </a:prstGeom>
          <a:solidFill>
            <a:srgbClr val="FFFFFF"/>
          </a:solidFill>
          <a:ln w="9525">
            <a:solidFill>
              <a:srgbClr val="C9CBD6"/>
            </a:solidFill>
          </a:ln>
        </p:spPr>
        <p:txBody>
          <a:bodyPr wrap="square" lIns="88900" tIns="50800" rIns="88900" bIns="50800" anchor="ctr">
            <a:noAutofit/>
          </a:bodyPr>
          <a:lstStyle/>
          <a:p>
            <a:pPr algn="ctr">
              <a:lnSpc>
                <a:spcPct val="96000"/>
              </a:lnSpc>
              <a:buNone/>
            </a:pPr>
            <a:r>
              <a:rPr lang="en-US" sz="1200" b="1" dirty="0">
                <a:solidFill>
                  <a:srgbClr val="1B1B27"/>
                </a:solidFill>
                <a:latin typeface="Raleway"/>
              </a:rPr>
              <a:t>User Query</a:t>
            </a:r>
          </a:p>
        </p:txBody>
      </p:sp>
      <p:sp>
        <p:nvSpPr>
          <p:cNvPr id="26" name="Node 26"/>
          <p:cNvSpPr/>
          <p:nvPr/>
        </p:nvSpPr>
        <p:spPr>
          <a:xfrm>
            <a:off x="1778000" y="2413000"/>
            <a:ext cx="2895600" cy="660400"/>
          </a:xfrm>
          <a:prstGeom prst="roundRect">
            <a:avLst>
              <a:gd name="adj" fmla="val 10000"/>
            </a:avLst>
          </a:prstGeom>
          <a:solidFill>
            <a:srgbClr val="FFFFFF"/>
          </a:solidFill>
          <a:ln w="9525">
            <a:solidFill>
              <a:srgbClr val="C9CBD6"/>
            </a:solidFill>
          </a:ln>
        </p:spPr>
        <p:txBody>
          <a:bodyPr wrap="square" lIns="88900" tIns="50800" rIns="88900" bIns="50800" anchor="ctr">
            <a:noAutofit/>
          </a:bodyPr>
          <a:lstStyle/>
          <a:p>
            <a:pPr algn="l">
              <a:lnSpc>
                <a:spcPct val="96000"/>
              </a:lnSpc>
              <a:buNone/>
            </a:pPr>
            <a:r>
              <a:rPr lang="en-US" sz="1200" b="1" dirty="0">
                <a:solidFill>
                  <a:srgbClr val="1B1B27"/>
                </a:solidFill>
                <a:latin typeface="Raleway"/>
              </a:rPr>
              <a:t>Guidance cut</a:t>
            </a:r>
          </a:p>
          <a:p>
            <a:pPr algn="l">
              <a:lnSpc>
                <a:spcPct val="96000"/>
              </a:lnSpc>
              <a:spcBef>
                <a:spcPts val="120"/>
              </a:spcBef>
              <a:buNone/>
            </a:pPr>
            <a:r>
              <a:rPr lang="en-US" sz="1100" dirty="0">
                <a:solidFill>
                  <a:srgbClr val="4A4A56"/>
                </a:solidFill>
                <a:latin typeface="Roboto"/>
              </a:rPr>
              <a:t>from chunk A</a:t>
            </a:r>
          </a:p>
        </p:txBody>
      </p:sp>
      <p:sp>
        <p:nvSpPr>
          <p:cNvPr id="27" name="Node 27"/>
          <p:cNvSpPr/>
          <p:nvPr/>
        </p:nvSpPr>
        <p:spPr>
          <a:xfrm>
            <a:off x="5207000" y="2413000"/>
            <a:ext cx="2895600" cy="660400"/>
          </a:xfrm>
          <a:prstGeom prst="roundRect">
            <a:avLst>
              <a:gd name="adj" fmla="val 10000"/>
            </a:avLst>
          </a:prstGeom>
          <a:solidFill>
            <a:srgbClr val="FFFFFF"/>
          </a:solidFill>
          <a:ln w="9525">
            <a:solidFill>
              <a:srgbClr val="C9CBD6"/>
            </a:solidFill>
          </a:ln>
        </p:spPr>
        <p:txBody>
          <a:bodyPr wrap="square" lIns="88900" tIns="50800" rIns="88900" bIns="50800" anchor="ctr">
            <a:noAutofit/>
          </a:bodyPr>
          <a:lstStyle/>
          <a:p>
            <a:pPr algn="l">
              <a:lnSpc>
                <a:spcPct val="96000"/>
              </a:lnSpc>
              <a:buNone/>
            </a:pPr>
            <a:r>
              <a:rPr lang="en-US" sz="1200" b="1" dirty="0">
                <a:solidFill>
                  <a:srgbClr val="1B1B27"/>
                </a:solidFill>
                <a:latin typeface="Raleway"/>
              </a:rPr>
              <a:t>Margin miss</a:t>
            </a:r>
          </a:p>
          <a:p>
            <a:pPr algn="l">
              <a:lnSpc>
                <a:spcPct val="96000"/>
              </a:lnSpc>
              <a:spcBef>
                <a:spcPts val="120"/>
              </a:spcBef>
              <a:buNone/>
            </a:pPr>
            <a:r>
              <a:rPr lang="en-US" sz="1100" dirty="0">
                <a:solidFill>
                  <a:srgbClr val="4A4A56"/>
                </a:solidFill>
                <a:latin typeface="Roboto"/>
              </a:rPr>
              <a:t>from chunk B</a:t>
            </a:r>
          </a:p>
        </p:txBody>
      </p:sp>
      <p:sp>
        <p:nvSpPr>
          <p:cNvPr id="28" name="Node 28"/>
          <p:cNvSpPr/>
          <p:nvPr/>
        </p:nvSpPr>
        <p:spPr>
          <a:xfrm>
            <a:off x="8636000" y="2413000"/>
            <a:ext cx="2895600" cy="660400"/>
          </a:xfrm>
          <a:prstGeom prst="roundRect">
            <a:avLst>
              <a:gd name="adj" fmla="val 10000"/>
            </a:avLst>
          </a:prstGeom>
          <a:solidFill>
            <a:srgbClr val="F7F7FA"/>
          </a:solidFill>
          <a:ln w="9525">
            <a:solidFill>
              <a:srgbClr val="C9CBD6"/>
            </a:solidFill>
          </a:ln>
        </p:spPr>
        <p:txBody>
          <a:bodyPr wrap="square" lIns="88900" tIns="50800" rIns="88900" bIns="50800" anchor="ctr">
            <a:noAutofit/>
          </a:bodyPr>
          <a:lstStyle/>
          <a:p>
            <a:pPr algn="l">
              <a:lnSpc>
                <a:spcPct val="96000"/>
              </a:lnSpc>
              <a:buNone/>
            </a:pPr>
            <a:r>
              <a:rPr lang="en-US" sz="1200" b="1" dirty="0">
                <a:solidFill>
                  <a:srgbClr val="4E4E58"/>
                </a:solidFill>
                <a:latin typeface="Raleway"/>
              </a:rPr>
              <a:t>Sector sell-off</a:t>
            </a:r>
          </a:p>
          <a:p>
            <a:pPr algn="l">
              <a:lnSpc>
                <a:spcPct val="96000"/>
              </a:lnSpc>
              <a:spcBef>
                <a:spcPts val="120"/>
              </a:spcBef>
              <a:buNone/>
            </a:pPr>
            <a:r>
              <a:rPr lang="en-US" sz="1100" dirty="0">
                <a:solidFill>
                  <a:srgbClr val="4E4E58"/>
                </a:solidFill>
                <a:latin typeface="Roboto"/>
              </a:rPr>
              <a:t>from chunk C · pruned</a:t>
            </a:r>
          </a:p>
        </p:txBody>
      </p:sp>
      <p:sp>
        <p:nvSpPr>
          <p:cNvPr id="29" name="Node 29"/>
          <p:cNvSpPr/>
          <p:nvPr/>
        </p:nvSpPr>
        <p:spPr>
          <a:xfrm>
            <a:off x="1778000" y="3606800"/>
            <a:ext cx="2895600" cy="660400"/>
          </a:xfrm>
          <a:prstGeom prst="roundRect">
            <a:avLst>
              <a:gd name="adj" fmla="val 10000"/>
            </a:avLst>
          </a:prstGeom>
          <a:solidFill>
            <a:srgbClr val="FFFFFF"/>
          </a:solidFill>
          <a:ln w="9525">
            <a:solidFill>
              <a:srgbClr val="C9CBD6"/>
            </a:solidFill>
          </a:ln>
        </p:spPr>
        <p:txBody>
          <a:bodyPr wrap="square" lIns="88900" tIns="50800" rIns="88900" bIns="50800" anchor="ctr">
            <a:noAutofit/>
          </a:bodyPr>
          <a:lstStyle/>
          <a:p>
            <a:pPr algn="l">
              <a:lnSpc>
                <a:spcPct val="96000"/>
              </a:lnSpc>
              <a:buNone/>
            </a:pPr>
            <a:r>
              <a:rPr lang="en-US" sz="1200" b="1" dirty="0">
                <a:solidFill>
                  <a:srgbClr val="1B1B27"/>
                </a:solidFill>
                <a:latin typeface="Raleway"/>
              </a:rPr>
              <a:t>Guidance cut — strong</a:t>
            </a:r>
          </a:p>
        </p:txBody>
      </p:sp>
      <p:sp>
        <p:nvSpPr>
          <p:cNvPr id="30" name="Node 30"/>
          <p:cNvSpPr/>
          <p:nvPr/>
        </p:nvSpPr>
        <p:spPr>
          <a:xfrm>
            <a:off x="5207000" y="3606800"/>
            <a:ext cx="2895600" cy="660400"/>
          </a:xfrm>
          <a:prstGeom prst="roundRect">
            <a:avLst>
              <a:gd name="adj" fmla="val 10000"/>
            </a:avLst>
          </a:prstGeom>
          <a:solidFill>
            <a:srgbClr val="FFFFFF"/>
          </a:solidFill>
          <a:ln w="9525">
            <a:solidFill>
              <a:srgbClr val="C9CBD6"/>
            </a:solidFill>
          </a:ln>
        </p:spPr>
        <p:txBody>
          <a:bodyPr wrap="square" lIns="88900" tIns="50800" rIns="88900" bIns="50800" anchor="ctr">
            <a:noAutofit/>
          </a:bodyPr>
          <a:lstStyle/>
          <a:p>
            <a:pPr algn="l">
              <a:lnSpc>
                <a:spcPct val="96000"/>
              </a:lnSpc>
              <a:buNone/>
            </a:pPr>
            <a:r>
              <a:rPr lang="en-US" sz="1200" b="1" dirty="0">
                <a:solidFill>
                  <a:srgbClr val="1B1B27"/>
                </a:solidFill>
                <a:latin typeface="Raleway"/>
              </a:rPr>
              <a:t>Margin miss — strong</a:t>
            </a:r>
          </a:p>
        </p:txBody>
      </p:sp>
      <p:sp>
        <p:nvSpPr>
          <p:cNvPr id="31" name="Node 31"/>
          <p:cNvSpPr/>
          <p:nvPr/>
        </p:nvSpPr>
        <p:spPr>
          <a:xfrm>
            <a:off x="3162300" y="4800600"/>
            <a:ext cx="3556000" cy="660400"/>
          </a:xfrm>
          <a:prstGeom prst="roundRect">
            <a:avLst>
              <a:gd name="adj" fmla="val 10000"/>
            </a:avLst>
          </a:prstGeom>
          <a:solidFill>
            <a:srgbClr val="F1F1F6"/>
          </a:solidFill>
          <a:ln w="9525">
            <a:solidFill>
              <a:srgbClr val="C9CBD6"/>
            </a:solidFill>
          </a:ln>
        </p:spPr>
        <p:txBody>
          <a:bodyPr wrap="square" lIns="88900" tIns="50800" rIns="88900" bIns="50800" anchor="ctr">
            <a:noAutofit/>
          </a:bodyPr>
          <a:lstStyle/>
          <a:p>
            <a:pPr algn="l">
              <a:lnSpc>
                <a:spcPct val="96000"/>
              </a:lnSpc>
              <a:buNone/>
            </a:pPr>
            <a:r>
              <a:rPr lang="en-US" sz="1200" b="1" dirty="0">
                <a:solidFill>
                  <a:srgbClr val="1B1B27"/>
                </a:solidFill>
                <a:latin typeface="Raleway"/>
              </a:rPr>
              <a:t>Merged: guidance cut + margin miss</a:t>
            </a:r>
          </a:p>
        </p:txBody>
      </p:sp>
      <p:sp>
        <p:nvSpPr>
          <p:cNvPr id="32" name="Conn 32"/>
          <p:cNvSpPr/>
          <p:nvPr/>
        </p:nvSpPr>
        <p:spPr>
          <a:xfrm>
            <a:off x="6654800" y="1879600"/>
            <a:ext cx="0" cy="279400"/>
          </a:xfrm>
          <a:prstGeom prst="line">
            <a:avLst/>
          </a:prstGeom>
          <a:ln w="9525">
            <a:solidFill>
              <a:srgbClr val="55555F"/>
            </a:solidFill>
          </a:ln>
        </p:spPr>
        <p:txBody>
          <a:bodyPr/>
          <a:lstStyle/>
          <a:p>
            <a:endParaRPr lang="en-US"/>
          </a:p>
        </p:txBody>
      </p:sp>
      <p:sp>
        <p:nvSpPr>
          <p:cNvPr id="33" name="Conn 33"/>
          <p:cNvSpPr/>
          <p:nvPr/>
        </p:nvSpPr>
        <p:spPr>
          <a:xfrm>
            <a:off x="3225800" y="2159000"/>
            <a:ext cx="6858000" cy="0"/>
          </a:xfrm>
          <a:prstGeom prst="line">
            <a:avLst/>
          </a:prstGeom>
          <a:ln w="9525">
            <a:solidFill>
              <a:srgbClr val="55555F"/>
            </a:solidFill>
          </a:ln>
        </p:spPr>
        <p:txBody>
          <a:bodyPr/>
          <a:lstStyle/>
          <a:p>
            <a:endParaRPr lang="en-US"/>
          </a:p>
        </p:txBody>
      </p:sp>
      <p:sp>
        <p:nvSpPr>
          <p:cNvPr id="34" name="Conn 34"/>
          <p:cNvSpPr/>
          <p:nvPr/>
        </p:nvSpPr>
        <p:spPr>
          <a:xfrm>
            <a:off x="3225800" y="2159000"/>
            <a:ext cx="0" cy="254000"/>
          </a:xfrm>
          <a:prstGeom prst="line">
            <a:avLst/>
          </a:prstGeom>
          <a:ln w="9525">
            <a:solidFill>
              <a:srgbClr val="55555F"/>
            </a:solidFill>
            <a:tailEnd type="triangle" w="sm" len="sm"/>
          </a:ln>
        </p:spPr>
        <p:txBody>
          <a:bodyPr/>
          <a:lstStyle/>
          <a:p>
            <a:endParaRPr lang="en-US"/>
          </a:p>
        </p:txBody>
      </p:sp>
      <p:sp>
        <p:nvSpPr>
          <p:cNvPr id="35" name="Conn 35"/>
          <p:cNvSpPr/>
          <p:nvPr/>
        </p:nvSpPr>
        <p:spPr>
          <a:xfrm>
            <a:off x="6654800" y="2159000"/>
            <a:ext cx="0" cy="254000"/>
          </a:xfrm>
          <a:prstGeom prst="line">
            <a:avLst/>
          </a:prstGeom>
          <a:ln w="9525">
            <a:solidFill>
              <a:srgbClr val="55555F"/>
            </a:solidFill>
            <a:tailEnd type="triangle" w="sm" len="sm"/>
          </a:ln>
        </p:spPr>
        <p:txBody>
          <a:bodyPr/>
          <a:lstStyle/>
          <a:p>
            <a:endParaRPr lang="en-US"/>
          </a:p>
        </p:txBody>
      </p:sp>
      <p:sp>
        <p:nvSpPr>
          <p:cNvPr id="36" name="Conn 36"/>
          <p:cNvSpPr/>
          <p:nvPr/>
        </p:nvSpPr>
        <p:spPr>
          <a:xfrm>
            <a:off x="10083800" y="2159000"/>
            <a:ext cx="0" cy="254000"/>
          </a:xfrm>
          <a:prstGeom prst="line">
            <a:avLst/>
          </a:prstGeom>
          <a:ln w="9525">
            <a:solidFill>
              <a:srgbClr val="9A9AA8"/>
            </a:solidFill>
            <a:prstDash val="dash"/>
            <a:tailEnd type="triangle" w="sm" len="sm"/>
          </a:ln>
        </p:spPr>
        <p:txBody>
          <a:bodyPr/>
          <a:lstStyle/>
          <a:p>
            <a:endParaRPr lang="en-US"/>
          </a:p>
        </p:txBody>
      </p:sp>
      <p:sp>
        <p:nvSpPr>
          <p:cNvPr id="37" name="Conn 37"/>
          <p:cNvSpPr/>
          <p:nvPr/>
        </p:nvSpPr>
        <p:spPr>
          <a:xfrm>
            <a:off x="3225800" y="3073400"/>
            <a:ext cx="0" cy="533400"/>
          </a:xfrm>
          <a:prstGeom prst="line">
            <a:avLst/>
          </a:prstGeom>
          <a:ln w="9525">
            <a:solidFill>
              <a:srgbClr val="55555F"/>
            </a:solidFill>
            <a:tailEnd type="triangle" w="sm" len="sm"/>
          </a:ln>
        </p:spPr>
        <p:txBody>
          <a:bodyPr/>
          <a:lstStyle/>
          <a:p>
            <a:endParaRPr lang="en-US"/>
          </a:p>
        </p:txBody>
      </p:sp>
      <p:sp>
        <p:nvSpPr>
          <p:cNvPr id="38" name="Conn 38"/>
          <p:cNvSpPr/>
          <p:nvPr/>
        </p:nvSpPr>
        <p:spPr>
          <a:xfrm>
            <a:off x="6654800" y="3073400"/>
            <a:ext cx="0" cy="533400"/>
          </a:xfrm>
          <a:prstGeom prst="line">
            <a:avLst/>
          </a:prstGeom>
          <a:ln w="9525">
            <a:solidFill>
              <a:srgbClr val="55555F"/>
            </a:solidFill>
            <a:tailEnd type="triangle" w="sm" len="sm"/>
          </a:ln>
        </p:spPr>
        <p:txBody>
          <a:bodyPr/>
          <a:lstStyle/>
          <a:p>
            <a:endParaRPr lang="en-US"/>
          </a:p>
        </p:txBody>
      </p:sp>
      <p:sp>
        <p:nvSpPr>
          <p:cNvPr id="39" name="Conn 39"/>
          <p:cNvSpPr/>
          <p:nvPr/>
        </p:nvSpPr>
        <p:spPr>
          <a:xfrm>
            <a:off x="3225800" y="4267200"/>
            <a:ext cx="0" cy="279400"/>
          </a:xfrm>
          <a:prstGeom prst="line">
            <a:avLst/>
          </a:prstGeom>
          <a:ln w="9525">
            <a:solidFill>
              <a:srgbClr val="55555F"/>
            </a:solidFill>
          </a:ln>
        </p:spPr>
        <p:txBody>
          <a:bodyPr/>
          <a:lstStyle/>
          <a:p>
            <a:endParaRPr lang="en-US"/>
          </a:p>
        </p:txBody>
      </p:sp>
      <p:sp>
        <p:nvSpPr>
          <p:cNvPr id="40" name="Conn 40"/>
          <p:cNvSpPr/>
          <p:nvPr/>
        </p:nvSpPr>
        <p:spPr>
          <a:xfrm>
            <a:off x="6654800" y="4267200"/>
            <a:ext cx="0" cy="279400"/>
          </a:xfrm>
          <a:prstGeom prst="line">
            <a:avLst/>
          </a:prstGeom>
          <a:ln w="9525">
            <a:solidFill>
              <a:srgbClr val="55555F"/>
            </a:solidFill>
          </a:ln>
        </p:spPr>
        <p:txBody>
          <a:bodyPr/>
          <a:lstStyle/>
          <a:p>
            <a:endParaRPr lang="en-US"/>
          </a:p>
        </p:txBody>
      </p:sp>
      <p:sp>
        <p:nvSpPr>
          <p:cNvPr id="41" name="Conn 41"/>
          <p:cNvSpPr/>
          <p:nvPr/>
        </p:nvSpPr>
        <p:spPr>
          <a:xfrm>
            <a:off x="3225800" y="4546600"/>
            <a:ext cx="3429000" cy="0"/>
          </a:xfrm>
          <a:prstGeom prst="line">
            <a:avLst/>
          </a:prstGeom>
          <a:ln w="9525">
            <a:solidFill>
              <a:srgbClr val="55555F"/>
            </a:solidFill>
          </a:ln>
        </p:spPr>
        <p:txBody>
          <a:bodyPr/>
          <a:lstStyle/>
          <a:p>
            <a:endParaRPr lang="en-US"/>
          </a:p>
        </p:txBody>
      </p:sp>
      <p:sp>
        <p:nvSpPr>
          <p:cNvPr id="42" name="Conn 42"/>
          <p:cNvSpPr/>
          <p:nvPr/>
        </p:nvSpPr>
        <p:spPr>
          <a:xfrm>
            <a:off x="4940300" y="4546600"/>
            <a:ext cx="0" cy="254000"/>
          </a:xfrm>
          <a:prstGeom prst="line">
            <a:avLst/>
          </a:prstGeom>
          <a:ln w="9525">
            <a:solidFill>
              <a:srgbClr val="55555F"/>
            </a:solidFill>
            <a:tailEnd type="triangle" w="sm" len="sm"/>
          </a:ln>
        </p:spPr>
        <p:txBody>
          <a:bodyPr/>
          <a:lstStyle/>
          <a:p>
            <a:endParaRPr lang="en-US"/>
          </a:p>
        </p:txBody>
      </p:sp>
      <p:sp>
        <p:nvSpPr>
          <p:cNvPr id="43" name="Label 43"/>
          <p:cNvSpPr txBox="1"/>
          <p:nvPr/>
        </p:nvSpPr>
        <p:spPr>
          <a:xfrm>
            <a:off x="8636000" y="3683000"/>
            <a:ext cx="2895600" cy="787400"/>
          </a:xfrm>
          <a:prstGeom prst="rect">
            <a:avLst/>
          </a:prstGeom>
          <a:noFill/>
        </p:spPr>
        <p:txBody>
          <a:bodyPr wrap="square" lIns="0" tIns="0" rIns="0" bIns="0" anchor="t">
            <a:noAutofit/>
          </a:bodyPr>
          <a:lstStyle/>
          <a:p>
            <a:pPr algn="l">
              <a:lnSpc>
                <a:spcPct val="96000"/>
              </a:lnSpc>
              <a:buNone/>
            </a:pPr>
            <a:r>
              <a:rPr lang="en-US" sz="1100" dirty="0">
                <a:solidFill>
                  <a:srgbClr val="4A4A56"/>
                </a:solidFill>
                <a:latin typeface="Roboto"/>
              </a:rPr>
              <a:t>Scored low on grounding, so it stops at depth 1 and never reaches the merge.</a:t>
            </a:r>
          </a:p>
        </p:txBody>
      </p:sp>
      <p:sp>
        <p:nvSpPr>
          <p:cNvPr id="44" name="Label 44"/>
          <p:cNvSpPr txBox="1"/>
          <p:nvPr/>
        </p:nvSpPr>
        <p:spPr>
          <a:xfrm>
            <a:off x="660400" y="5791200"/>
            <a:ext cx="10871200" cy="228600"/>
          </a:xfrm>
          <a:prstGeom prst="rect">
            <a:avLst/>
          </a:prstGeom>
          <a:noFill/>
        </p:spPr>
        <p:txBody>
          <a:bodyPr wrap="square" lIns="0" tIns="0" rIns="0" bIns="0" anchor="t">
            <a:noAutofit/>
          </a:bodyPr>
          <a:lstStyle/>
          <a:p>
            <a:pPr algn="l">
              <a:lnSpc>
                <a:spcPct val="96000"/>
              </a:lnSpc>
              <a:buNone/>
            </a:pPr>
            <a:r>
              <a:rPr lang="en-US" sz="1100" dirty="0">
                <a:solidFill>
                  <a:srgbClr val="4A4A56"/>
                </a:solidFill>
                <a:latin typeface="Roboto"/>
              </a:rPr>
              <a:t>Surviving branches merge into a single answer; pruned branches stop where they are.</a:t>
            </a:r>
          </a:p>
        </p:txBody>
      </p:sp>
    </p:spTree>
    <p:extLst>
      <p:ext uri="{BB962C8B-B14F-4D97-AF65-F5344CB8AC3E}">
        <p14:creationId xmlns:p14="http://schemas.microsoft.com/office/powerpoint/2010/main" val="2515273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BDA5934-A815-4A2C-8904-3A492F1A6ED0}"/>
              </a:ext>
            </a:extLst>
          </p:cNvPr>
          <p:cNvGraphicFramePr>
            <a:graphicFrameLocks noGrp="1"/>
          </p:cNvGraphicFramePr>
          <p:nvPr>
            <p:extLst>
              <p:ext uri="{D42A27DB-BD31-4B8C-83A1-F6EECF244321}">
                <p14:modId xmlns:p14="http://schemas.microsoft.com/office/powerpoint/2010/main" val="3681277284"/>
              </p:ext>
            </p:extLst>
          </p:nvPr>
        </p:nvGraphicFramePr>
        <p:xfrm>
          <a:off x="660400" y="1905000"/>
          <a:ext cx="10871200" cy="3073400"/>
        </p:xfrm>
        <a:graphic>
          <a:graphicData uri="http://schemas.openxmlformats.org/drawingml/2006/table">
            <a:tbl>
              <a:tblPr/>
              <a:tblGrid>
                <a:gridCol w="838200">
                  <a:extLst>
                    <a:ext uri="{9D8B030D-6E8A-4147-A177-3AD203B41FA5}">
                      <a16:colId xmlns:a16="http://schemas.microsoft.com/office/drawing/2014/main" val="2872018176"/>
                    </a:ext>
                  </a:extLst>
                </a:gridCol>
                <a:gridCol w="2565400">
                  <a:extLst>
                    <a:ext uri="{9D8B030D-6E8A-4147-A177-3AD203B41FA5}">
                      <a16:colId xmlns:a16="http://schemas.microsoft.com/office/drawing/2014/main" val="3385077303"/>
                    </a:ext>
                  </a:extLst>
                </a:gridCol>
                <a:gridCol w="2362200">
                  <a:extLst>
                    <a:ext uri="{9D8B030D-6E8A-4147-A177-3AD203B41FA5}">
                      <a16:colId xmlns:a16="http://schemas.microsoft.com/office/drawing/2014/main" val="66488810"/>
                    </a:ext>
                  </a:extLst>
                </a:gridCol>
                <a:gridCol w="2667000">
                  <a:extLst>
                    <a:ext uri="{9D8B030D-6E8A-4147-A177-3AD203B41FA5}">
                      <a16:colId xmlns:a16="http://schemas.microsoft.com/office/drawing/2014/main" val="689400532"/>
                    </a:ext>
                  </a:extLst>
                </a:gridCol>
                <a:gridCol w="2438400">
                  <a:extLst>
                    <a:ext uri="{9D8B030D-6E8A-4147-A177-3AD203B41FA5}">
                      <a16:colId xmlns:a16="http://schemas.microsoft.com/office/drawing/2014/main" val="2921533785"/>
                    </a:ext>
                  </a:extLst>
                </a:gridCol>
              </a:tblGrid>
              <a:tr h="508000">
                <a:tc>
                  <a:txBody>
                    <a:bodyPr/>
                    <a:lstStyle/>
                    <a:p>
                      <a:pPr algn="l">
                        <a:lnSpc>
                          <a:spcPct val="94000"/>
                        </a:lnSpc>
                        <a:buNone/>
                      </a:pPr>
                      <a:r>
                        <a:rPr lang="en-US" sz="1150" b="1" dirty="0">
                          <a:solidFill>
                            <a:srgbClr val="1B1B27"/>
                          </a:solidFill>
                          <a:latin typeface="Raleway"/>
                        </a:rPr>
                        <a:t>Branch</a:t>
                      </a:r>
                    </a:p>
                  </a:txBody>
                  <a:tcPr marL="76200" marR="76200" marT="50800" marB="50800">
                    <a:lnL w="0">
                      <a:noFill/>
                    </a:lnL>
                    <a:lnR w="0">
                      <a:noFill/>
                    </a:lnR>
                    <a:lnT w="0">
                      <a:noFill/>
                    </a:lnT>
                    <a:lnB w="12700" cap="flat" cmpd="sng" algn="ctr">
                      <a:solidFill>
                        <a:srgbClr val="8A8A98"/>
                      </a:solidFill>
                      <a:prstDash val="solid"/>
                    </a:lnB>
                    <a:solidFill>
                      <a:srgbClr val="FFFFFF"/>
                    </a:solidFill>
                  </a:tcPr>
                </a:tc>
                <a:tc>
                  <a:txBody>
                    <a:bodyPr/>
                    <a:lstStyle/>
                    <a:p>
                      <a:pPr algn="l">
                        <a:lnSpc>
                          <a:spcPct val="94000"/>
                        </a:lnSpc>
                        <a:buNone/>
                      </a:pPr>
                      <a:r>
                        <a:rPr lang="en-US" sz="1150" b="1" dirty="0">
                          <a:solidFill>
                            <a:srgbClr val="1B1B27"/>
                          </a:solidFill>
                          <a:latin typeface="Raleway"/>
                        </a:rPr>
                        <a:t>Step 1 · Orchestrator writes depth-1 thoughts</a:t>
                      </a:r>
                    </a:p>
                  </a:txBody>
                  <a:tcPr marL="76200" marR="76200" marT="50800" marB="50800">
                    <a:lnL w="0">
                      <a:noFill/>
                    </a:lnL>
                    <a:lnR w="0">
                      <a:noFill/>
                    </a:lnR>
                    <a:lnT w="0">
                      <a:noFill/>
                    </a:lnT>
                    <a:lnB w="12700" cap="flat" cmpd="sng" algn="ctr">
                      <a:solidFill>
                        <a:srgbClr val="8A8A98"/>
                      </a:solidFill>
                      <a:prstDash val="solid"/>
                    </a:lnB>
                    <a:solidFill>
                      <a:srgbClr val="FFFFFF"/>
                    </a:solidFill>
                  </a:tcPr>
                </a:tc>
                <a:tc>
                  <a:txBody>
                    <a:bodyPr/>
                    <a:lstStyle/>
                    <a:p>
                      <a:pPr algn="l">
                        <a:lnSpc>
                          <a:spcPct val="94000"/>
                        </a:lnSpc>
                        <a:buNone/>
                      </a:pPr>
                      <a:r>
                        <a:rPr lang="en-US" sz="1150" b="1" dirty="0">
                          <a:solidFill>
                            <a:srgbClr val="1B1B27"/>
                          </a:solidFill>
                          <a:latin typeface="Raleway"/>
                        </a:rPr>
                        <a:t>Step 2 · Critic scores, writes back</a:t>
                      </a:r>
                    </a:p>
                  </a:txBody>
                  <a:tcPr marL="76200" marR="76200" marT="50800" marB="50800">
                    <a:lnL w="0">
                      <a:noFill/>
                    </a:lnL>
                    <a:lnR w="0">
                      <a:noFill/>
                    </a:lnR>
                    <a:lnT w="0">
                      <a:noFill/>
                    </a:lnT>
                    <a:lnB w="12700" cap="flat" cmpd="sng" algn="ctr">
                      <a:solidFill>
                        <a:srgbClr val="8A8A98"/>
                      </a:solidFill>
                      <a:prstDash val="solid"/>
                    </a:lnB>
                    <a:solidFill>
                      <a:srgbClr val="FFFFFF"/>
                    </a:solidFill>
                  </a:tcPr>
                </a:tc>
                <a:tc>
                  <a:txBody>
                    <a:bodyPr/>
                    <a:lstStyle/>
                    <a:p>
                      <a:pPr algn="l">
                        <a:lnSpc>
                          <a:spcPct val="94000"/>
                        </a:lnSpc>
                        <a:buNone/>
                      </a:pPr>
                      <a:r>
                        <a:rPr lang="en-US" sz="1150" b="1" dirty="0">
                          <a:solidFill>
                            <a:srgbClr val="1B1B27"/>
                          </a:solidFill>
                          <a:latin typeface="Raleway"/>
                        </a:rPr>
                        <a:t>Step 3 · Orchestrator advances survivors</a:t>
                      </a:r>
                    </a:p>
                  </a:txBody>
                  <a:tcPr marL="76200" marR="76200" marT="50800" marB="50800">
                    <a:lnL w="0">
                      <a:noFill/>
                    </a:lnL>
                    <a:lnR w="0">
                      <a:noFill/>
                    </a:lnR>
                    <a:lnT w="0">
                      <a:noFill/>
                    </a:lnT>
                    <a:lnB w="12700" cap="flat" cmpd="sng" algn="ctr">
                      <a:solidFill>
                        <a:srgbClr val="8A8A98"/>
                      </a:solidFill>
                      <a:prstDash val="solid"/>
                    </a:lnB>
                    <a:solidFill>
                      <a:srgbClr val="FFFFFF"/>
                    </a:solidFill>
                  </a:tcPr>
                </a:tc>
                <a:tc>
                  <a:txBody>
                    <a:bodyPr/>
                    <a:lstStyle/>
                    <a:p>
                      <a:pPr algn="l">
                        <a:lnSpc>
                          <a:spcPct val="94000"/>
                        </a:lnSpc>
                        <a:buNone/>
                      </a:pPr>
                      <a:r>
                        <a:rPr lang="en-US" sz="1150" b="1" dirty="0">
                          <a:solidFill>
                            <a:srgbClr val="1B1B27"/>
                          </a:solidFill>
                          <a:latin typeface="Raleway"/>
                        </a:rPr>
                        <a:t>Step 4 · Critic rescores, orchestrator merges</a:t>
                      </a:r>
                    </a:p>
                  </a:txBody>
                  <a:tcPr marL="76200" marR="76200" marT="50800" marB="50800">
                    <a:lnL w="0">
                      <a:noFill/>
                    </a:lnL>
                    <a:lnR w="0">
                      <a:noFill/>
                    </a:lnR>
                    <a:lnT w="0">
                      <a:noFill/>
                    </a:lnT>
                    <a:lnB w="12700" cap="flat" cmpd="sng" algn="ctr">
                      <a:solidFill>
                        <a:srgbClr val="8A8A98"/>
                      </a:solidFill>
                      <a:prstDash val="solid"/>
                    </a:lnB>
                    <a:solidFill>
                      <a:srgbClr val="FFFFFF"/>
                    </a:solidFill>
                  </a:tcPr>
                </a:tc>
                <a:extLst>
                  <a:ext uri="{0D108BD9-81ED-4DB2-BD59-A6C34878D82A}">
                    <a16:rowId xmlns:a16="http://schemas.microsoft.com/office/drawing/2014/main" val="2123590649"/>
                  </a:ext>
                </a:extLst>
              </a:tr>
              <a:tr h="939800">
                <a:tc>
                  <a:txBody>
                    <a:bodyPr/>
                    <a:lstStyle/>
                    <a:p>
                      <a:pPr algn="l">
                        <a:lnSpc>
                          <a:spcPct val="94000"/>
                        </a:lnSpc>
                        <a:buNone/>
                      </a:pPr>
                      <a:r>
                        <a:rPr lang="en-US" sz="1200" b="1" dirty="0">
                          <a:solidFill>
                            <a:srgbClr val="3C3939"/>
                          </a:solidFill>
                          <a:latin typeface="Raleway"/>
                        </a:rPr>
                        <a:t>b1</a:t>
                      </a:r>
                    </a:p>
                  </a:txBody>
                  <a:tcPr marL="76200" marR="76200" marT="50800" marB="50800">
                    <a:lnL w="0">
                      <a:noFill/>
                    </a:lnL>
                    <a:lnR w="0">
                      <a:noFill/>
                    </a:lnR>
                    <a:lnT w="12700" cap="flat" cmpd="sng" algn="ctr">
                      <a:solidFill>
                        <a:srgbClr val="8A8A98"/>
                      </a:solidFill>
                      <a:prstDash val="solid"/>
                      <a:round/>
                      <a:headEnd type="none" w="med" len="med"/>
                      <a:tailEnd type="none" w="med" len="med"/>
                    </a:lnT>
                    <a:lnB w="9525" cap="flat" cmpd="sng" algn="ctr">
                      <a:solidFill>
                        <a:srgbClr val="E4E4EB"/>
                      </a:solidFill>
                      <a:prstDash val="solid"/>
                    </a:lnB>
                    <a:solidFill>
                      <a:srgbClr val="FFFFFF"/>
                    </a:solidFill>
                  </a:tcPr>
                </a:tc>
                <a:tc>
                  <a:txBody>
                    <a:bodyPr/>
                    <a:lstStyle/>
                    <a:p>
                      <a:pPr algn="l">
                        <a:lnSpc>
                          <a:spcPct val="94000"/>
                        </a:lnSpc>
                        <a:buNone/>
                      </a:pPr>
                      <a:r>
                        <a:rPr lang="en-US" sz="1150" dirty="0">
                          <a:solidFill>
                            <a:srgbClr val="3C3939"/>
                          </a:solidFill>
                          <a:latin typeface="Roboto"/>
                        </a:rPr>
                        <a:t>guidance cut, weak China demand</a:t>
                      </a:r>
                    </a:p>
                    <a:p>
                      <a:pPr algn="l">
                        <a:lnSpc>
                          <a:spcPct val="94000"/>
                        </a:lnSpc>
                        <a:spcBef>
                          <a:spcPts val="300"/>
                        </a:spcBef>
                        <a:buNone/>
                      </a:pPr>
                      <a:r>
                        <a:rPr lang="en-US" sz="1100" dirty="0">
                          <a:solidFill>
                            <a:srgbClr val="4A4A56"/>
                          </a:solidFill>
                          <a:latin typeface="Roboto"/>
                        </a:rPr>
                        <a:t>chunk_A · depth 1</a:t>
                      </a:r>
                    </a:p>
                  </a:txBody>
                  <a:tcPr marL="76200" marR="76200" marT="50800" marB="50800">
                    <a:lnL w="0">
                      <a:noFill/>
                    </a:lnL>
                    <a:lnR w="0">
                      <a:noFill/>
                    </a:lnR>
                    <a:lnT w="12700" cap="flat" cmpd="sng" algn="ctr">
                      <a:solidFill>
                        <a:srgbClr val="8A8A98"/>
                      </a:solidFill>
                      <a:prstDash val="solid"/>
                      <a:round/>
                      <a:headEnd type="none" w="med" len="med"/>
                      <a:tailEnd type="none" w="med" len="med"/>
                    </a:lnT>
                    <a:lnB w="9525" cap="flat" cmpd="sng" algn="ctr">
                      <a:solidFill>
                        <a:srgbClr val="E4E4EB"/>
                      </a:solidFill>
                      <a:prstDash val="solid"/>
                    </a:lnB>
                    <a:solidFill>
                      <a:srgbClr val="FFFFFF"/>
                    </a:solidFill>
                  </a:tcPr>
                </a:tc>
                <a:tc>
                  <a:txBody>
                    <a:bodyPr/>
                    <a:lstStyle/>
                    <a:p>
                      <a:pPr algn="l">
                        <a:lnSpc>
                          <a:spcPct val="94000"/>
                        </a:lnSpc>
                        <a:buNone/>
                      </a:pPr>
                      <a:r>
                        <a:rPr lang="en-US" sz="1150" dirty="0">
                          <a:solidFill>
                            <a:srgbClr val="3C3939"/>
                          </a:solidFill>
                          <a:latin typeface="Roboto"/>
                        </a:rPr>
                        <a:t>grounded 0.90 · recency 1.00 · specificity 0.85</a:t>
                      </a:r>
                    </a:p>
                    <a:p>
                      <a:pPr algn="l">
                        <a:lnSpc>
                          <a:spcPct val="94000"/>
                        </a:lnSpc>
                        <a:spcBef>
                          <a:spcPts val="300"/>
                        </a:spcBef>
                        <a:buNone/>
                      </a:pPr>
                      <a:r>
                        <a:rPr lang="en-US" sz="1100" b="1" dirty="0">
                          <a:solidFill>
                            <a:srgbClr val="4A4A56"/>
                          </a:solidFill>
                          <a:latin typeface="Roboto"/>
                        </a:rPr>
                        <a:t>kept</a:t>
                      </a:r>
                    </a:p>
                  </a:txBody>
                  <a:tcPr marL="76200" marR="76200" marT="50800" marB="50800">
                    <a:lnL w="0">
                      <a:noFill/>
                    </a:lnL>
                    <a:lnR w="0">
                      <a:noFill/>
                    </a:lnR>
                    <a:lnT w="12700" cap="flat" cmpd="sng" algn="ctr">
                      <a:solidFill>
                        <a:srgbClr val="8A8A98"/>
                      </a:solidFill>
                      <a:prstDash val="solid"/>
                      <a:round/>
                      <a:headEnd type="none" w="med" len="med"/>
                      <a:tailEnd type="none" w="med" len="med"/>
                    </a:lnT>
                    <a:lnB w="9525" cap="flat" cmpd="sng" algn="ctr">
                      <a:solidFill>
                        <a:srgbClr val="E4E4EB"/>
                      </a:solidFill>
                      <a:prstDash val="solid"/>
                    </a:lnB>
                    <a:solidFill>
                      <a:srgbClr val="FFFFFF"/>
                    </a:solidFill>
                  </a:tcPr>
                </a:tc>
                <a:tc>
                  <a:txBody>
                    <a:bodyPr/>
                    <a:lstStyle/>
                    <a:p>
                      <a:pPr algn="l">
                        <a:lnSpc>
                          <a:spcPct val="94000"/>
                        </a:lnSpc>
                        <a:buNone/>
                      </a:pPr>
                      <a:r>
                        <a:rPr lang="en-US" sz="1150" dirty="0">
                          <a:solidFill>
                            <a:srgbClr val="3C3939"/>
                          </a:solidFill>
                          <a:latin typeface="Roboto"/>
                        </a:rPr>
                        <a:t>b1_refined: guidance cut, confirmed vs. other chunks</a:t>
                      </a:r>
                    </a:p>
                    <a:p>
                      <a:pPr algn="l">
                        <a:lnSpc>
                          <a:spcPct val="94000"/>
                        </a:lnSpc>
                        <a:spcBef>
                          <a:spcPts val="300"/>
                        </a:spcBef>
                        <a:buNone/>
                      </a:pPr>
                      <a:r>
                        <a:rPr lang="en-US" sz="1100" dirty="0">
                          <a:solidFill>
                            <a:srgbClr val="4A4A56"/>
                          </a:solidFill>
                          <a:latin typeface="Roboto"/>
                        </a:rPr>
                        <a:t>depth 2</a:t>
                      </a:r>
                    </a:p>
                  </a:txBody>
                  <a:tcPr marL="76200" marR="76200" marT="50800" marB="50800">
                    <a:lnL w="0">
                      <a:noFill/>
                    </a:lnL>
                    <a:lnR w="0">
                      <a:noFill/>
                    </a:lnR>
                    <a:lnT w="12700" cap="flat" cmpd="sng" algn="ctr">
                      <a:solidFill>
                        <a:srgbClr val="8A8A98"/>
                      </a:solidFill>
                      <a:prstDash val="solid"/>
                      <a:round/>
                      <a:headEnd type="none" w="med" len="med"/>
                      <a:tailEnd type="none" w="med" len="med"/>
                    </a:lnT>
                    <a:lnB w="9525" cap="flat" cmpd="sng" algn="ctr">
                      <a:solidFill>
                        <a:srgbClr val="E4E4EB"/>
                      </a:solidFill>
                      <a:prstDash val="solid"/>
                    </a:lnB>
                    <a:solidFill>
                      <a:srgbClr val="FFFFFF"/>
                    </a:solidFill>
                  </a:tcPr>
                </a:tc>
                <a:tc rowSpan="2">
                  <a:txBody>
                    <a:bodyPr/>
                    <a:lstStyle/>
                    <a:p>
                      <a:pPr algn="l">
                        <a:lnSpc>
                          <a:spcPct val="94000"/>
                        </a:lnSpc>
                        <a:buNone/>
                      </a:pPr>
                      <a:r>
                        <a:rPr lang="en-US" sz="1150" dirty="0">
                          <a:solidFill>
                            <a:srgbClr val="3C3939"/>
                          </a:solidFill>
                          <a:latin typeface="Roboto"/>
                        </a:rPr>
                        <a:t>Both refined branches score close and well-supported, so the orchestrator merges them.</a:t>
                      </a:r>
                    </a:p>
                    <a:p>
                      <a:pPr algn="l">
                        <a:lnSpc>
                          <a:spcPct val="94000"/>
                        </a:lnSpc>
                        <a:spcBef>
                          <a:spcPts val="300"/>
                        </a:spcBef>
                        <a:buNone/>
                      </a:pPr>
                      <a:r>
                        <a:rPr lang="en-US" sz="1100" dirty="0">
                          <a:solidFill>
                            <a:srgbClr val="4A4A56"/>
                          </a:solidFill>
                          <a:latin typeface="Roboto"/>
                        </a:rPr>
                        <a:t>Final answer cites chunk_A and chunk_B, read from the source field in MCP.</a:t>
                      </a:r>
                    </a:p>
                  </a:txBody>
                  <a:tcPr marL="76200" marR="76200" marT="50800" marB="50800">
                    <a:lnL w="0">
                      <a:noFill/>
                    </a:lnL>
                    <a:lnR w="0">
                      <a:noFill/>
                    </a:lnR>
                    <a:lnT w="12700" cap="flat" cmpd="sng" algn="ctr">
                      <a:solidFill>
                        <a:srgbClr val="8A8A98"/>
                      </a:solidFill>
                      <a:prstDash val="solid"/>
                      <a:round/>
                      <a:headEnd type="none" w="med" len="med"/>
                      <a:tailEnd type="none" w="med" len="med"/>
                    </a:lnT>
                    <a:lnB w="9525" cap="flat" cmpd="sng" algn="ctr">
                      <a:solidFill>
                        <a:srgbClr val="E4E4EB"/>
                      </a:solidFill>
                      <a:prstDash val="solid"/>
                    </a:lnB>
                    <a:solidFill>
                      <a:srgbClr val="FFFFFF"/>
                    </a:solidFill>
                  </a:tcPr>
                </a:tc>
                <a:extLst>
                  <a:ext uri="{0D108BD9-81ED-4DB2-BD59-A6C34878D82A}">
                    <a16:rowId xmlns:a16="http://schemas.microsoft.com/office/drawing/2014/main" val="1933037155"/>
                  </a:ext>
                </a:extLst>
              </a:tr>
              <a:tr h="939800">
                <a:tc>
                  <a:txBody>
                    <a:bodyPr/>
                    <a:lstStyle/>
                    <a:p>
                      <a:pPr algn="l">
                        <a:lnSpc>
                          <a:spcPct val="94000"/>
                        </a:lnSpc>
                        <a:buNone/>
                      </a:pPr>
                      <a:r>
                        <a:rPr lang="en-US" sz="1200" b="1" dirty="0">
                          <a:solidFill>
                            <a:srgbClr val="3C3939"/>
                          </a:solidFill>
                          <a:latin typeface="Raleway"/>
                        </a:rPr>
                        <a:t>b2</a:t>
                      </a:r>
                    </a:p>
                  </a:txBody>
                  <a:tcPr marL="76200" marR="76200" marT="50800" marB="50800">
                    <a:lnL w="0">
                      <a:noFill/>
                    </a:lnL>
                    <a:lnR w="0">
                      <a:noFill/>
                    </a:lnR>
                    <a:lnT w="9525" cap="flat" cmpd="sng" algn="ctr">
                      <a:solidFill>
                        <a:srgbClr val="E4E4EB"/>
                      </a:solidFill>
                      <a:prstDash val="solid"/>
                      <a:round/>
                      <a:headEnd type="none" w="med" len="med"/>
                      <a:tailEnd type="none" w="med" len="med"/>
                    </a:lnT>
                    <a:lnB w="9525" cap="flat" cmpd="sng" algn="ctr">
                      <a:solidFill>
                        <a:srgbClr val="E4E4EB"/>
                      </a:solidFill>
                      <a:prstDash val="solid"/>
                    </a:lnB>
                    <a:solidFill>
                      <a:srgbClr val="FFFFFF"/>
                    </a:solidFill>
                  </a:tcPr>
                </a:tc>
                <a:tc>
                  <a:txBody>
                    <a:bodyPr/>
                    <a:lstStyle/>
                    <a:p>
                      <a:pPr algn="l">
                        <a:lnSpc>
                          <a:spcPct val="94000"/>
                        </a:lnSpc>
                        <a:buNone/>
                      </a:pPr>
                      <a:r>
                        <a:rPr lang="en-US" sz="1150" dirty="0">
                          <a:solidFill>
                            <a:srgbClr val="3C3939"/>
                          </a:solidFill>
                          <a:latin typeface="Roboto"/>
                        </a:rPr>
                        <a:t>margin miss, higher component costs</a:t>
                      </a:r>
                    </a:p>
                    <a:p>
                      <a:pPr algn="l">
                        <a:lnSpc>
                          <a:spcPct val="94000"/>
                        </a:lnSpc>
                        <a:spcBef>
                          <a:spcPts val="300"/>
                        </a:spcBef>
                        <a:buNone/>
                      </a:pPr>
                      <a:r>
                        <a:rPr lang="en-US" sz="1100" dirty="0">
                          <a:solidFill>
                            <a:srgbClr val="4A4A56"/>
                          </a:solidFill>
                          <a:latin typeface="Roboto"/>
                        </a:rPr>
                        <a:t>chunk_B · depth 1</a:t>
                      </a:r>
                    </a:p>
                  </a:txBody>
                  <a:tcPr marL="76200" marR="76200" marT="50800" marB="50800">
                    <a:lnL w="0">
                      <a:noFill/>
                    </a:lnL>
                    <a:lnR w="0">
                      <a:noFill/>
                    </a:lnR>
                    <a:lnT w="9525" cap="flat" cmpd="sng" algn="ctr">
                      <a:solidFill>
                        <a:srgbClr val="E4E4EB"/>
                      </a:solidFill>
                      <a:prstDash val="solid"/>
                      <a:round/>
                      <a:headEnd type="none" w="med" len="med"/>
                      <a:tailEnd type="none" w="med" len="med"/>
                    </a:lnT>
                    <a:lnB w="9525" cap="flat" cmpd="sng" algn="ctr">
                      <a:solidFill>
                        <a:srgbClr val="E4E4EB"/>
                      </a:solidFill>
                      <a:prstDash val="solid"/>
                    </a:lnB>
                    <a:solidFill>
                      <a:srgbClr val="FFFFFF"/>
                    </a:solidFill>
                  </a:tcPr>
                </a:tc>
                <a:tc>
                  <a:txBody>
                    <a:bodyPr/>
                    <a:lstStyle/>
                    <a:p>
                      <a:pPr algn="l">
                        <a:lnSpc>
                          <a:spcPct val="94000"/>
                        </a:lnSpc>
                        <a:buNone/>
                      </a:pPr>
                      <a:r>
                        <a:rPr lang="en-US" sz="1150" dirty="0">
                          <a:solidFill>
                            <a:srgbClr val="3C3939"/>
                          </a:solidFill>
                          <a:latin typeface="Roboto"/>
                        </a:rPr>
                        <a:t>grounded 0.85 · recency 1.00 · specificity 0.70</a:t>
                      </a:r>
                    </a:p>
                    <a:p>
                      <a:pPr algn="l">
                        <a:lnSpc>
                          <a:spcPct val="94000"/>
                        </a:lnSpc>
                        <a:spcBef>
                          <a:spcPts val="300"/>
                        </a:spcBef>
                        <a:buNone/>
                      </a:pPr>
                      <a:r>
                        <a:rPr lang="en-US" sz="1100" b="1" dirty="0">
                          <a:solidFill>
                            <a:srgbClr val="4A4A56"/>
                          </a:solidFill>
                          <a:latin typeface="Roboto"/>
                        </a:rPr>
                        <a:t>kept</a:t>
                      </a:r>
                    </a:p>
                  </a:txBody>
                  <a:tcPr marL="76200" marR="76200" marT="50800" marB="50800">
                    <a:lnL w="0">
                      <a:noFill/>
                    </a:lnL>
                    <a:lnR w="0">
                      <a:noFill/>
                    </a:lnR>
                    <a:lnT w="9525" cap="flat" cmpd="sng" algn="ctr">
                      <a:solidFill>
                        <a:srgbClr val="E4E4EB"/>
                      </a:solidFill>
                      <a:prstDash val="solid"/>
                      <a:round/>
                      <a:headEnd type="none" w="med" len="med"/>
                      <a:tailEnd type="none" w="med" len="med"/>
                    </a:lnT>
                    <a:lnB w="9525" cap="flat" cmpd="sng" algn="ctr">
                      <a:solidFill>
                        <a:srgbClr val="E4E4EB"/>
                      </a:solidFill>
                      <a:prstDash val="solid"/>
                    </a:lnB>
                    <a:solidFill>
                      <a:srgbClr val="FFFFFF"/>
                    </a:solidFill>
                  </a:tcPr>
                </a:tc>
                <a:tc>
                  <a:txBody>
                    <a:bodyPr/>
                    <a:lstStyle/>
                    <a:p>
                      <a:pPr algn="l">
                        <a:lnSpc>
                          <a:spcPct val="94000"/>
                        </a:lnSpc>
                        <a:buNone/>
                      </a:pPr>
                      <a:r>
                        <a:rPr lang="en-US" sz="1150" dirty="0">
                          <a:solidFill>
                            <a:srgbClr val="3C3939"/>
                          </a:solidFill>
                          <a:latin typeface="Roboto"/>
                        </a:rPr>
                        <a:t>b2_refined: margin miss, confirmed vs. other chunks</a:t>
                      </a:r>
                    </a:p>
                    <a:p>
                      <a:pPr algn="l">
                        <a:lnSpc>
                          <a:spcPct val="94000"/>
                        </a:lnSpc>
                        <a:spcBef>
                          <a:spcPts val="300"/>
                        </a:spcBef>
                        <a:buNone/>
                      </a:pPr>
                      <a:r>
                        <a:rPr lang="en-US" sz="1100" dirty="0">
                          <a:solidFill>
                            <a:srgbClr val="4A4A56"/>
                          </a:solidFill>
                          <a:latin typeface="Roboto"/>
                        </a:rPr>
                        <a:t>depth 2</a:t>
                      </a:r>
                    </a:p>
                  </a:txBody>
                  <a:tcPr marL="76200" marR="76200" marT="50800" marB="50800">
                    <a:lnL w="0">
                      <a:noFill/>
                    </a:lnL>
                    <a:lnR w="0">
                      <a:noFill/>
                    </a:lnR>
                    <a:lnT w="9525" cap="flat" cmpd="sng" algn="ctr">
                      <a:solidFill>
                        <a:srgbClr val="E4E4EB"/>
                      </a:solidFill>
                      <a:prstDash val="solid"/>
                      <a:round/>
                      <a:headEnd type="none" w="med" len="med"/>
                      <a:tailEnd type="none" w="med" len="med"/>
                    </a:lnT>
                    <a:lnB w="9525" cap="flat" cmpd="sng" algn="ctr">
                      <a:solidFill>
                        <a:srgbClr val="E4E4EB"/>
                      </a:solidFill>
                      <a:prstDash val="solid"/>
                    </a:lnB>
                    <a:solidFill>
                      <a:srgbClr val="FFFFFF"/>
                    </a:solidFill>
                  </a:tcPr>
                </a:tc>
                <a:tc vMerge="1">
                  <a:txBody>
                    <a:bodyPr/>
                    <a:lstStyle/>
                    <a:p>
                      <a:endParaRPr lang="en-US"/>
                    </a:p>
                  </a:txBody>
                  <a:tcPr>
                    <a:lnL w="0">
                      <a:noFill/>
                    </a:lnL>
                    <a:lnR w="0">
                      <a:noFill/>
                    </a:lnR>
                    <a:lnT w="0">
                      <a:noFill/>
                    </a:lnT>
                    <a:solidFill>
                      <a:srgbClr val="FFFFFF"/>
                    </a:solidFill>
                  </a:tcPr>
                </a:tc>
                <a:extLst>
                  <a:ext uri="{0D108BD9-81ED-4DB2-BD59-A6C34878D82A}">
                    <a16:rowId xmlns:a16="http://schemas.microsoft.com/office/drawing/2014/main" val="2934461031"/>
                  </a:ext>
                </a:extLst>
              </a:tr>
              <a:tr h="685800">
                <a:tc>
                  <a:txBody>
                    <a:bodyPr/>
                    <a:lstStyle/>
                    <a:p>
                      <a:pPr algn="l">
                        <a:lnSpc>
                          <a:spcPct val="94000"/>
                        </a:lnSpc>
                        <a:buNone/>
                      </a:pPr>
                      <a:r>
                        <a:rPr lang="en-US" sz="1200" b="1" dirty="0">
                          <a:solidFill>
                            <a:srgbClr val="4A4A56"/>
                          </a:solidFill>
                          <a:latin typeface="Raleway"/>
                        </a:rPr>
                        <a:t>b3</a:t>
                      </a:r>
                    </a:p>
                  </a:txBody>
                  <a:tcPr marL="76200" marR="76200" marT="50800" marB="50800">
                    <a:lnL w="0">
                      <a:noFill/>
                    </a:lnL>
                    <a:lnR w="0">
                      <a:noFill/>
                    </a:lnR>
                    <a:lnT w="9525" cap="flat" cmpd="sng" algn="ctr">
                      <a:solidFill>
                        <a:srgbClr val="E4E4EB"/>
                      </a:solidFill>
                      <a:prstDash val="solid"/>
                      <a:round/>
                      <a:headEnd type="none" w="med" len="med"/>
                      <a:tailEnd type="none" w="med" len="med"/>
                    </a:lnT>
                    <a:lnB w="0">
                      <a:noFill/>
                    </a:lnB>
                    <a:solidFill>
                      <a:srgbClr val="F7F7FA"/>
                    </a:solidFill>
                  </a:tcPr>
                </a:tc>
                <a:tc>
                  <a:txBody>
                    <a:bodyPr/>
                    <a:lstStyle/>
                    <a:p>
                      <a:pPr algn="l">
                        <a:lnSpc>
                          <a:spcPct val="94000"/>
                        </a:lnSpc>
                        <a:buNone/>
                      </a:pPr>
                      <a:r>
                        <a:rPr lang="en-US" sz="1150" dirty="0">
                          <a:solidFill>
                            <a:srgbClr val="4A4A56"/>
                          </a:solidFill>
                          <a:latin typeface="Roboto"/>
                        </a:rPr>
                        <a:t>broader tech selloff that day</a:t>
                      </a:r>
                    </a:p>
                    <a:p>
                      <a:pPr algn="l">
                        <a:lnSpc>
                          <a:spcPct val="94000"/>
                        </a:lnSpc>
                        <a:spcBef>
                          <a:spcPts val="300"/>
                        </a:spcBef>
                        <a:buNone/>
                      </a:pPr>
                      <a:r>
                        <a:rPr lang="en-US" sz="1100" dirty="0">
                          <a:solidFill>
                            <a:srgbClr val="4A4A56"/>
                          </a:solidFill>
                          <a:latin typeface="Roboto"/>
                        </a:rPr>
                        <a:t>chunk_C · depth 1</a:t>
                      </a:r>
                    </a:p>
                  </a:txBody>
                  <a:tcPr marL="76200" marR="76200" marT="50800" marB="50800">
                    <a:lnL w="0">
                      <a:noFill/>
                    </a:lnL>
                    <a:lnR w="0">
                      <a:noFill/>
                    </a:lnR>
                    <a:lnT w="9525" cap="flat" cmpd="sng" algn="ctr">
                      <a:solidFill>
                        <a:srgbClr val="E4E4EB"/>
                      </a:solidFill>
                      <a:prstDash val="solid"/>
                      <a:round/>
                      <a:headEnd type="none" w="med" len="med"/>
                      <a:tailEnd type="none" w="med" len="med"/>
                    </a:lnT>
                    <a:lnB w="0">
                      <a:noFill/>
                    </a:lnB>
                    <a:solidFill>
                      <a:srgbClr val="F7F7FA"/>
                    </a:solidFill>
                  </a:tcPr>
                </a:tc>
                <a:tc>
                  <a:txBody>
                    <a:bodyPr/>
                    <a:lstStyle/>
                    <a:p>
                      <a:pPr algn="l">
                        <a:lnSpc>
                          <a:spcPct val="94000"/>
                        </a:lnSpc>
                        <a:buNone/>
                      </a:pPr>
                      <a:r>
                        <a:rPr lang="en-US" sz="1150" dirty="0">
                          <a:solidFill>
                            <a:srgbClr val="4A4A56"/>
                          </a:solidFill>
                          <a:latin typeface="Roboto"/>
                        </a:rPr>
                        <a:t>grounded 0.30 · recency 1.00 · specificity 0.40</a:t>
                      </a:r>
                    </a:p>
                    <a:p>
                      <a:pPr algn="l">
                        <a:lnSpc>
                          <a:spcPct val="94000"/>
                        </a:lnSpc>
                        <a:spcBef>
                          <a:spcPts val="300"/>
                        </a:spcBef>
                        <a:buNone/>
                      </a:pPr>
                      <a:r>
                        <a:rPr lang="en-US" sz="1100" b="1" dirty="0">
                          <a:solidFill>
                            <a:srgbClr val="4A4A56"/>
                          </a:solidFill>
                          <a:latin typeface="Roboto"/>
                        </a:rPr>
                        <a:t>pruned</a:t>
                      </a:r>
                    </a:p>
                  </a:txBody>
                  <a:tcPr marL="76200" marR="76200" marT="50800" marB="50800">
                    <a:lnL w="0">
                      <a:noFill/>
                    </a:lnL>
                    <a:lnR w="0">
                      <a:noFill/>
                    </a:lnR>
                    <a:lnT w="9525" cap="flat" cmpd="sng" algn="ctr">
                      <a:solidFill>
                        <a:srgbClr val="E4E4EB"/>
                      </a:solidFill>
                      <a:prstDash val="solid"/>
                      <a:round/>
                      <a:headEnd type="none" w="med" len="med"/>
                      <a:tailEnd type="none" w="med" len="med"/>
                    </a:lnT>
                    <a:lnB w="0">
                      <a:noFill/>
                    </a:lnB>
                    <a:solidFill>
                      <a:srgbClr val="F7F7FA"/>
                    </a:solidFill>
                  </a:tcPr>
                </a:tc>
                <a:tc>
                  <a:txBody>
                    <a:bodyPr/>
                    <a:lstStyle/>
                    <a:p>
                      <a:pPr algn="l">
                        <a:lnSpc>
                          <a:spcPct val="94000"/>
                        </a:lnSpc>
                        <a:buNone/>
                      </a:pPr>
                      <a:r>
                        <a:rPr lang="en-US" sz="1150" dirty="0">
                          <a:solidFill>
                            <a:srgbClr val="4A4A56"/>
                          </a:solidFill>
                          <a:latin typeface="Roboto"/>
                        </a:rPr>
                        <a:t>Not advanced — stops at depth 1</a:t>
                      </a:r>
                    </a:p>
                  </a:txBody>
                  <a:tcPr marL="76200" marR="76200" marT="50800" marB="50800">
                    <a:lnL w="0">
                      <a:noFill/>
                    </a:lnL>
                    <a:lnR w="0">
                      <a:noFill/>
                    </a:lnR>
                    <a:lnT w="9525" cap="flat" cmpd="sng" algn="ctr">
                      <a:solidFill>
                        <a:srgbClr val="E4E4EB"/>
                      </a:solidFill>
                      <a:prstDash val="solid"/>
                      <a:round/>
                      <a:headEnd type="none" w="med" len="med"/>
                      <a:tailEnd type="none" w="med" len="med"/>
                    </a:lnT>
                    <a:lnB w="0">
                      <a:noFill/>
                    </a:lnB>
                    <a:solidFill>
                      <a:srgbClr val="F7F7FA"/>
                    </a:solidFill>
                  </a:tcPr>
                </a:tc>
                <a:tc>
                  <a:txBody>
                    <a:bodyPr/>
                    <a:lstStyle/>
                    <a:p>
                      <a:pPr>
                        <a:buNone/>
                      </a:pPr>
                      <a:endParaRPr lang="en-US" sz="1150"/>
                    </a:p>
                  </a:txBody>
                  <a:tcPr marL="76200" marR="76200" marT="50800" marB="50800">
                    <a:lnL w="0">
                      <a:noFill/>
                    </a:lnL>
                    <a:lnR w="0">
                      <a:noFill/>
                    </a:lnR>
                    <a:lnT w="9525" cap="flat" cmpd="sng" algn="ctr">
                      <a:solidFill>
                        <a:srgbClr val="E4E4EB"/>
                      </a:solidFill>
                      <a:prstDash val="solid"/>
                      <a:round/>
                      <a:headEnd type="none" w="med" len="med"/>
                      <a:tailEnd type="none" w="med" len="med"/>
                    </a:lnT>
                    <a:lnB w="0">
                      <a:noFill/>
                    </a:lnB>
                    <a:solidFill>
                      <a:srgbClr val="F7F7FA"/>
                    </a:solidFill>
                  </a:tcPr>
                </a:tc>
                <a:extLst>
                  <a:ext uri="{0D108BD9-81ED-4DB2-BD59-A6C34878D82A}">
                    <a16:rowId xmlns:a16="http://schemas.microsoft.com/office/drawing/2014/main" val="1907189097"/>
                  </a:ext>
                </a:extLst>
              </a:tr>
            </a:tbl>
          </a:graphicData>
        </a:graphic>
      </p:graphicFrame>
      <p:sp>
        <p:nvSpPr>
          <p:cNvPr id="40" name="Label 40"/>
          <p:cNvSpPr txBox="1"/>
          <p:nvPr/>
        </p:nvSpPr>
        <p:spPr>
          <a:xfrm>
            <a:off x="660400" y="520700"/>
            <a:ext cx="10871200" cy="330200"/>
          </a:xfrm>
          <a:prstGeom prst="rect">
            <a:avLst/>
          </a:prstGeom>
          <a:noFill/>
        </p:spPr>
        <p:txBody>
          <a:bodyPr wrap="square" lIns="0" tIns="0" rIns="0" bIns="0">
            <a:noAutofit/>
          </a:bodyPr>
          <a:lstStyle/>
          <a:p>
            <a:pPr algn="l">
              <a:lnSpc>
                <a:spcPct val="94000"/>
              </a:lnSpc>
              <a:buNone/>
            </a:pPr>
            <a:r>
              <a:rPr lang="en-US" sz="1900" b="1" dirty="0">
                <a:solidFill>
                  <a:srgbClr val="1B1B27"/>
                </a:solidFill>
                <a:latin typeface="Raleway"/>
              </a:rPr>
              <a:t>ToT Example: Branch Scoring and Pruning in MCP</a:t>
            </a:r>
          </a:p>
        </p:txBody>
      </p:sp>
      <p:sp>
        <p:nvSpPr>
          <p:cNvPr id="41" name="Box 41"/>
          <p:cNvSpPr/>
          <p:nvPr/>
        </p:nvSpPr>
        <p:spPr>
          <a:xfrm>
            <a:off x="660400" y="1016000"/>
            <a:ext cx="10871200" cy="685800"/>
          </a:xfrm>
          <a:prstGeom prst="roundRect">
            <a:avLst>
              <a:gd name="adj" fmla="val 6000"/>
            </a:avLst>
          </a:prstGeom>
          <a:solidFill>
            <a:srgbClr val="F1F1F6"/>
          </a:solidFill>
          <a:ln w="9525">
            <a:solidFill>
              <a:srgbClr val="C9CBD6"/>
            </a:solidFill>
          </a:ln>
        </p:spPr>
        <p:txBody>
          <a:bodyPr wrap="square" lIns="152400" tIns="101600" rIns="152400" bIns="101600" anchor="ctr">
            <a:noAutofit/>
          </a:bodyPr>
          <a:lstStyle/>
          <a:p>
            <a:pPr algn="l">
              <a:lnSpc>
                <a:spcPct val="94000"/>
              </a:lnSpc>
              <a:buNone/>
            </a:pPr>
            <a:r>
              <a:rPr lang="en-US" sz="1150" b="1" dirty="0">
                <a:solidFill>
                  <a:srgbClr val="1B1B27"/>
                </a:solidFill>
                <a:latin typeface="Raleway"/>
              </a:rPr>
              <a:t>Step 0 — MCP is initialized with a fresh state object for this query</a:t>
            </a:r>
          </a:p>
          <a:p>
            <a:pPr algn="l">
              <a:lnSpc>
                <a:spcPct val="94000"/>
              </a:lnSpc>
              <a:spcBef>
                <a:spcPts val="250"/>
              </a:spcBef>
              <a:buNone/>
            </a:pPr>
            <a:r>
              <a:rPr lang="en-US" sz="1150" dirty="0">
                <a:solidFill>
                  <a:srgbClr val="3C3939"/>
                </a:solidFill>
                <a:latin typeface="Roboto"/>
              </a:rPr>
              <a:t>query: “Why did Apple’s stock decline after its latest earnings report?”   ·   branches: [ ]</a:t>
            </a:r>
          </a:p>
        </p:txBody>
      </p:sp>
      <p:sp>
        <p:nvSpPr>
          <p:cNvPr id="42" name="Box 42"/>
          <p:cNvSpPr/>
          <p:nvPr/>
        </p:nvSpPr>
        <p:spPr>
          <a:xfrm>
            <a:off x="660400" y="5257800"/>
            <a:ext cx="10871200" cy="762000"/>
          </a:xfrm>
          <a:prstGeom prst="roundRect">
            <a:avLst>
              <a:gd name="adj" fmla="val 6000"/>
            </a:avLst>
          </a:prstGeom>
          <a:solidFill>
            <a:srgbClr val="FFFFFF"/>
          </a:solidFill>
          <a:ln w="9525">
            <a:solidFill>
              <a:srgbClr val="C9CBD6"/>
            </a:solidFill>
          </a:ln>
        </p:spPr>
        <p:txBody>
          <a:bodyPr wrap="square" lIns="152400" tIns="101600" rIns="152400" bIns="101600" anchor="ctr">
            <a:noAutofit/>
          </a:bodyPr>
          <a:lstStyle/>
          <a:p>
            <a:pPr algn="l">
              <a:lnSpc>
                <a:spcPct val="94000"/>
              </a:lnSpc>
              <a:buNone/>
            </a:pPr>
            <a:r>
              <a:rPr lang="en-US" sz="1150" b="1" dirty="0">
                <a:solidFill>
                  <a:srgbClr val="1B1B27"/>
                </a:solidFill>
                <a:latin typeface="Raleway"/>
              </a:rPr>
              <a:t>What shared state means here</a:t>
            </a:r>
          </a:p>
          <a:p>
            <a:pPr algn="l">
              <a:lnSpc>
                <a:spcPct val="94000"/>
              </a:lnSpc>
              <a:spcBef>
                <a:spcPts val="250"/>
              </a:spcBef>
              <a:buNone/>
            </a:pPr>
            <a:r>
              <a:rPr lang="en-US" sz="1150" dirty="0">
                <a:solidFill>
                  <a:srgbClr val="3C3939"/>
                </a:solidFill>
                <a:latin typeface="Roboto"/>
              </a:rPr>
              <a:t>The orchestrator never hands branches to the critic in local variables. It writes them to MCP; the critic reads them from MCP, scores them, and writes the scores back.</a:t>
            </a:r>
          </a:p>
        </p:txBody>
      </p:sp>
    </p:spTree>
    <p:extLst>
      <p:ext uri="{BB962C8B-B14F-4D97-AF65-F5344CB8AC3E}">
        <p14:creationId xmlns:p14="http://schemas.microsoft.com/office/powerpoint/2010/main" val="4215996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83307"/>
            <a:ext cx="10868745" cy="526058"/>
          </a:xfrm>
          <a:prstGeom prst="rect">
            <a:avLst/>
          </a:prstGeom>
          <a:noFill/>
          <a:ln/>
        </p:spPr>
        <p:txBody>
          <a:bodyPr wrap="none" lIns="0" tIns="0" rIns="0" bIns="0" rtlCol="0" anchor="t"/>
          <a:lstStyle/>
          <a:p>
            <a:pPr marL="0" indent="0" algn="l">
              <a:lnSpc>
                <a:spcPct val="104000"/>
              </a:lnSpc>
              <a:buNone/>
            </a:pPr>
            <a:r>
              <a:rPr lang="en-US" sz="3300" dirty="0">
                <a:solidFill>
                  <a:srgbClr val="1B1B27"/>
                </a:solidFill>
                <a:latin typeface="Raleway" pitchFamily="34" charset="0"/>
                <a:ea typeface="Raleway" pitchFamily="34" charset="-122"/>
                <a:cs typeface="Raleway" pitchFamily="34" charset="-120"/>
              </a:rPr>
              <a:t>Safety &amp; Evaluation: Guardrails in Action</a:t>
            </a:r>
            <a:endParaRPr lang="en-US" sz="3300" dirty="0"/>
          </a:p>
        </p:txBody>
      </p:sp>
      <p:sp>
        <p:nvSpPr>
          <p:cNvPr id="3" name="Text 1"/>
          <p:cNvSpPr/>
          <p:nvPr/>
        </p:nvSpPr>
        <p:spPr>
          <a:xfrm>
            <a:off x="661475" y="1484114"/>
            <a:ext cx="5228995" cy="263029"/>
          </a:xfrm>
          <a:prstGeom prst="rect">
            <a:avLst/>
          </a:prstGeom>
          <a:noFill/>
          <a:ln/>
        </p:spPr>
        <p:txBody>
          <a:bodyPr wrap="none" lIns="0" tIns="0" rIns="0" bIns="0" rtlCol="0" anchor="t"/>
          <a:lstStyle/>
          <a:p>
            <a:pPr marL="0" indent="0" algn="l">
              <a:lnSpc>
                <a:spcPct val="104000"/>
              </a:lnSpc>
              <a:buNone/>
            </a:pPr>
            <a:r>
              <a:rPr lang="en-US" sz="1650" dirty="0">
                <a:solidFill>
                  <a:srgbClr val="1B1B27"/>
                </a:solidFill>
                <a:latin typeface="Raleway" pitchFamily="34" charset="0"/>
                <a:ea typeface="Raleway" pitchFamily="34" charset="-122"/>
                <a:cs typeface="Raleway" pitchFamily="34" charset="-120"/>
              </a:rPr>
              <a:t>Runtime Guardrails</a:t>
            </a:r>
            <a:endParaRPr lang="en-US" sz="16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15815"/>
            <a:ext cx="5228995" cy="1296789"/>
          </a:xfrm>
          <a:prstGeom prst="rect">
            <a:avLst/>
          </a:prstGeom>
        </p:spPr>
      </p:pic>
      <p:sp>
        <p:nvSpPr>
          <p:cNvPr id="5" name="Text 2"/>
          <p:cNvSpPr/>
          <p:nvPr/>
        </p:nvSpPr>
        <p:spPr>
          <a:xfrm>
            <a:off x="924993" y="2103140"/>
            <a:ext cx="4778156" cy="263029"/>
          </a:xfrm>
          <a:prstGeom prst="rect">
            <a:avLst/>
          </a:prstGeom>
          <a:noFill/>
          <a:ln/>
        </p:spPr>
        <p:txBody>
          <a:bodyPr wrap="none" lIns="0" tIns="0" rIns="0" bIns="0" rtlCol="0" anchor="t"/>
          <a:lstStyle/>
          <a:p>
            <a:pPr marL="0" indent="0" algn="l">
              <a:lnSpc>
                <a:spcPct val="104000"/>
              </a:lnSpc>
              <a:buNone/>
            </a:pPr>
            <a:r>
              <a:rPr lang="en-US" sz="1650" dirty="0">
                <a:solidFill>
                  <a:srgbClr val="3C3939"/>
                </a:solidFill>
                <a:latin typeface="Raleway" pitchFamily="34" charset="0"/>
                <a:ea typeface="Raleway" pitchFamily="34" charset="-122"/>
                <a:cs typeface="Raleway" pitchFamily="34" charset="-120"/>
              </a:rPr>
              <a:t>ActionConstraintGuard</a:t>
            </a:r>
            <a:endParaRPr lang="en-US" sz="1650" dirty="0"/>
          </a:p>
        </p:txBody>
      </p:sp>
      <p:sp>
        <p:nvSpPr>
          <p:cNvPr id="6" name="Text 3"/>
          <p:cNvSpPr/>
          <p:nvPr/>
        </p:nvSpPr>
        <p:spPr>
          <a:xfrm>
            <a:off x="924993" y="2516088"/>
            <a:ext cx="4778156"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3C3939"/>
                </a:solidFill>
                <a:latin typeface="Roboto" pitchFamily="34" charset="0"/>
                <a:ea typeface="Roboto" pitchFamily="34" charset="-122"/>
                <a:cs typeface="Roboto" pitchFamily="34" charset="-120"/>
              </a:rPr>
              <a:t>Hard-blocks all write capabilities at the system boundary—no trade execution, ever.</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362523"/>
            <a:ext cx="5228995" cy="1296789"/>
          </a:xfrm>
          <a:prstGeom prst="rect">
            <a:avLst/>
          </a:prstGeom>
        </p:spPr>
      </p:pic>
      <p:sp>
        <p:nvSpPr>
          <p:cNvPr id="8" name="Text 4"/>
          <p:cNvSpPr/>
          <p:nvPr/>
        </p:nvSpPr>
        <p:spPr>
          <a:xfrm>
            <a:off x="924993" y="3549848"/>
            <a:ext cx="4778156" cy="263029"/>
          </a:xfrm>
          <a:prstGeom prst="rect">
            <a:avLst/>
          </a:prstGeom>
          <a:noFill/>
          <a:ln/>
        </p:spPr>
        <p:txBody>
          <a:bodyPr wrap="none" lIns="0" tIns="0" rIns="0" bIns="0" rtlCol="0" anchor="t"/>
          <a:lstStyle/>
          <a:p>
            <a:pPr marL="0" indent="0" algn="l">
              <a:lnSpc>
                <a:spcPct val="104000"/>
              </a:lnSpc>
              <a:buNone/>
            </a:pPr>
            <a:r>
              <a:rPr lang="en-US" sz="1650" dirty="0">
                <a:solidFill>
                  <a:srgbClr val="3C3939"/>
                </a:solidFill>
                <a:latin typeface="Raleway" pitchFamily="34" charset="0"/>
                <a:ea typeface="Raleway" pitchFamily="34" charset="-122"/>
                <a:cs typeface="Raleway" pitchFamily="34" charset="-120"/>
              </a:rPr>
              <a:t>DataAccessGuard</a:t>
            </a:r>
            <a:endParaRPr lang="en-US" sz="1650" dirty="0"/>
          </a:p>
        </p:txBody>
      </p:sp>
      <p:sp>
        <p:nvSpPr>
          <p:cNvPr id="9" name="Text 5"/>
          <p:cNvSpPr/>
          <p:nvPr/>
        </p:nvSpPr>
        <p:spPr>
          <a:xfrm>
            <a:off x="924993" y="3962797"/>
            <a:ext cx="4778156"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3C3939"/>
                </a:solidFill>
                <a:latin typeface="Roboto" pitchFamily="34" charset="0"/>
                <a:ea typeface="Roboto" pitchFamily="34" charset="-122"/>
                <a:cs typeface="Roboto" pitchFamily="34" charset="-120"/>
              </a:rPr>
              <a:t>Validates tool grants before any data retrieval operation is permitted to proceed.</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809232"/>
            <a:ext cx="5228995" cy="1296789"/>
          </a:xfrm>
          <a:prstGeom prst="rect">
            <a:avLst/>
          </a:prstGeom>
        </p:spPr>
      </p:pic>
      <p:sp>
        <p:nvSpPr>
          <p:cNvPr id="11" name="Text 6"/>
          <p:cNvSpPr/>
          <p:nvPr/>
        </p:nvSpPr>
        <p:spPr>
          <a:xfrm>
            <a:off x="924993" y="4996557"/>
            <a:ext cx="4778156" cy="263029"/>
          </a:xfrm>
          <a:prstGeom prst="rect">
            <a:avLst/>
          </a:prstGeom>
          <a:noFill/>
          <a:ln/>
        </p:spPr>
        <p:txBody>
          <a:bodyPr wrap="none" lIns="0" tIns="0" rIns="0" bIns="0" rtlCol="0" anchor="t"/>
          <a:lstStyle/>
          <a:p>
            <a:pPr marL="0" indent="0" algn="l">
              <a:lnSpc>
                <a:spcPct val="104000"/>
              </a:lnSpc>
              <a:buNone/>
            </a:pPr>
            <a:r>
              <a:rPr lang="en-US" sz="1650" dirty="0">
                <a:solidFill>
                  <a:srgbClr val="3C3939"/>
                </a:solidFill>
                <a:latin typeface="Raleway" pitchFamily="34" charset="0"/>
                <a:ea typeface="Raleway" pitchFamily="34" charset="-122"/>
                <a:cs typeface="Raleway" pitchFamily="34" charset="-120"/>
              </a:rPr>
              <a:t>ContentPolicyGuard</a:t>
            </a:r>
            <a:endParaRPr lang="en-US" sz="1650" dirty="0"/>
          </a:p>
        </p:txBody>
      </p:sp>
      <p:sp>
        <p:nvSpPr>
          <p:cNvPr id="12" name="Text 7"/>
          <p:cNvSpPr/>
          <p:nvPr/>
        </p:nvSpPr>
        <p:spPr>
          <a:xfrm>
            <a:off x="924993" y="5409505"/>
            <a:ext cx="4778156"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3C3939"/>
                </a:solidFill>
                <a:latin typeface="Roboto" pitchFamily="34" charset="0"/>
                <a:ea typeface="Roboto" pitchFamily="34" charset="-122"/>
                <a:cs typeface="Roboto" pitchFamily="34" charset="-120"/>
              </a:rPr>
              <a:t>Detects and intercepts advice-like phrasing before output reaches the advisor interface.</a:t>
            </a:r>
            <a:endParaRPr lang="en-US" sz="1300" dirty="0"/>
          </a:p>
        </p:txBody>
      </p:sp>
      <p:sp>
        <p:nvSpPr>
          <p:cNvPr id="13" name="Text 8"/>
          <p:cNvSpPr/>
          <p:nvPr/>
        </p:nvSpPr>
        <p:spPr>
          <a:xfrm>
            <a:off x="6307575" y="1484114"/>
            <a:ext cx="5228995" cy="263029"/>
          </a:xfrm>
          <a:prstGeom prst="rect">
            <a:avLst/>
          </a:prstGeom>
          <a:noFill/>
          <a:ln/>
        </p:spPr>
        <p:txBody>
          <a:bodyPr wrap="none" lIns="0" tIns="0" rIns="0" bIns="0" rtlCol="0" anchor="t"/>
          <a:lstStyle/>
          <a:p>
            <a:pPr marL="0" indent="0" algn="l">
              <a:lnSpc>
                <a:spcPct val="104000"/>
              </a:lnSpc>
              <a:buNone/>
            </a:pPr>
            <a:r>
              <a:rPr lang="en-US" sz="1650" dirty="0">
                <a:solidFill>
                  <a:srgbClr val="1B1B27"/>
                </a:solidFill>
                <a:latin typeface="Raleway" pitchFamily="34" charset="0"/>
                <a:ea typeface="Raleway" pitchFamily="34" charset="-122"/>
                <a:cs typeface="Raleway" pitchFamily="34" charset="-120"/>
              </a:rPr>
              <a:t>Continuous Evaluators &amp; Human Loop</a:t>
            </a:r>
            <a:endParaRPr lang="en-US" sz="16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07575" y="1915815"/>
            <a:ext cx="5228995" cy="1296789"/>
          </a:xfrm>
          <a:prstGeom prst="rect">
            <a:avLst/>
          </a:prstGeom>
        </p:spPr>
      </p:pic>
      <p:sp>
        <p:nvSpPr>
          <p:cNvPr id="15" name="Text 9"/>
          <p:cNvSpPr/>
          <p:nvPr/>
        </p:nvSpPr>
        <p:spPr>
          <a:xfrm>
            <a:off x="6571093" y="2103140"/>
            <a:ext cx="4778156" cy="263029"/>
          </a:xfrm>
          <a:prstGeom prst="rect">
            <a:avLst/>
          </a:prstGeom>
          <a:noFill/>
          <a:ln/>
        </p:spPr>
        <p:txBody>
          <a:bodyPr wrap="none" lIns="0" tIns="0" rIns="0" bIns="0" rtlCol="0" anchor="t"/>
          <a:lstStyle/>
          <a:p>
            <a:pPr marL="0" indent="0" algn="l">
              <a:lnSpc>
                <a:spcPct val="104000"/>
              </a:lnSpc>
              <a:buNone/>
            </a:pPr>
            <a:r>
              <a:rPr lang="en-US" sz="1650" dirty="0">
                <a:solidFill>
                  <a:srgbClr val="3C3939"/>
                </a:solidFill>
                <a:latin typeface="Raleway" pitchFamily="34" charset="0"/>
                <a:ea typeface="Raleway" pitchFamily="34" charset="-122"/>
                <a:cs typeface="Raleway" pitchFamily="34" charset="-120"/>
              </a:rPr>
              <a:t>FaithfulnessEvaluator</a:t>
            </a:r>
            <a:endParaRPr lang="en-US" sz="1650" dirty="0"/>
          </a:p>
        </p:txBody>
      </p:sp>
      <p:sp>
        <p:nvSpPr>
          <p:cNvPr id="16" name="Text 10"/>
          <p:cNvSpPr/>
          <p:nvPr/>
        </p:nvSpPr>
        <p:spPr>
          <a:xfrm>
            <a:off x="6571093" y="2516088"/>
            <a:ext cx="4778156"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3C3939"/>
                </a:solidFill>
                <a:latin typeface="Roboto" pitchFamily="34" charset="0"/>
                <a:ea typeface="Roboto" pitchFamily="34" charset="-122"/>
                <a:cs typeface="Roboto" pitchFamily="34" charset="-120"/>
              </a:rPr>
              <a:t>Claim-by-claim verification against live source data for every generated explanation.</a:t>
            </a:r>
            <a:endParaRPr lang="en-US" sz="13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07575" y="3362523"/>
            <a:ext cx="5228995" cy="1296789"/>
          </a:xfrm>
          <a:prstGeom prst="rect">
            <a:avLst/>
          </a:prstGeom>
        </p:spPr>
      </p:pic>
      <p:sp>
        <p:nvSpPr>
          <p:cNvPr id="18" name="Text 11"/>
          <p:cNvSpPr/>
          <p:nvPr/>
        </p:nvSpPr>
        <p:spPr>
          <a:xfrm>
            <a:off x="6571093" y="3549848"/>
            <a:ext cx="4778156" cy="263029"/>
          </a:xfrm>
          <a:prstGeom prst="rect">
            <a:avLst/>
          </a:prstGeom>
          <a:noFill/>
          <a:ln/>
        </p:spPr>
        <p:txBody>
          <a:bodyPr wrap="none" lIns="0" tIns="0" rIns="0" bIns="0" rtlCol="0" anchor="t"/>
          <a:lstStyle/>
          <a:p>
            <a:pPr marL="0" indent="0" algn="l">
              <a:lnSpc>
                <a:spcPct val="104000"/>
              </a:lnSpc>
              <a:buNone/>
            </a:pPr>
            <a:r>
              <a:rPr lang="en-US" sz="1650" dirty="0">
                <a:solidFill>
                  <a:srgbClr val="3C3939"/>
                </a:solidFill>
                <a:latin typeface="Raleway" pitchFamily="34" charset="0"/>
                <a:ea typeface="Raleway" pitchFamily="34" charset="-122"/>
                <a:cs typeface="Raleway" pitchFamily="34" charset="-120"/>
              </a:rPr>
              <a:t>RelevancyEvaluator</a:t>
            </a:r>
            <a:endParaRPr lang="en-US" sz="1650" dirty="0"/>
          </a:p>
        </p:txBody>
      </p:sp>
      <p:sp>
        <p:nvSpPr>
          <p:cNvPr id="19" name="Text 12"/>
          <p:cNvSpPr/>
          <p:nvPr/>
        </p:nvSpPr>
        <p:spPr>
          <a:xfrm>
            <a:off x="6571093" y="3962797"/>
            <a:ext cx="4778156"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3C3939"/>
                </a:solidFill>
                <a:latin typeface="Roboto" pitchFamily="34" charset="0"/>
                <a:ea typeface="Roboto" pitchFamily="34" charset="-122"/>
                <a:cs typeface="Roboto" pitchFamily="34" charset="-120"/>
              </a:rPr>
              <a:t>Confirms each response directly addresses the advisor's original question intent.</a:t>
            </a:r>
            <a:endParaRPr lang="en-US" sz="130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07575" y="4809232"/>
            <a:ext cx="5228995" cy="1296789"/>
          </a:xfrm>
          <a:prstGeom prst="rect">
            <a:avLst/>
          </a:prstGeom>
        </p:spPr>
      </p:pic>
      <p:sp>
        <p:nvSpPr>
          <p:cNvPr id="21" name="Text 13"/>
          <p:cNvSpPr/>
          <p:nvPr/>
        </p:nvSpPr>
        <p:spPr>
          <a:xfrm>
            <a:off x="6571093" y="4996557"/>
            <a:ext cx="4778156" cy="263029"/>
          </a:xfrm>
          <a:prstGeom prst="rect">
            <a:avLst/>
          </a:prstGeom>
          <a:noFill/>
          <a:ln/>
        </p:spPr>
        <p:txBody>
          <a:bodyPr wrap="none" lIns="0" tIns="0" rIns="0" bIns="0" rtlCol="0" anchor="t"/>
          <a:lstStyle/>
          <a:p>
            <a:pPr marL="0" indent="0" algn="l">
              <a:lnSpc>
                <a:spcPct val="104000"/>
              </a:lnSpc>
              <a:buNone/>
            </a:pPr>
            <a:r>
              <a:rPr lang="en-US" sz="1650" dirty="0">
                <a:solidFill>
                  <a:srgbClr val="3C3939"/>
                </a:solidFill>
                <a:latin typeface="Raleway" pitchFamily="34" charset="0"/>
                <a:ea typeface="Raleway" pitchFamily="34" charset="-122"/>
                <a:cs typeface="Raleway" pitchFamily="34" charset="-120"/>
              </a:rPr>
              <a:t>Human-in-the-Loop</a:t>
            </a:r>
            <a:endParaRPr lang="en-US" sz="1650" dirty="0"/>
          </a:p>
        </p:txBody>
      </p:sp>
      <p:sp>
        <p:nvSpPr>
          <p:cNvPr id="22" name="Text 14"/>
          <p:cNvSpPr/>
          <p:nvPr/>
        </p:nvSpPr>
        <p:spPr>
          <a:xfrm>
            <a:off x="6571093" y="5409505"/>
            <a:ext cx="4778156" cy="50919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3C3939"/>
                </a:solidFill>
                <a:latin typeface="Roboto" pitchFamily="34" charset="0"/>
                <a:ea typeface="Roboto" pitchFamily="34" charset="-122"/>
                <a:cs typeface="Roboto" pitchFamily="34" charset="-120"/>
              </a:rPr>
              <a:t>Flagged outputs are highlighted for advisor judgment—never silently auto-corrected by the system.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81379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Results &amp; Roadmap</a:t>
            </a:r>
            <a:endParaRPr lang="en-US" sz="3700" dirty="0"/>
          </a:p>
        </p:txBody>
      </p:sp>
      <p:sp>
        <p:nvSpPr>
          <p:cNvPr id="3" name="Text 1"/>
          <p:cNvSpPr/>
          <p:nvPr/>
        </p:nvSpPr>
        <p:spPr>
          <a:xfrm>
            <a:off x="661475" y="1876921"/>
            <a:ext cx="3465426" cy="623788"/>
          </a:xfrm>
          <a:prstGeom prst="rect">
            <a:avLst/>
          </a:prstGeom>
          <a:noFill/>
          <a:ln/>
        </p:spPr>
        <p:txBody>
          <a:bodyPr wrap="none" lIns="0" tIns="0" rIns="0" bIns="0" rtlCol="0" anchor="t"/>
          <a:lstStyle/>
          <a:p>
            <a:pPr marL="0" indent="0" algn="ctr">
              <a:lnSpc>
                <a:spcPct val="83000"/>
              </a:lnSpc>
              <a:buNone/>
            </a:pPr>
            <a:r>
              <a:rPr lang="en-US" sz="4900" dirty="0">
                <a:solidFill>
                  <a:srgbClr val="3C3939"/>
                </a:solidFill>
                <a:latin typeface="Raleway" pitchFamily="34" charset="0"/>
                <a:ea typeface="Raleway" pitchFamily="34" charset="-122"/>
                <a:cs typeface="Raleway" pitchFamily="34" charset="-120"/>
              </a:rPr>
              <a:t>100%</a:t>
            </a:r>
            <a:endParaRPr lang="en-US" sz="4900" dirty="0"/>
          </a:p>
        </p:txBody>
      </p:sp>
      <p:sp>
        <p:nvSpPr>
          <p:cNvPr id="4" name="Text 2"/>
          <p:cNvSpPr/>
          <p:nvPr/>
        </p:nvSpPr>
        <p:spPr>
          <a:xfrm>
            <a:off x="661475" y="2736850"/>
            <a:ext cx="3465426" cy="295275"/>
          </a:xfrm>
          <a:prstGeom prst="rect">
            <a:avLst/>
          </a:prstGeom>
          <a:noFill/>
          <a:ln/>
        </p:spPr>
        <p:txBody>
          <a:bodyPr wrap="none" lIns="0" tIns="0" rIns="0" bIns="0" rtlCol="0" anchor="t"/>
          <a:lstStyle/>
          <a:p>
            <a:pPr marL="0" indent="0" algn="ctr">
              <a:lnSpc>
                <a:spcPct val="104000"/>
              </a:lnSpc>
              <a:buNone/>
            </a:pPr>
            <a:r>
              <a:rPr lang="en-US" sz="1850" dirty="0">
                <a:solidFill>
                  <a:srgbClr val="3C3939"/>
                </a:solidFill>
                <a:latin typeface="Raleway" pitchFamily="34" charset="0"/>
                <a:ea typeface="Raleway" pitchFamily="34" charset="-122"/>
                <a:cs typeface="Raleway" pitchFamily="34" charset="-120"/>
              </a:rPr>
              <a:t>Router Accuracy</a:t>
            </a:r>
            <a:endParaRPr lang="en-US" sz="1850" dirty="0"/>
          </a:p>
        </p:txBody>
      </p:sp>
      <p:sp>
        <p:nvSpPr>
          <p:cNvPr id="5" name="Text 3"/>
          <p:cNvSpPr/>
          <p:nvPr/>
        </p:nvSpPr>
        <p:spPr>
          <a:xfrm>
            <a:off x="661475" y="3145532"/>
            <a:ext cx="3465426"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C3939"/>
                </a:solidFill>
                <a:latin typeface="Roboto" pitchFamily="34" charset="0"/>
                <a:ea typeface="Roboto" pitchFamily="34" charset="-122"/>
                <a:cs typeface="Roboto" pitchFamily="34" charset="-120"/>
              </a:rPr>
              <a:t>8 of 8 routing decisions correct in validation suite.</a:t>
            </a:r>
            <a:endParaRPr lang="en-US" sz="1450" dirty="0"/>
          </a:p>
        </p:txBody>
      </p:sp>
      <p:sp>
        <p:nvSpPr>
          <p:cNvPr id="6" name="Text 4"/>
          <p:cNvSpPr/>
          <p:nvPr/>
        </p:nvSpPr>
        <p:spPr>
          <a:xfrm>
            <a:off x="4363135" y="1876921"/>
            <a:ext cx="3465426" cy="623788"/>
          </a:xfrm>
          <a:prstGeom prst="rect">
            <a:avLst/>
          </a:prstGeom>
          <a:noFill/>
          <a:ln/>
        </p:spPr>
        <p:txBody>
          <a:bodyPr wrap="none" lIns="0" tIns="0" rIns="0" bIns="0" rtlCol="0" anchor="t"/>
          <a:lstStyle/>
          <a:p>
            <a:pPr marL="0" indent="0" algn="ctr">
              <a:lnSpc>
                <a:spcPct val="83000"/>
              </a:lnSpc>
              <a:buNone/>
            </a:pPr>
            <a:r>
              <a:rPr lang="en-US" sz="4900" dirty="0">
                <a:solidFill>
                  <a:srgbClr val="3C3939"/>
                </a:solidFill>
                <a:latin typeface="Raleway" pitchFamily="34" charset="0"/>
                <a:ea typeface="Raleway" pitchFamily="34" charset="-122"/>
                <a:cs typeface="Raleway" pitchFamily="34" charset="-120"/>
              </a:rPr>
              <a:t>100%</a:t>
            </a:r>
            <a:endParaRPr lang="en-US" sz="4900" dirty="0"/>
          </a:p>
        </p:txBody>
      </p:sp>
      <p:sp>
        <p:nvSpPr>
          <p:cNvPr id="7" name="Text 5"/>
          <p:cNvSpPr/>
          <p:nvPr/>
        </p:nvSpPr>
        <p:spPr>
          <a:xfrm>
            <a:off x="4363135" y="2736850"/>
            <a:ext cx="3465426" cy="295275"/>
          </a:xfrm>
          <a:prstGeom prst="rect">
            <a:avLst/>
          </a:prstGeom>
          <a:noFill/>
          <a:ln/>
        </p:spPr>
        <p:txBody>
          <a:bodyPr wrap="none" lIns="0" tIns="0" rIns="0" bIns="0" rtlCol="0" anchor="t"/>
          <a:lstStyle/>
          <a:p>
            <a:pPr marL="0" indent="0" algn="ctr">
              <a:lnSpc>
                <a:spcPct val="104000"/>
              </a:lnSpc>
              <a:buNone/>
            </a:pPr>
            <a:r>
              <a:rPr lang="en-US" sz="1850" dirty="0">
                <a:solidFill>
                  <a:srgbClr val="3C3939"/>
                </a:solidFill>
                <a:latin typeface="Raleway" pitchFamily="34" charset="0"/>
                <a:ea typeface="Raleway" pitchFamily="34" charset="-122"/>
                <a:cs typeface="Raleway" pitchFamily="34" charset="-120"/>
              </a:rPr>
              <a:t>Tool Selection</a:t>
            </a:r>
            <a:endParaRPr lang="en-US" sz="1850" dirty="0"/>
          </a:p>
        </p:txBody>
      </p:sp>
      <p:sp>
        <p:nvSpPr>
          <p:cNvPr id="8" name="Text 6"/>
          <p:cNvSpPr/>
          <p:nvPr/>
        </p:nvSpPr>
        <p:spPr>
          <a:xfrm>
            <a:off x="4363135" y="3145532"/>
            <a:ext cx="3465426"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C3939"/>
                </a:solidFill>
                <a:latin typeface="Roboto" pitchFamily="34" charset="0"/>
                <a:ea typeface="Roboto" pitchFamily="34" charset="-122"/>
                <a:cs typeface="Roboto" pitchFamily="34" charset="-120"/>
              </a:rPr>
              <a:t>4 of 4 tool selections verified correct across test cases.</a:t>
            </a:r>
            <a:endParaRPr lang="en-US" sz="1450" dirty="0"/>
          </a:p>
        </p:txBody>
      </p:sp>
      <p:sp>
        <p:nvSpPr>
          <p:cNvPr id="9" name="Text 7"/>
          <p:cNvSpPr/>
          <p:nvPr/>
        </p:nvSpPr>
        <p:spPr>
          <a:xfrm>
            <a:off x="8064794" y="1876921"/>
            <a:ext cx="3465426" cy="623788"/>
          </a:xfrm>
          <a:prstGeom prst="rect">
            <a:avLst/>
          </a:prstGeom>
          <a:noFill/>
          <a:ln/>
        </p:spPr>
        <p:txBody>
          <a:bodyPr wrap="none" lIns="0" tIns="0" rIns="0" bIns="0" rtlCol="0" anchor="t"/>
          <a:lstStyle/>
          <a:p>
            <a:pPr marL="0" indent="0" algn="ctr">
              <a:lnSpc>
                <a:spcPct val="83000"/>
              </a:lnSpc>
              <a:buNone/>
            </a:pPr>
            <a:r>
              <a:rPr lang="en-US" sz="4900" dirty="0">
                <a:solidFill>
                  <a:srgbClr val="3C3939"/>
                </a:solidFill>
                <a:latin typeface="Raleway" pitchFamily="34" charset="0"/>
                <a:ea typeface="Raleway" pitchFamily="34" charset="-122"/>
                <a:cs typeface="Raleway" pitchFamily="34" charset="-120"/>
              </a:rPr>
              <a:t>0</a:t>
            </a:r>
            <a:endParaRPr lang="en-US" sz="4900" dirty="0"/>
          </a:p>
        </p:txBody>
      </p:sp>
      <p:sp>
        <p:nvSpPr>
          <p:cNvPr id="10" name="Text 8"/>
          <p:cNvSpPr/>
          <p:nvPr/>
        </p:nvSpPr>
        <p:spPr>
          <a:xfrm>
            <a:off x="8064794" y="2736850"/>
            <a:ext cx="3465426" cy="295275"/>
          </a:xfrm>
          <a:prstGeom prst="rect">
            <a:avLst/>
          </a:prstGeom>
          <a:noFill/>
          <a:ln/>
        </p:spPr>
        <p:txBody>
          <a:bodyPr wrap="none" lIns="0" tIns="0" rIns="0" bIns="0" rtlCol="0" anchor="t"/>
          <a:lstStyle/>
          <a:p>
            <a:pPr marL="0" indent="0" algn="ctr">
              <a:lnSpc>
                <a:spcPct val="104000"/>
              </a:lnSpc>
              <a:buNone/>
            </a:pPr>
            <a:r>
              <a:rPr lang="en-US" sz="1850" dirty="0">
                <a:solidFill>
                  <a:srgbClr val="3C3939"/>
                </a:solidFill>
                <a:latin typeface="Raleway" pitchFamily="34" charset="0"/>
                <a:ea typeface="Raleway" pitchFamily="34" charset="-122"/>
                <a:cs typeface="Raleway" pitchFamily="34" charset="-120"/>
              </a:rPr>
              <a:t>Write Violations</a:t>
            </a:r>
            <a:endParaRPr lang="en-US" sz="1850" dirty="0"/>
          </a:p>
        </p:txBody>
      </p:sp>
      <p:sp>
        <p:nvSpPr>
          <p:cNvPr id="11" name="Text 9"/>
          <p:cNvSpPr/>
          <p:nvPr/>
        </p:nvSpPr>
        <p:spPr>
          <a:xfrm>
            <a:off x="8064794" y="3145532"/>
            <a:ext cx="3465426"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C3939"/>
                </a:solidFill>
                <a:latin typeface="Roboto" pitchFamily="34" charset="0"/>
                <a:ea typeface="Roboto" pitchFamily="34" charset="-122"/>
                <a:cs typeface="Roboto" pitchFamily="34" charset="-120"/>
              </a:rPr>
              <a:t>Read-only startup audits passed with zero constraint breaches.</a:t>
            </a:r>
            <a:endParaRPr lang="en-US" sz="1450" dirty="0"/>
          </a:p>
        </p:txBody>
      </p:sp>
      <p:sp>
        <p:nvSpPr>
          <p:cNvPr id="12" name="Text 10"/>
          <p:cNvSpPr/>
          <p:nvPr/>
        </p:nvSpPr>
        <p:spPr>
          <a:xfrm>
            <a:off x="661475" y="4152007"/>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Near-Term</a:t>
            </a:r>
            <a:endParaRPr lang="en-US" sz="1850" dirty="0"/>
          </a:p>
        </p:txBody>
      </p:sp>
      <p:sp>
        <p:nvSpPr>
          <p:cNvPr id="13" name="Text 11"/>
          <p:cNvSpPr/>
          <p:nvPr/>
        </p:nvSpPr>
        <p:spPr>
          <a:xfrm>
            <a:off x="661475" y="4636294"/>
            <a:ext cx="5203794" cy="134183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Robust API retry strategies for external data resilience</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Expanded Tree-of-Thought toolset for deeper causal analysis</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Persistent audit logging across all agent interactions</a:t>
            </a:r>
            <a:endParaRPr lang="en-US" sz="1450" dirty="0"/>
          </a:p>
        </p:txBody>
      </p:sp>
      <p:sp>
        <p:nvSpPr>
          <p:cNvPr id="14" name="Text 12"/>
          <p:cNvSpPr/>
          <p:nvPr/>
        </p:nvSpPr>
        <p:spPr>
          <a:xfrm>
            <a:off x="6332776" y="4152007"/>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Production Path</a:t>
            </a:r>
            <a:endParaRPr lang="en-US" sz="1850" dirty="0"/>
          </a:p>
        </p:txBody>
      </p:sp>
      <p:sp>
        <p:nvSpPr>
          <p:cNvPr id="15" name="Text 13"/>
          <p:cNvSpPr/>
          <p:nvPr/>
        </p:nvSpPr>
        <p:spPr>
          <a:xfrm>
            <a:off x="6332776" y="4636294"/>
            <a:ext cx="5203794"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At-rest encryption for all stored portfolio data</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Supervisor review dashboards for compliance oversight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0" name="Label 10"/>
          <p:cNvSpPr txBox="1"/>
          <p:nvPr/>
        </p:nvSpPr>
        <p:spPr>
          <a:xfrm>
            <a:off x="660400" y="520700"/>
            <a:ext cx="10871200" cy="330200"/>
          </a:xfrm>
          <a:prstGeom prst="rect">
            <a:avLst/>
          </a:prstGeom>
          <a:noFill/>
        </p:spPr>
        <p:txBody>
          <a:bodyPr wrap="square" lIns="0" tIns="0" rIns="0" bIns="0">
            <a:noAutofit/>
          </a:bodyPr>
          <a:lstStyle/>
          <a:p>
            <a:pPr algn="l">
              <a:lnSpc>
                <a:spcPct val="100000"/>
              </a:lnSpc>
              <a:buNone/>
            </a:pPr>
            <a:r>
              <a:rPr lang="en-US" sz="1900" b="1" dirty="0">
                <a:solidFill>
                  <a:srgbClr val="1B1B27"/>
                </a:solidFill>
                <a:latin typeface="Raleway"/>
              </a:rPr>
              <a:t>System Flow: Message to Answer</a:t>
            </a:r>
          </a:p>
        </p:txBody>
      </p:sp>
      <p:sp>
        <p:nvSpPr>
          <p:cNvPr id="11" name="Label 11"/>
          <p:cNvSpPr txBox="1"/>
          <p:nvPr/>
        </p:nvSpPr>
        <p:spPr>
          <a:xfrm>
            <a:off x="660400" y="1143000"/>
            <a:ext cx="1905000" cy="279400"/>
          </a:xfrm>
          <a:prstGeom prst="rect">
            <a:avLst/>
          </a:prstGeom>
          <a:noFill/>
        </p:spPr>
        <p:txBody>
          <a:bodyPr wrap="square" lIns="0" tIns="0" rIns="0" bIns="0">
            <a:noAutofit/>
          </a:bodyPr>
          <a:lstStyle/>
          <a:p>
            <a:pPr algn="l">
              <a:lnSpc>
                <a:spcPct val="100000"/>
              </a:lnSpc>
              <a:buNone/>
            </a:pPr>
            <a:r>
              <a:rPr lang="en-US" sz="1200" b="1" dirty="0">
                <a:solidFill>
                  <a:srgbClr val="1B1B27"/>
                </a:solidFill>
                <a:latin typeface="Raleway"/>
              </a:rPr>
              <a:t>Portfolio intake</a:t>
            </a:r>
          </a:p>
        </p:txBody>
      </p:sp>
      <p:sp>
        <p:nvSpPr>
          <p:cNvPr id="12" name="Label 12"/>
          <p:cNvSpPr txBox="1"/>
          <p:nvPr/>
        </p:nvSpPr>
        <p:spPr>
          <a:xfrm>
            <a:off x="660400" y="1473200"/>
            <a:ext cx="1905000" cy="609600"/>
          </a:xfrm>
          <a:prstGeom prst="rect">
            <a:avLst/>
          </a:prstGeom>
          <a:noFill/>
        </p:spPr>
        <p:txBody>
          <a:bodyPr wrap="square" lIns="0" tIns="0" rIns="0" bIns="0">
            <a:noAutofit/>
          </a:bodyPr>
          <a:lstStyle/>
          <a:p>
            <a:pPr algn="l">
              <a:lnSpc>
                <a:spcPct val="100000"/>
              </a:lnSpc>
              <a:buNone/>
            </a:pPr>
            <a:r>
              <a:rPr lang="en-US" sz="950" dirty="0">
                <a:solidFill>
                  <a:srgbClr val="3C3939"/>
                </a:solidFill>
                <a:latin typeface="Roboto"/>
              </a:rPr>
              <a:t>A pasted portfolio becomes a validated client profile.</a:t>
            </a:r>
          </a:p>
        </p:txBody>
      </p:sp>
      <p:sp>
        <p:nvSpPr>
          <p:cNvPr id="13" name="Label 13"/>
          <p:cNvSpPr txBox="1"/>
          <p:nvPr/>
        </p:nvSpPr>
        <p:spPr>
          <a:xfrm>
            <a:off x="660400" y="5080000"/>
            <a:ext cx="1905000" cy="279400"/>
          </a:xfrm>
          <a:prstGeom prst="rect">
            <a:avLst/>
          </a:prstGeom>
          <a:noFill/>
        </p:spPr>
        <p:txBody>
          <a:bodyPr wrap="square" lIns="0" tIns="0" rIns="0" bIns="0">
            <a:noAutofit/>
          </a:bodyPr>
          <a:lstStyle/>
          <a:p>
            <a:pPr algn="l">
              <a:lnSpc>
                <a:spcPct val="100000"/>
              </a:lnSpc>
              <a:buNone/>
            </a:pPr>
            <a:r>
              <a:rPr lang="en-US" sz="1200" b="1" dirty="0">
                <a:solidFill>
                  <a:srgbClr val="1B1B27"/>
                </a:solidFill>
                <a:latin typeface="Raleway"/>
              </a:rPr>
              <a:t>Question answering</a:t>
            </a:r>
          </a:p>
        </p:txBody>
      </p:sp>
      <p:sp>
        <p:nvSpPr>
          <p:cNvPr id="14" name="Label 14"/>
          <p:cNvSpPr txBox="1"/>
          <p:nvPr/>
        </p:nvSpPr>
        <p:spPr>
          <a:xfrm>
            <a:off x="660400" y="5410200"/>
            <a:ext cx="1905000" cy="609600"/>
          </a:xfrm>
          <a:prstGeom prst="rect">
            <a:avLst/>
          </a:prstGeom>
          <a:noFill/>
        </p:spPr>
        <p:txBody>
          <a:bodyPr wrap="square" lIns="0" tIns="0" rIns="0" bIns="0">
            <a:noAutofit/>
          </a:bodyPr>
          <a:lstStyle/>
          <a:p>
            <a:pPr algn="l">
              <a:lnSpc>
                <a:spcPct val="100000"/>
              </a:lnSpc>
              <a:buNone/>
            </a:pPr>
            <a:r>
              <a:rPr lang="en-US" sz="950" dirty="0">
                <a:solidFill>
                  <a:srgbClr val="3C3939"/>
                </a:solidFill>
                <a:latin typeface="Roboto"/>
              </a:rPr>
              <a:t>The router picks a reasoning depth, then guardrails check the answer.</a:t>
            </a:r>
          </a:p>
        </p:txBody>
      </p:sp>
      <p:sp>
        <p:nvSpPr>
          <p:cNvPr id="15" name="Node 15"/>
          <p:cNvSpPr/>
          <p:nvPr/>
        </p:nvSpPr>
        <p:spPr>
          <a:xfrm>
            <a:off x="660400" y="2540000"/>
            <a:ext cx="2057400" cy="6096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Advisor signs in with Google</a:t>
            </a:r>
          </a:p>
        </p:txBody>
      </p:sp>
      <p:sp>
        <p:nvSpPr>
          <p:cNvPr id="16" name="Node 16"/>
          <p:cNvSpPr/>
          <p:nvPr/>
        </p:nvSpPr>
        <p:spPr>
          <a:xfrm>
            <a:off x="660400" y="3327400"/>
            <a:ext cx="2057400" cy="5080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Advisor message</a:t>
            </a:r>
          </a:p>
        </p:txBody>
      </p:sp>
      <p:sp>
        <p:nvSpPr>
          <p:cNvPr id="17" name="Node 17"/>
          <p:cNvSpPr/>
          <p:nvPr/>
        </p:nvSpPr>
        <p:spPr>
          <a:xfrm>
            <a:off x="660400" y="4013200"/>
            <a:ext cx="2057400" cy="685800"/>
          </a:xfrm>
          <a:prstGeom prst="roundRect">
            <a:avLst>
              <a:gd name="adj" fmla="val 8000"/>
            </a:avLst>
          </a:prstGeom>
          <a:solidFill>
            <a:srgbClr val="F1F1F6"/>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looks_like_portfolio?</a:t>
            </a:r>
          </a:p>
        </p:txBody>
      </p:sp>
      <p:sp>
        <p:nvSpPr>
          <p:cNvPr id="18" name="Node 18"/>
          <p:cNvSpPr/>
          <p:nvPr/>
        </p:nvSpPr>
        <p:spPr>
          <a:xfrm>
            <a:off x="3200400" y="1066800"/>
            <a:ext cx="1244600" cy="1219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parse_portfolio</a:t>
            </a:r>
          </a:p>
        </p:txBody>
      </p:sp>
      <p:sp>
        <p:nvSpPr>
          <p:cNvPr id="19" name="Node 19"/>
          <p:cNvSpPr/>
          <p:nvPr/>
        </p:nvSpPr>
        <p:spPr>
          <a:xfrm>
            <a:off x="4749800" y="1066800"/>
            <a:ext cx="1397000" cy="1219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fetch_yahoo_data per ticker</a:t>
            </a:r>
          </a:p>
          <a:p>
            <a:pPr algn="l">
              <a:lnSpc>
                <a:spcPct val="92000"/>
              </a:lnSpc>
              <a:spcBef>
                <a:spcPts val="250"/>
              </a:spcBef>
              <a:buNone/>
            </a:pPr>
            <a:r>
              <a:rPr lang="en-US" sz="900" dirty="0">
                <a:solidFill>
                  <a:srgbClr val="3C3939"/>
                </a:solidFill>
                <a:latin typeface="Roboto"/>
              </a:rPr>
              <a:t>price · dividends · news · earnings · history · 15-min TTL cache</a:t>
            </a:r>
          </a:p>
        </p:txBody>
      </p:sp>
      <p:sp>
        <p:nvSpPr>
          <p:cNvPr id="20" name="Node 20"/>
          <p:cNvSpPr/>
          <p:nvPr/>
        </p:nvSpPr>
        <p:spPr>
          <a:xfrm>
            <a:off x="6477000" y="1066800"/>
            <a:ext cx="1397000" cy="1219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Profile Summary Crew — CrewAI</a:t>
            </a:r>
          </a:p>
          <a:p>
            <a:pPr algn="l">
              <a:lnSpc>
                <a:spcPct val="92000"/>
              </a:lnSpc>
              <a:spcBef>
                <a:spcPts val="250"/>
              </a:spcBef>
              <a:buNone/>
            </a:pPr>
            <a:r>
              <a:rPr lang="en-US" sz="900" dirty="0">
                <a:solidFill>
                  <a:srgbClr val="3C3939"/>
                </a:solidFill>
                <a:latin typeface="Roboto"/>
              </a:rPr>
              <a:t>Data Aggregator → Portfolio Analyst</a:t>
            </a:r>
          </a:p>
        </p:txBody>
      </p:sp>
      <p:sp>
        <p:nvSpPr>
          <p:cNvPr id="21" name="Node 21"/>
          <p:cNvSpPr/>
          <p:nvPr/>
        </p:nvSpPr>
        <p:spPr>
          <a:xfrm>
            <a:off x="8128000" y="1066800"/>
            <a:ext cx="1714500" cy="1219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FaithfulnessEvaluator check</a:t>
            </a:r>
          </a:p>
          <a:p>
            <a:pPr algn="l">
              <a:lnSpc>
                <a:spcPct val="92000"/>
              </a:lnSpc>
              <a:spcBef>
                <a:spcPts val="250"/>
              </a:spcBef>
              <a:buNone/>
            </a:pPr>
            <a:r>
              <a:rPr lang="en-US" sz="900" dirty="0">
                <a:solidFill>
                  <a:srgbClr val="3C3939"/>
                </a:solidFill>
                <a:latin typeface="Roboto"/>
              </a:rPr>
              <a:t>+ rollup alerts + Alpha Vantage cross-check</a:t>
            </a:r>
          </a:p>
        </p:txBody>
      </p:sp>
      <p:sp>
        <p:nvSpPr>
          <p:cNvPr id="22" name="Node 22"/>
          <p:cNvSpPr/>
          <p:nvPr/>
        </p:nvSpPr>
        <p:spPr>
          <a:xfrm>
            <a:off x="9994900" y="1066800"/>
            <a:ext cx="1536700" cy="1219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Profile summary shown to advisor</a:t>
            </a:r>
          </a:p>
          <a:p>
            <a:pPr algn="l">
              <a:lnSpc>
                <a:spcPct val="92000"/>
              </a:lnSpc>
              <a:spcBef>
                <a:spcPts val="250"/>
              </a:spcBef>
              <a:buNone/>
            </a:pPr>
            <a:r>
              <a:rPr lang="en-US" sz="900" dirty="0">
                <a:solidFill>
                  <a:srgbClr val="3C3939"/>
                </a:solidFill>
                <a:latin typeface="Roboto"/>
              </a:rPr>
              <a:t>saved to active client's session + clients.db</a:t>
            </a:r>
          </a:p>
        </p:txBody>
      </p:sp>
      <p:sp>
        <p:nvSpPr>
          <p:cNvPr id="23" name="Node 23"/>
          <p:cNvSpPr/>
          <p:nvPr/>
        </p:nvSpPr>
        <p:spPr>
          <a:xfrm>
            <a:off x="3200400" y="4470400"/>
            <a:ext cx="1244600" cy="762000"/>
          </a:xfrm>
          <a:prstGeom prst="roundRect">
            <a:avLst>
              <a:gd name="adj" fmla="val 8000"/>
            </a:avLst>
          </a:prstGeom>
          <a:solidFill>
            <a:srgbClr val="F1F1F6"/>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Active client selected and has a profile?</a:t>
            </a:r>
          </a:p>
        </p:txBody>
      </p:sp>
      <p:sp>
        <p:nvSpPr>
          <p:cNvPr id="24" name="Node 24"/>
          <p:cNvSpPr/>
          <p:nvPr/>
        </p:nvSpPr>
        <p:spPr>
          <a:xfrm>
            <a:off x="3200400" y="5562600"/>
            <a:ext cx="1244600" cy="584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Prompt: paste a portfolio first</a:t>
            </a:r>
          </a:p>
        </p:txBody>
      </p:sp>
      <p:sp>
        <p:nvSpPr>
          <p:cNvPr id="25" name="Node 25"/>
          <p:cNvSpPr/>
          <p:nvPr/>
        </p:nvSpPr>
        <p:spPr>
          <a:xfrm>
            <a:off x="4749800" y="4368800"/>
            <a:ext cx="1397000" cy="965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router_agent — LangChain</a:t>
            </a:r>
          </a:p>
          <a:p>
            <a:pPr algn="l">
              <a:lnSpc>
                <a:spcPct val="92000"/>
              </a:lnSpc>
              <a:spcBef>
                <a:spcPts val="250"/>
              </a:spcBef>
              <a:buNone/>
            </a:pPr>
            <a:r>
              <a:rPr lang="en-US" sz="900" dirty="0">
                <a:solidFill>
                  <a:srgbClr val="3C3939"/>
                </a:solidFill>
                <a:latin typeface="Roboto"/>
              </a:rPr>
              <a:t>classify: straight or tot</a:t>
            </a:r>
          </a:p>
        </p:txBody>
      </p:sp>
      <p:sp>
        <p:nvSpPr>
          <p:cNvPr id="26" name="Node 26"/>
          <p:cNvSpPr/>
          <p:nvPr/>
        </p:nvSpPr>
        <p:spPr>
          <a:xfrm>
            <a:off x="6477000" y="3784600"/>
            <a:ext cx="1397000" cy="10668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ReAct agent — LangChain (straight)</a:t>
            </a:r>
          </a:p>
          <a:p>
            <a:pPr algn="l">
              <a:lnSpc>
                <a:spcPct val="92000"/>
              </a:lnSpc>
              <a:spcBef>
                <a:spcPts val="250"/>
              </a:spcBef>
              <a:buNone/>
            </a:pPr>
            <a:r>
              <a:rPr lang="en-US" sz="900" dirty="0">
                <a:solidFill>
                  <a:srgbClr val="3C3939"/>
                </a:solidFill>
                <a:latin typeface="Roboto"/>
              </a:rPr>
              <a:t>get_holding_data · search_filings · search_client_history</a:t>
            </a:r>
          </a:p>
        </p:txBody>
      </p:sp>
      <p:sp>
        <p:nvSpPr>
          <p:cNvPr id="27" name="Node 27"/>
          <p:cNvSpPr/>
          <p:nvPr/>
        </p:nvSpPr>
        <p:spPr>
          <a:xfrm>
            <a:off x="6477000" y="4927600"/>
            <a:ext cx="1397000" cy="9398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ToT Crew — CrewAI (tot)</a:t>
            </a:r>
          </a:p>
          <a:p>
            <a:pPr algn="l">
              <a:lnSpc>
                <a:spcPct val="92000"/>
              </a:lnSpc>
              <a:spcBef>
                <a:spcPts val="250"/>
              </a:spcBef>
              <a:buNone/>
            </a:pPr>
            <a:r>
              <a:rPr lang="en-US" sz="900" dirty="0">
                <a:solidFill>
                  <a:srgbClr val="3C3939"/>
                </a:solidFill>
                <a:latin typeface="Roboto"/>
              </a:rPr>
              <a:t>3 Analyst lenses → Risk Critic → Synthesizer</a:t>
            </a:r>
          </a:p>
        </p:txBody>
      </p:sp>
      <p:sp>
        <p:nvSpPr>
          <p:cNvPr id="28" name="Node 28"/>
          <p:cNvSpPr/>
          <p:nvPr/>
        </p:nvSpPr>
        <p:spPr>
          <a:xfrm>
            <a:off x="8128000" y="4318000"/>
            <a:ext cx="1714500" cy="10668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ContentPolicyGuard + RelevancyEvaluator</a:t>
            </a:r>
          </a:p>
          <a:p>
            <a:pPr algn="l">
              <a:lnSpc>
                <a:spcPct val="92000"/>
              </a:lnSpc>
              <a:spcBef>
                <a:spcPts val="250"/>
              </a:spcBef>
              <a:buNone/>
            </a:pPr>
            <a:r>
              <a:rPr lang="en-US" sz="900" dirty="0">
                <a:solidFill>
                  <a:srgbClr val="3C3939"/>
                </a:solidFill>
                <a:latin typeface="Roboto"/>
              </a:rPr>
              <a:t>ConfidenceRouter flags ToT answers</a:t>
            </a:r>
          </a:p>
        </p:txBody>
      </p:sp>
      <p:sp>
        <p:nvSpPr>
          <p:cNvPr id="29" name="Node 29"/>
          <p:cNvSpPr/>
          <p:nvPr/>
        </p:nvSpPr>
        <p:spPr>
          <a:xfrm>
            <a:off x="9994900" y="4445000"/>
            <a:ext cx="1536700" cy="5842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Answer shown to advisor</a:t>
            </a:r>
          </a:p>
        </p:txBody>
      </p:sp>
      <p:sp>
        <p:nvSpPr>
          <p:cNvPr id="30" name="Node 30"/>
          <p:cNvSpPr/>
          <p:nvPr/>
        </p:nvSpPr>
        <p:spPr>
          <a:xfrm>
            <a:off x="9994900" y="5384800"/>
            <a:ext cx="1536700" cy="1028700"/>
          </a:xfrm>
          <a:prstGeom prst="roundRect">
            <a:avLst>
              <a:gd name="adj" fmla="val 8000"/>
            </a:avLst>
          </a:prstGeom>
          <a:solidFill>
            <a:srgbClr val="FFFFFF"/>
          </a:solidFill>
          <a:ln w="9525">
            <a:solidFill>
              <a:srgbClr val="C9CBD6"/>
            </a:solidFill>
          </a:ln>
        </p:spPr>
        <p:txBody>
          <a:bodyPr wrap="square" lIns="76200" tIns="63500" rIns="76200" bIns="63500" anchor="ctr">
            <a:noAutofit/>
          </a:bodyPr>
          <a:lstStyle/>
          <a:p>
            <a:pPr algn="l">
              <a:lnSpc>
                <a:spcPct val="92000"/>
              </a:lnSpc>
              <a:buNone/>
            </a:pPr>
            <a:r>
              <a:rPr lang="en-US" sz="900" b="1" dirty="0">
                <a:solidFill>
                  <a:srgbClr val="1B1B27"/>
                </a:solidFill>
                <a:latin typeface="Raleway"/>
              </a:rPr>
              <a:t>Trace tab logs question, answer, route</a:t>
            </a:r>
          </a:p>
          <a:p>
            <a:pPr algn="l">
              <a:lnSpc>
                <a:spcPct val="92000"/>
              </a:lnSpc>
              <a:spcBef>
                <a:spcPts val="250"/>
              </a:spcBef>
              <a:buNone/>
            </a:pPr>
            <a:r>
              <a:rPr lang="en-US" sz="900" dirty="0">
                <a:solidFill>
                  <a:srgbClr val="3C3939"/>
                </a:solidFill>
                <a:latin typeface="Roboto"/>
              </a:rPr>
              <a:t>long responses collapse behind a toggle</a:t>
            </a:r>
          </a:p>
        </p:txBody>
      </p:sp>
      <p:sp>
        <p:nvSpPr>
          <p:cNvPr id="31" name="Conn 31"/>
          <p:cNvSpPr/>
          <p:nvPr/>
        </p:nvSpPr>
        <p:spPr>
          <a:xfrm>
            <a:off x="1689100" y="3149600"/>
            <a:ext cx="0" cy="177800"/>
          </a:xfrm>
          <a:prstGeom prst="line">
            <a:avLst/>
          </a:prstGeom>
          <a:ln w="9525">
            <a:solidFill>
              <a:srgbClr val="6E6E80"/>
            </a:solidFill>
            <a:tailEnd type="triangle" w="sm" len="sm"/>
          </a:ln>
        </p:spPr>
        <p:txBody>
          <a:bodyPr/>
          <a:lstStyle/>
          <a:p>
            <a:endParaRPr lang="en-US"/>
          </a:p>
        </p:txBody>
      </p:sp>
      <p:sp>
        <p:nvSpPr>
          <p:cNvPr id="32" name="Conn 32"/>
          <p:cNvSpPr/>
          <p:nvPr/>
        </p:nvSpPr>
        <p:spPr>
          <a:xfrm>
            <a:off x="1689100" y="3835400"/>
            <a:ext cx="0" cy="177800"/>
          </a:xfrm>
          <a:prstGeom prst="line">
            <a:avLst/>
          </a:prstGeom>
          <a:ln w="9525">
            <a:solidFill>
              <a:srgbClr val="6E6E80"/>
            </a:solidFill>
            <a:tailEnd type="triangle" w="sm" len="sm"/>
          </a:ln>
        </p:spPr>
        <p:txBody>
          <a:bodyPr/>
          <a:lstStyle/>
          <a:p>
            <a:endParaRPr lang="en-US"/>
          </a:p>
        </p:txBody>
      </p:sp>
      <p:sp>
        <p:nvSpPr>
          <p:cNvPr id="33" name="Conn 33"/>
          <p:cNvSpPr/>
          <p:nvPr/>
        </p:nvSpPr>
        <p:spPr>
          <a:xfrm>
            <a:off x="2717800" y="4356100"/>
            <a:ext cx="177800" cy="0"/>
          </a:xfrm>
          <a:prstGeom prst="line">
            <a:avLst/>
          </a:prstGeom>
          <a:ln w="9525">
            <a:solidFill>
              <a:srgbClr val="6E6E80"/>
            </a:solidFill>
          </a:ln>
        </p:spPr>
        <p:txBody>
          <a:bodyPr/>
          <a:lstStyle/>
          <a:p>
            <a:endParaRPr lang="en-US"/>
          </a:p>
        </p:txBody>
      </p:sp>
      <p:sp>
        <p:nvSpPr>
          <p:cNvPr id="34" name="Conn 34"/>
          <p:cNvSpPr/>
          <p:nvPr/>
        </p:nvSpPr>
        <p:spPr>
          <a:xfrm>
            <a:off x="2895600" y="1676400"/>
            <a:ext cx="0" cy="3175000"/>
          </a:xfrm>
          <a:prstGeom prst="line">
            <a:avLst/>
          </a:prstGeom>
          <a:ln w="9525">
            <a:solidFill>
              <a:srgbClr val="6E6E80"/>
            </a:solidFill>
          </a:ln>
        </p:spPr>
        <p:txBody>
          <a:bodyPr/>
          <a:lstStyle/>
          <a:p>
            <a:endParaRPr lang="en-US"/>
          </a:p>
        </p:txBody>
      </p:sp>
      <p:sp>
        <p:nvSpPr>
          <p:cNvPr id="35" name="Conn 35"/>
          <p:cNvSpPr/>
          <p:nvPr/>
        </p:nvSpPr>
        <p:spPr>
          <a:xfrm>
            <a:off x="2895600" y="1676400"/>
            <a:ext cx="304800" cy="0"/>
          </a:xfrm>
          <a:prstGeom prst="line">
            <a:avLst/>
          </a:prstGeom>
          <a:ln w="9525">
            <a:solidFill>
              <a:srgbClr val="6E6E80"/>
            </a:solidFill>
            <a:tailEnd type="triangle" w="sm" len="sm"/>
          </a:ln>
        </p:spPr>
        <p:txBody>
          <a:bodyPr/>
          <a:lstStyle/>
          <a:p>
            <a:endParaRPr lang="en-US"/>
          </a:p>
        </p:txBody>
      </p:sp>
      <p:sp>
        <p:nvSpPr>
          <p:cNvPr id="36" name="Conn 36"/>
          <p:cNvSpPr/>
          <p:nvPr/>
        </p:nvSpPr>
        <p:spPr>
          <a:xfrm>
            <a:off x="2895600" y="4851400"/>
            <a:ext cx="304800" cy="0"/>
          </a:xfrm>
          <a:prstGeom prst="line">
            <a:avLst/>
          </a:prstGeom>
          <a:ln w="9525">
            <a:solidFill>
              <a:srgbClr val="6E6E80"/>
            </a:solidFill>
            <a:tailEnd type="triangle" w="sm" len="sm"/>
          </a:ln>
        </p:spPr>
        <p:txBody>
          <a:bodyPr/>
          <a:lstStyle/>
          <a:p>
            <a:endParaRPr lang="en-US"/>
          </a:p>
        </p:txBody>
      </p:sp>
      <p:sp>
        <p:nvSpPr>
          <p:cNvPr id="37" name="Label 37"/>
          <p:cNvSpPr txBox="1"/>
          <p:nvPr/>
        </p:nvSpPr>
        <p:spPr>
          <a:xfrm>
            <a:off x="2895600" y="1473200"/>
            <a:ext cx="279400" cy="177800"/>
          </a:xfrm>
          <a:prstGeom prst="rect">
            <a:avLst/>
          </a:prstGeom>
          <a:noFill/>
        </p:spPr>
        <p:txBody>
          <a:bodyPr wrap="square" lIns="0" tIns="0" rIns="0" bIns="0">
            <a:noAutofit/>
          </a:bodyPr>
          <a:lstStyle/>
          <a:p>
            <a:pPr algn="l">
              <a:lnSpc>
                <a:spcPct val="100000"/>
              </a:lnSpc>
              <a:buNone/>
            </a:pPr>
            <a:r>
              <a:rPr lang="en-US" sz="900" dirty="0">
                <a:solidFill>
                  <a:srgbClr val="6B6B78"/>
                </a:solidFill>
                <a:latin typeface="Roboto"/>
              </a:rPr>
              <a:t>yes</a:t>
            </a:r>
          </a:p>
        </p:txBody>
      </p:sp>
      <p:sp>
        <p:nvSpPr>
          <p:cNvPr id="38" name="Label 38"/>
          <p:cNvSpPr txBox="1"/>
          <p:nvPr/>
        </p:nvSpPr>
        <p:spPr>
          <a:xfrm>
            <a:off x="2921000" y="4927600"/>
            <a:ext cx="254000" cy="165100"/>
          </a:xfrm>
          <a:prstGeom prst="rect">
            <a:avLst/>
          </a:prstGeom>
          <a:noFill/>
        </p:spPr>
        <p:txBody>
          <a:bodyPr wrap="square" lIns="0" tIns="0" rIns="0" bIns="0">
            <a:noAutofit/>
          </a:bodyPr>
          <a:lstStyle/>
          <a:p>
            <a:pPr algn="l">
              <a:lnSpc>
                <a:spcPct val="100000"/>
              </a:lnSpc>
              <a:buNone/>
            </a:pPr>
            <a:r>
              <a:rPr lang="en-US" sz="900" dirty="0">
                <a:solidFill>
                  <a:srgbClr val="6B6B78"/>
                </a:solidFill>
                <a:latin typeface="Roboto"/>
              </a:rPr>
              <a:t>no</a:t>
            </a:r>
          </a:p>
        </p:txBody>
      </p:sp>
      <p:sp>
        <p:nvSpPr>
          <p:cNvPr id="39" name="Conn 39"/>
          <p:cNvSpPr/>
          <p:nvPr/>
        </p:nvSpPr>
        <p:spPr>
          <a:xfrm>
            <a:off x="4445000" y="1676400"/>
            <a:ext cx="304800" cy="0"/>
          </a:xfrm>
          <a:prstGeom prst="line">
            <a:avLst/>
          </a:prstGeom>
          <a:ln w="9525">
            <a:solidFill>
              <a:srgbClr val="6E6E80"/>
            </a:solidFill>
            <a:tailEnd type="triangle" w="sm" len="sm"/>
          </a:ln>
        </p:spPr>
        <p:txBody>
          <a:bodyPr/>
          <a:lstStyle/>
          <a:p>
            <a:endParaRPr lang="en-US"/>
          </a:p>
        </p:txBody>
      </p:sp>
      <p:sp>
        <p:nvSpPr>
          <p:cNvPr id="40" name="Conn 40"/>
          <p:cNvSpPr/>
          <p:nvPr/>
        </p:nvSpPr>
        <p:spPr>
          <a:xfrm>
            <a:off x="6146800" y="1676400"/>
            <a:ext cx="330200" cy="0"/>
          </a:xfrm>
          <a:prstGeom prst="line">
            <a:avLst/>
          </a:prstGeom>
          <a:ln w="9525">
            <a:solidFill>
              <a:srgbClr val="6E6E80"/>
            </a:solidFill>
            <a:tailEnd type="triangle" w="sm" len="sm"/>
          </a:ln>
        </p:spPr>
        <p:txBody>
          <a:bodyPr/>
          <a:lstStyle/>
          <a:p>
            <a:endParaRPr lang="en-US"/>
          </a:p>
        </p:txBody>
      </p:sp>
      <p:sp>
        <p:nvSpPr>
          <p:cNvPr id="41" name="Conn 41"/>
          <p:cNvSpPr/>
          <p:nvPr/>
        </p:nvSpPr>
        <p:spPr>
          <a:xfrm>
            <a:off x="7874000" y="1676400"/>
            <a:ext cx="254000" cy="0"/>
          </a:xfrm>
          <a:prstGeom prst="line">
            <a:avLst/>
          </a:prstGeom>
          <a:ln w="9525">
            <a:solidFill>
              <a:srgbClr val="6E6E80"/>
            </a:solidFill>
            <a:tailEnd type="triangle" w="sm" len="sm"/>
          </a:ln>
        </p:spPr>
        <p:txBody>
          <a:bodyPr/>
          <a:lstStyle/>
          <a:p>
            <a:endParaRPr lang="en-US"/>
          </a:p>
        </p:txBody>
      </p:sp>
      <p:sp>
        <p:nvSpPr>
          <p:cNvPr id="42" name="Conn 42"/>
          <p:cNvSpPr/>
          <p:nvPr/>
        </p:nvSpPr>
        <p:spPr>
          <a:xfrm>
            <a:off x="9842500" y="1676400"/>
            <a:ext cx="152400" cy="0"/>
          </a:xfrm>
          <a:prstGeom prst="line">
            <a:avLst/>
          </a:prstGeom>
          <a:ln w="9525">
            <a:solidFill>
              <a:srgbClr val="6E6E80"/>
            </a:solidFill>
            <a:tailEnd type="triangle" w="sm" len="sm"/>
          </a:ln>
        </p:spPr>
        <p:txBody>
          <a:bodyPr/>
          <a:lstStyle/>
          <a:p>
            <a:endParaRPr lang="en-US"/>
          </a:p>
        </p:txBody>
      </p:sp>
      <p:sp>
        <p:nvSpPr>
          <p:cNvPr id="43" name="Conn 43"/>
          <p:cNvSpPr/>
          <p:nvPr/>
        </p:nvSpPr>
        <p:spPr>
          <a:xfrm>
            <a:off x="4445000" y="4851400"/>
            <a:ext cx="304800" cy="0"/>
          </a:xfrm>
          <a:prstGeom prst="line">
            <a:avLst/>
          </a:prstGeom>
          <a:ln w="9525">
            <a:solidFill>
              <a:srgbClr val="6E6E80"/>
            </a:solidFill>
            <a:tailEnd type="triangle" w="sm" len="sm"/>
          </a:ln>
        </p:spPr>
        <p:txBody>
          <a:bodyPr/>
          <a:lstStyle/>
          <a:p>
            <a:endParaRPr lang="en-US"/>
          </a:p>
        </p:txBody>
      </p:sp>
      <p:sp>
        <p:nvSpPr>
          <p:cNvPr id="44" name="Label 44"/>
          <p:cNvSpPr txBox="1"/>
          <p:nvPr/>
        </p:nvSpPr>
        <p:spPr>
          <a:xfrm>
            <a:off x="4495800" y="4622800"/>
            <a:ext cx="254000" cy="165100"/>
          </a:xfrm>
          <a:prstGeom prst="rect">
            <a:avLst/>
          </a:prstGeom>
          <a:noFill/>
        </p:spPr>
        <p:txBody>
          <a:bodyPr wrap="square" lIns="0" tIns="0" rIns="0" bIns="0">
            <a:noAutofit/>
          </a:bodyPr>
          <a:lstStyle/>
          <a:p>
            <a:pPr algn="l">
              <a:lnSpc>
                <a:spcPct val="100000"/>
              </a:lnSpc>
              <a:buNone/>
            </a:pPr>
            <a:r>
              <a:rPr lang="en-US" sz="800" dirty="0">
                <a:solidFill>
                  <a:srgbClr val="6B6B78"/>
                </a:solidFill>
                <a:latin typeface="Roboto"/>
              </a:rPr>
              <a:t>yes</a:t>
            </a:r>
          </a:p>
        </p:txBody>
      </p:sp>
      <p:sp>
        <p:nvSpPr>
          <p:cNvPr id="45" name="Conn 45"/>
          <p:cNvSpPr/>
          <p:nvPr/>
        </p:nvSpPr>
        <p:spPr>
          <a:xfrm>
            <a:off x="3822700" y="5232400"/>
            <a:ext cx="0" cy="330200"/>
          </a:xfrm>
          <a:prstGeom prst="line">
            <a:avLst/>
          </a:prstGeom>
          <a:ln w="9525">
            <a:solidFill>
              <a:srgbClr val="6E6E80"/>
            </a:solidFill>
            <a:tailEnd type="triangle" w="sm" len="sm"/>
          </a:ln>
        </p:spPr>
        <p:txBody>
          <a:bodyPr/>
          <a:lstStyle/>
          <a:p>
            <a:endParaRPr lang="en-US"/>
          </a:p>
        </p:txBody>
      </p:sp>
      <p:sp>
        <p:nvSpPr>
          <p:cNvPr id="46" name="Label 46"/>
          <p:cNvSpPr txBox="1"/>
          <p:nvPr/>
        </p:nvSpPr>
        <p:spPr>
          <a:xfrm>
            <a:off x="3873500" y="5283200"/>
            <a:ext cx="228600" cy="165100"/>
          </a:xfrm>
          <a:prstGeom prst="rect">
            <a:avLst/>
          </a:prstGeom>
          <a:noFill/>
        </p:spPr>
        <p:txBody>
          <a:bodyPr wrap="square" lIns="0" tIns="0" rIns="0" bIns="0">
            <a:noAutofit/>
          </a:bodyPr>
          <a:lstStyle/>
          <a:p>
            <a:pPr algn="l">
              <a:lnSpc>
                <a:spcPct val="100000"/>
              </a:lnSpc>
              <a:buNone/>
            </a:pPr>
            <a:r>
              <a:rPr lang="en-US" sz="800" dirty="0">
                <a:solidFill>
                  <a:srgbClr val="6B6B78"/>
                </a:solidFill>
                <a:latin typeface="Roboto"/>
              </a:rPr>
              <a:t>no</a:t>
            </a:r>
          </a:p>
        </p:txBody>
      </p:sp>
      <p:sp>
        <p:nvSpPr>
          <p:cNvPr id="47" name="Conn 47"/>
          <p:cNvSpPr/>
          <p:nvPr/>
        </p:nvSpPr>
        <p:spPr>
          <a:xfrm>
            <a:off x="6146800" y="4851400"/>
            <a:ext cx="165100" cy="0"/>
          </a:xfrm>
          <a:prstGeom prst="line">
            <a:avLst/>
          </a:prstGeom>
          <a:ln w="9525">
            <a:solidFill>
              <a:srgbClr val="6E6E80"/>
            </a:solidFill>
          </a:ln>
        </p:spPr>
        <p:txBody>
          <a:bodyPr/>
          <a:lstStyle/>
          <a:p>
            <a:endParaRPr lang="en-US"/>
          </a:p>
        </p:txBody>
      </p:sp>
      <p:sp>
        <p:nvSpPr>
          <p:cNvPr id="48" name="Conn 48"/>
          <p:cNvSpPr/>
          <p:nvPr/>
        </p:nvSpPr>
        <p:spPr>
          <a:xfrm>
            <a:off x="6311900" y="4318000"/>
            <a:ext cx="0" cy="1079500"/>
          </a:xfrm>
          <a:prstGeom prst="line">
            <a:avLst/>
          </a:prstGeom>
          <a:ln w="9525">
            <a:solidFill>
              <a:srgbClr val="6E6E80"/>
            </a:solidFill>
          </a:ln>
        </p:spPr>
        <p:txBody>
          <a:bodyPr/>
          <a:lstStyle/>
          <a:p>
            <a:endParaRPr lang="en-US"/>
          </a:p>
        </p:txBody>
      </p:sp>
      <p:sp>
        <p:nvSpPr>
          <p:cNvPr id="49" name="Conn 49"/>
          <p:cNvSpPr/>
          <p:nvPr/>
        </p:nvSpPr>
        <p:spPr>
          <a:xfrm>
            <a:off x="6311900" y="4318000"/>
            <a:ext cx="165100" cy="0"/>
          </a:xfrm>
          <a:prstGeom prst="line">
            <a:avLst/>
          </a:prstGeom>
          <a:ln w="9525">
            <a:solidFill>
              <a:srgbClr val="6E6E80"/>
            </a:solidFill>
            <a:tailEnd type="triangle" w="sm" len="sm"/>
          </a:ln>
        </p:spPr>
        <p:txBody>
          <a:bodyPr/>
          <a:lstStyle/>
          <a:p>
            <a:endParaRPr lang="en-US"/>
          </a:p>
        </p:txBody>
      </p:sp>
      <p:sp>
        <p:nvSpPr>
          <p:cNvPr id="50" name="Conn 50"/>
          <p:cNvSpPr/>
          <p:nvPr/>
        </p:nvSpPr>
        <p:spPr>
          <a:xfrm>
            <a:off x="6311900" y="5397500"/>
            <a:ext cx="165100" cy="0"/>
          </a:xfrm>
          <a:prstGeom prst="line">
            <a:avLst/>
          </a:prstGeom>
          <a:ln w="9525">
            <a:solidFill>
              <a:srgbClr val="6E6E80"/>
            </a:solidFill>
            <a:tailEnd type="triangle" w="sm" len="sm"/>
          </a:ln>
        </p:spPr>
        <p:txBody>
          <a:bodyPr/>
          <a:lstStyle/>
          <a:p>
            <a:endParaRPr lang="en-US"/>
          </a:p>
        </p:txBody>
      </p:sp>
      <p:sp>
        <p:nvSpPr>
          <p:cNvPr id="51" name="Conn 51"/>
          <p:cNvSpPr/>
          <p:nvPr/>
        </p:nvSpPr>
        <p:spPr>
          <a:xfrm>
            <a:off x="7874000" y="4318000"/>
            <a:ext cx="127000" cy="0"/>
          </a:xfrm>
          <a:prstGeom prst="line">
            <a:avLst/>
          </a:prstGeom>
          <a:ln w="9525">
            <a:solidFill>
              <a:srgbClr val="6E6E80"/>
            </a:solidFill>
          </a:ln>
        </p:spPr>
        <p:txBody>
          <a:bodyPr/>
          <a:lstStyle/>
          <a:p>
            <a:endParaRPr lang="en-US"/>
          </a:p>
        </p:txBody>
      </p:sp>
      <p:sp>
        <p:nvSpPr>
          <p:cNvPr id="52" name="Conn 52"/>
          <p:cNvSpPr/>
          <p:nvPr/>
        </p:nvSpPr>
        <p:spPr>
          <a:xfrm>
            <a:off x="7874000" y="5397500"/>
            <a:ext cx="127000" cy="0"/>
          </a:xfrm>
          <a:prstGeom prst="line">
            <a:avLst/>
          </a:prstGeom>
          <a:ln w="9525">
            <a:solidFill>
              <a:srgbClr val="6E6E80"/>
            </a:solidFill>
          </a:ln>
        </p:spPr>
        <p:txBody>
          <a:bodyPr/>
          <a:lstStyle/>
          <a:p>
            <a:endParaRPr lang="en-US"/>
          </a:p>
        </p:txBody>
      </p:sp>
      <p:sp>
        <p:nvSpPr>
          <p:cNvPr id="53" name="Conn 53"/>
          <p:cNvSpPr/>
          <p:nvPr/>
        </p:nvSpPr>
        <p:spPr>
          <a:xfrm>
            <a:off x="8001000" y="4318000"/>
            <a:ext cx="0" cy="1079500"/>
          </a:xfrm>
          <a:prstGeom prst="line">
            <a:avLst/>
          </a:prstGeom>
          <a:ln w="9525">
            <a:solidFill>
              <a:srgbClr val="6E6E80"/>
            </a:solidFill>
          </a:ln>
        </p:spPr>
        <p:txBody>
          <a:bodyPr/>
          <a:lstStyle/>
          <a:p>
            <a:endParaRPr lang="en-US"/>
          </a:p>
        </p:txBody>
      </p:sp>
      <p:sp>
        <p:nvSpPr>
          <p:cNvPr id="54" name="Conn 54"/>
          <p:cNvSpPr/>
          <p:nvPr/>
        </p:nvSpPr>
        <p:spPr>
          <a:xfrm>
            <a:off x="8001000" y="4851400"/>
            <a:ext cx="127000" cy="0"/>
          </a:xfrm>
          <a:prstGeom prst="line">
            <a:avLst/>
          </a:prstGeom>
          <a:ln w="9525">
            <a:solidFill>
              <a:srgbClr val="6E6E80"/>
            </a:solidFill>
            <a:tailEnd type="triangle" w="sm" len="sm"/>
          </a:ln>
        </p:spPr>
        <p:txBody>
          <a:bodyPr/>
          <a:lstStyle/>
          <a:p>
            <a:endParaRPr lang="en-US"/>
          </a:p>
        </p:txBody>
      </p:sp>
      <p:sp>
        <p:nvSpPr>
          <p:cNvPr id="55" name="Conn 55"/>
          <p:cNvSpPr/>
          <p:nvPr/>
        </p:nvSpPr>
        <p:spPr>
          <a:xfrm>
            <a:off x="9842500" y="4851400"/>
            <a:ext cx="152400" cy="0"/>
          </a:xfrm>
          <a:prstGeom prst="line">
            <a:avLst/>
          </a:prstGeom>
          <a:ln w="9525">
            <a:solidFill>
              <a:srgbClr val="6E6E80"/>
            </a:solidFill>
            <a:tailEnd type="triangle" w="sm" len="sm"/>
          </a:ln>
        </p:spPr>
        <p:txBody>
          <a:bodyPr/>
          <a:lstStyle/>
          <a:p>
            <a:endParaRPr lang="en-US"/>
          </a:p>
        </p:txBody>
      </p:sp>
      <p:sp>
        <p:nvSpPr>
          <p:cNvPr id="56" name="Conn 56"/>
          <p:cNvSpPr/>
          <p:nvPr/>
        </p:nvSpPr>
        <p:spPr>
          <a:xfrm>
            <a:off x="10769600" y="5029200"/>
            <a:ext cx="0" cy="355600"/>
          </a:xfrm>
          <a:prstGeom prst="line">
            <a:avLst/>
          </a:prstGeom>
          <a:ln w="9525">
            <a:solidFill>
              <a:srgbClr val="6E6E80"/>
            </a:solidFill>
            <a:tailEnd type="triangle" w="sm" len="sm"/>
          </a:ln>
        </p:spPr>
        <p:txBody>
          <a:bodyPr/>
          <a:lstStyle/>
          <a:p>
            <a:endParaRPr lang="en-US"/>
          </a:p>
        </p:txBody>
      </p:sp>
    </p:spTree>
    <p:extLst>
      <p:ext uri="{BB962C8B-B14F-4D97-AF65-F5344CB8AC3E}">
        <p14:creationId xmlns:p14="http://schemas.microsoft.com/office/powerpoint/2010/main" val="2107176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0F2DD2F-3332-4474-BF11-249BB8CD134F}">
  <we:reference id="wa200010001" version="1.0.0.1" store="en-US" storeType="OMEX"/>
  <we:alternateReferences>
    <we:reference id="wa200010001" version="1.0.0.1" store="en-US" storeType="OMEX"/>
  </we:alternateReferences>
  <we:properties>
    <we:property name="claude.fileId" value="&quot;cce324bb-3d7e-4cb0-bb6f-27cbb787bddc&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4596A4E-1967-49B0-9A82-2EABCD046BD1}">
  <we:reference id="wa200010725" version="1.0.0.1" store="en-US" storeType="OMEX"/>
  <we:alternateReferences>
    <we:reference id="WA200010725" version="1.0.0.1" store="" storeType="OMEX"/>
  </we:alternateReferences>
  <we:properties>
    <we:property name="claude.fileId" value="&quot;4c47c894-a486-403d-884d-2bc9c8a9cbc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240</TotalTime>
  <Words>3108</Words>
  <Application>Microsoft Office PowerPoint</Application>
  <PresentationFormat>Widescreen</PresentationFormat>
  <Paragraphs>336</Paragraphs>
  <Slides>12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Raleway</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m_jas</dc:creator>
  <cp:lastModifiedBy>J M</cp:lastModifiedBy>
  <cp:revision>7</cp:revision>
  <dcterms:created xsi:type="dcterms:W3CDTF">2026-09-05T13:33:29Z</dcterms:created>
  <dcterms:modified xsi:type="dcterms:W3CDTF">2026-09-05T18:29:29Z</dcterms:modified>
</cp:coreProperties>
</file>