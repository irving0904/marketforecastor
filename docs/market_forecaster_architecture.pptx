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embeddedFontLst>
    <p:embeddedFont>
      <p:font typeface="Raleway" pitchFamily="2" charset="0"/>
      <p:regular r:id="rId11"/>
      <p:bold r:id="rId12"/>
      <p:italic r:id="rId13"/>
      <p:boldItalic r:id="rId14"/>
    </p:embeddedFont>
    <p:embeddedFont>
      <p:font typeface="Roboto" panose="02000000000000000000" pitchFamily="2" charset="0"/>
      <p:regular r:id="rId15"/>
      <p:bold r:id="rId16"/>
      <p:italic r:id="rId17"/>
      <p:boldItalic r:id="rId18"/>
    </p:embeddedFont>
    <p:embeddedFont>
      <p:font typeface="Roboto Bold" panose="02000000000000000000" charset="0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6632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098873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Multi-Agent Financial Assistant with Guardrails and Evaluators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4154289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 Autonomous, Read-Only Portfolio Intelligence &amp; Reasoning System for Financial Advisors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462286"/>
            <a:ext cx="6941071" cy="39333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61907" y="654645"/>
            <a:ext cx="3574564" cy="1356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Problem: Information Overload at Scale</a:t>
            </a:r>
            <a:endParaRPr lang="en-US" sz="28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61907" y="2135981"/>
            <a:ext cx="3574564" cy="127734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01812" y="2299692"/>
            <a:ext cx="3170952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Manual Tracking Bottleneck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8201812" y="2636441"/>
            <a:ext cx="3170952" cy="613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Advisors must reconcile dividends, splits, and rating changes across multi-asset portfolios from disparate, siloed sources.</a:t>
            </a:r>
            <a:endParaRPr lang="en-US" sz="11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61907" y="3524052"/>
            <a:ext cx="3574564" cy="127734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201812" y="3687762"/>
            <a:ext cx="3170952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"Why" Challenge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8201812" y="4024511"/>
            <a:ext cx="3170952" cy="613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Clients demand fast, defensible, grounded explanations—not guesses—when portfolio events occur.</a:t>
            </a:r>
            <a:endParaRPr lang="en-US" sz="11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61907" y="4912122"/>
            <a:ext cx="3574564" cy="127734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201812" y="5075833"/>
            <a:ext cx="3170952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High Stakes</a:t>
            </a:r>
            <a:endParaRPr lang="en-US" sz="1400" dirty="0"/>
          </a:p>
        </p:txBody>
      </p:sp>
      <p:sp>
        <p:nvSpPr>
          <p:cNvPr id="12" name="Text 6"/>
          <p:cNvSpPr/>
          <p:nvPr/>
        </p:nvSpPr>
        <p:spPr>
          <a:xfrm>
            <a:off x="8201812" y="5412581"/>
            <a:ext cx="3170952" cy="613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finance, hallucinated explanations are bad advice. Accuracy and groundedness are non-negotiable.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97024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Core Architecture: Intelligent Routing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765697"/>
            <a:ext cx="5434373" cy="75604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482" y="2710755"/>
            <a:ext cx="505635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Read-Only by Design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850482" y="3119438"/>
            <a:ext cx="505635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Informs advisor judgment; strictly prohibited from executing trades or autonomous decisions.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48" y="1765697"/>
            <a:ext cx="5434373" cy="75604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84854" y="2710755"/>
            <a:ext cx="505635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Hybrid Multi-Agent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6284854" y="3119438"/>
            <a:ext cx="505635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CrewAI for multi-step reasoning paired with LangChain for rapid factual lookups.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75" y="3913287"/>
            <a:ext cx="5434373" cy="75604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0482" y="4858345"/>
            <a:ext cx="505635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Smart Routing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50482" y="5267027"/>
            <a:ext cx="505635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Automatically splits simple factual queries from complex causal and analytical inquiries.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848" y="3913287"/>
            <a:ext cx="5434373" cy="75604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284854" y="4858345"/>
            <a:ext cx="505635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Grounded &amp; Evaluated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6284854" y="5267027"/>
            <a:ext cx="505635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explanation scored for faithfulness against live data; low-confidence outputs flagged, never hidden.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768"/>
            <a:ext cx="10868745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System Layers: Data to Decision</a:t>
            </a:r>
            <a:endParaRPr lang="en-US" sz="1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961132"/>
            <a:ext cx="5315512" cy="531564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21058" y="2913261"/>
            <a:ext cx="5315512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Layers 1–3: Foundation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6221058" y="3115766"/>
            <a:ext cx="5315512" cy="236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Gradio UI surfaces data sourced from SQLite, yfinance, and Alpha Vantage. FAISS/ChromaDB vector stores power SEC filing retrieval.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6221058" y="3402112"/>
            <a:ext cx="5315512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Layers 4–5: Reasoning Engines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221058" y="3604617"/>
            <a:ext cx="5315512" cy="236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CrewAI orchestrates Profile Summary and Tree-of-Thought Crews. LangChain ReAct Agent handles rapid factual lookups independently.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6221058" y="3890963"/>
            <a:ext cx="5315512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Layers 6–8: Safety &amp; Oversight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221058" y="4093468"/>
            <a:ext cx="5315512" cy="236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runtime guardrails, two continuous evaluators, and a human-in-the-loop review layer ensure every output is auditable and safe.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744637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Profile Summary Crew: Grounded Client Overview</a:t>
            </a:r>
            <a:endParaRPr lang="en-US" sz="3700" dirty="0"/>
          </a:p>
        </p:txBody>
      </p:sp>
      <p:sp>
        <p:nvSpPr>
          <p:cNvPr id="4" name="Shape 1"/>
          <p:cNvSpPr/>
          <p:nvPr/>
        </p:nvSpPr>
        <p:spPr>
          <a:xfrm>
            <a:off x="661475" y="2209403"/>
            <a:ext cx="3053877" cy="2310705"/>
          </a:xfrm>
          <a:prstGeom prst="roundRect">
            <a:avLst>
              <a:gd name="adj" fmla="val 3436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56832" y="2404765"/>
            <a:ext cx="26631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 Aggregator Agent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856832" y="2813447"/>
            <a:ext cx="2663163" cy="1216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Fetches normalized market data—prices, earnings, dividends, analyst ratings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3904359" y="2209403"/>
            <a:ext cx="3053976" cy="2310705"/>
          </a:xfrm>
          <a:prstGeom prst="roundRect">
            <a:avLst>
              <a:gd name="adj" fmla="val 3436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099715" y="2404765"/>
            <a:ext cx="266326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Profile Summarizer Agent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4099715" y="3108722"/>
            <a:ext cx="2663262" cy="1216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Synthesizes raw feeds into a structured, advisor-ready summary stored 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61475" y="4709120"/>
            <a:ext cx="6296860" cy="1404243"/>
          </a:xfrm>
          <a:prstGeom prst="roundRect">
            <a:avLst>
              <a:gd name="adj" fmla="val 5653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6832" y="4904482"/>
            <a:ext cx="59061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Inline Evaluation</a:t>
            </a:r>
            <a:endParaRPr lang="en-US" sz="1850" dirty="0"/>
          </a:p>
        </p:txBody>
      </p:sp>
      <p:sp>
        <p:nvSpPr>
          <p:cNvPr id="12" name="Text 9"/>
          <p:cNvSpPr/>
          <p:nvPr/>
        </p:nvSpPr>
        <p:spPr>
          <a:xfrm>
            <a:off x="856832" y="5313164"/>
            <a:ext cx="590614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Faithfulness check runs against raw market data before any output reaches the advisor's display.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83121"/>
            <a:ext cx="3555812" cy="14674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Tree-of-Thought Crew: Complex "Why" Questions</a:t>
            </a:r>
            <a:endParaRPr lang="en-US" sz="3050" dirty="0"/>
          </a:p>
        </p:txBody>
      </p:sp>
      <p:sp>
        <p:nvSpPr>
          <p:cNvPr id="3" name="Shape 1"/>
          <p:cNvSpPr/>
          <p:nvPr/>
        </p:nvSpPr>
        <p:spPr>
          <a:xfrm>
            <a:off x="661475" y="2296319"/>
            <a:ext cx="352119" cy="352127"/>
          </a:xfrm>
          <a:prstGeom prst="roundRect">
            <a:avLst>
              <a:gd name="adj" fmla="val 18671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0112" y="2325588"/>
            <a:ext cx="234746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170" y="2350095"/>
            <a:ext cx="3074117" cy="2445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Thought Generator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170" y="2724249"/>
            <a:ext cx="3074117" cy="686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Explores </a:t>
            </a:r>
            <a:r>
              <a:rPr lang="en-US" sz="12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3 candidate explanations</a:t>
            </a: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per data chunk, branching into parallel reasoning paths simultaneously.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61475" y="3670201"/>
            <a:ext cx="352119" cy="352127"/>
          </a:xfrm>
          <a:prstGeom prst="roundRect">
            <a:avLst>
              <a:gd name="adj" fmla="val 18671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0112" y="3699470"/>
            <a:ext cx="234746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170" y="3723977"/>
            <a:ext cx="3074117" cy="2445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Critic / Evaluator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170" y="4098131"/>
            <a:ext cx="3074117" cy="686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Scores branches on </a:t>
            </a:r>
            <a:r>
              <a:rPr lang="en-US" sz="12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groundedness, recency, and coverage</a:t>
            </a: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prunes low-scoring paths via beam search.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61475" y="5044083"/>
            <a:ext cx="352119" cy="352127"/>
          </a:xfrm>
          <a:prstGeom prst="roundRect">
            <a:avLst>
              <a:gd name="adj" fmla="val 18671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112" y="5073352"/>
            <a:ext cx="234746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170" y="5097859"/>
            <a:ext cx="3074117" cy="2445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Synthesizer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170" y="5472013"/>
            <a:ext cx="3074117" cy="686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Merges top branches into a </a:t>
            </a:r>
            <a:r>
              <a:rPr lang="en-US" sz="12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citation-backed answer</a:t>
            </a: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with confidence badges: High, Medium, or Low.</a:t>
            </a:r>
            <a:endParaRPr lang="en-US" sz="12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421" y="1465163"/>
            <a:ext cx="6931050" cy="39276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83307"/>
            <a:ext cx="10868745" cy="526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Safety &amp; Evaluation: Guardrails in Action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61475" y="1484114"/>
            <a:ext cx="5228995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Runtime Guardrails</a:t>
            </a:r>
            <a:endParaRPr lang="en-US" sz="16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915815"/>
            <a:ext cx="5228995" cy="129678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24993" y="2103140"/>
            <a:ext cx="4778156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ActionConstraintGuard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924993" y="2516088"/>
            <a:ext cx="4778156" cy="509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Hard-blocks all write capabilities at the system boundary—no trade execution, ever.</a:t>
            </a:r>
            <a:endParaRPr lang="en-US" sz="13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3362523"/>
            <a:ext cx="5228995" cy="129678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24993" y="3549848"/>
            <a:ext cx="4778156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DataAccessGuard</a:t>
            </a:r>
            <a:endParaRPr lang="en-US" sz="1650" dirty="0"/>
          </a:p>
        </p:txBody>
      </p:sp>
      <p:sp>
        <p:nvSpPr>
          <p:cNvPr id="9" name="Text 5"/>
          <p:cNvSpPr/>
          <p:nvPr/>
        </p:nvSpPr>
        <p:spPr>
          <a:xfrm>
            <a:off x="924993" y="3962797"/>
            <a:ext cx="4778156" cy="509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Validates tool grants before any data retrieval operation is permitted to proceed.</a:t>
            </a:r>
            <a:endParaRPr lang="en-US" sz="13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809232"/>
            <a:ext cx="5228995" cy="129678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24993" y="4996557"/>
            <a:ext cx="4778156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ContentPolicyGuard</a:t>
            </a:r>
            <a:endParaRPr lang="en-US" sz="1650" dirty="0"/>
          </a:p>
        </p:txBody>
      </p:sp>
      <p:sp>
        <p:nvSpPr>
          <p:cNvPr id="12" name="Text 7"/>
          <p:cNvSpPr/>
          <p:nvPr/>
        </p:nvSpPr>
        <p:spPr>
          <a:xfrm>
            <a:off x="924993" y="5409505"/>
            <a:ext cx="4778156" cy="509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Detects and intercepts advice-like phrasing before output reaches the advisor interface.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307575" y="1484114"/>
            <a:ext cx="5228995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Continuous Evaluators &amp; Human Loop</a:t>
            </a:r>
            <a:endParaRPr lang="en-US" sz="16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07575" y="1915815"/>
            <a:ext cx="5228995" cy="1296789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571093" y="2103140"/>
            <a:ext cx="4778156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FaithfulnessEvaluator</a:t>
            </a:r>
            <a:endParaRPr lang="en-US" sz="1650" dirty="0"/>
          </a:p>
        </p:txBody>
      </p:sp>
      <p:sp>
        <p:nvSpPr>
          <p:cNvPr id="16" name="Text 10"/>
          <p:cNvSpPr/>
          <p:nvPr/>
        </p:nvSpPr>
        <p:spPr>
          <a:xfrm>
            <a:off x="6571093" y="2516088"/>
            <a:ext cx="4778156" cy="509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Claim-by-claim verification against live source data for every generated explanation.</a:t>
            </a:r>
            <a:endParaRPr lang="en-US" sz="13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07575" y="3362523"/>
            <a:ext cx="5228995" cy="1296789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571093" y="3549848"/>
            <a:ext cx="4778156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RelevancyEvaluator</a:t>
            </a:r>
            <a:endParaRPr lang="en-US" sz="1650" dirty="0"/>
          </a:p>
        </p:txBody>
      </p:sp>
      <p:sp>
        <p:nvSpPr>
          <p:cNvPr id="19" name="Text 12"/>
          <p:cNvSpPr/>
          <p:nvPr/>
        </p:nvSpPr>
        <p:spPr>
          <a:xfrm>
            <a:off x="6571093" y="3962797"/>
            <a:ext cx="4778156" cy="509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Confirms each response directly addresses the advisor's original question intent.</a:t>
            </a:r>
            <a:endParaRPr lang="en-US" sz="13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07575" y="4809232"/>
            <a:ext cx="5228995" cy="1296789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571093" y="4996557"/>
            <a:ext cx="4778156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Human-in-the-Loop</a:t>
            </a:r>
            <a:endParaRPr lang="en-US" sz="1650" dirty="0"/>
          </a:p>
        </p:txBody>
      </p:sp>
      <p:sp>
        <p:nvSpPr>
          <p:cNvPr id="22" name="Text 14"/>
          <p:cNvSpPr/>
          <p:nvPr/>
        </p:nvSpPr>
        <p:spPr>
          <a:xfrm>
            <a:off x="6571093" y="5409505"/>
            <a:ext cx="4778156" cy="509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Flagged outputs are highlighted for advisor judgment—never silently auto-corrected by the system.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1379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Results &amp; Roadmap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876921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4900" dirty="0"/>
          </a:p>
        </p:txBody>
      </p:sp>
      <p:sp>
        <p:nvSpPr>
          <p:cNvPr id="4" name="Text 2"/>
          <p:cNvSpPr/>
          <p:nvPr/>
        </p:nvSpPr>
        <p:spPr>
          <a:xfrm>
            <a:off x="661475" y="2736850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Router Accuracy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3145532"/>
            <a:ext cx="346542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of 8 routing decisions correct in validation suite.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363135" y="1876921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4363135" y="2736850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Tool Selection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4363135" y="3145532"/>
            <a:ext cx="346542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of 4 tool selections verified correct across test cases.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64794" y="1876921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4900" dirty="0"/>
          </a:p>
        </p:txBody>
      </p:sp>
      <p:sp>
        <p:nvSpPr>
          <p:cNvPr id="10" name="Text 8"/>
          <p:cNvSpPr/>
          <p:nvPr/>
        </p:nvSpPr>
        <p:spPr>
          <a:xfrm>
            <a:off x="8064794" y="2736850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Write Violations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8064794" y="3145532"/>
            <a:ext cx="346542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Read-only startup audits passed with zero constraint breaches.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61475" y="4152007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Near-Term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661475" y="4636294"/>
            <a:ext cx="5203794" cy="13418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Robust API retry strategies for external data resilience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Expanded Tree-of-Thought toolset for deeper causal analysis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Persistent audit logging across all agent interactions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332776" y="4152007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Production Path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6332776" y="4636294"/>
            <a:ext cx="5203794" cy="1039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authentication and role-based access controls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At-rest encryption for all stored portfolio data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Supervisor review dashboards for compliance oversight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552</Words>
  <Application>Microsoft Office PowerPoint</Application>
  <PresentationFormat>Widescreen</PresentationFormat>
  <Paragraphs>83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Roboto</vt:lpstr>
      <vt:lpstr>Raleway</vt:lpstr>
      <vt:lpstr>Roboto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J M</cp:lastModifiedBy>
  <cp:revision>3</cp:revision>
  <dcterms:created xsi:type="dcterms:W3CDTF">2026-09-05T13:33:29Z</dcterms:created>
  <dcterms:modified xsi:type="dcterms:W3CDTF">2026-09-05T13:36:33Z</dcterms:modified>
</cp:coreProperties>
</file>